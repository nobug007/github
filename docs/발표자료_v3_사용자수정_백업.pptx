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96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5D7FE4-CB7E-EAF7-5FDA-13C32F443666}"/>
              </a:ext>
            </a:extLst>
          </p:cNvPr>
          <p:cNvSpPr txBox="1"/>
          <p:nvPr/>
        </p:nvSpPr>
        <p:spPr>
          <a:xfrm>
            <a:off x="731520" y="2423160"/>
            <a:ext cx="10698480" cy="835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2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SafeFinder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BFF26-B22D-5240-BE6A-5101A9D4C217}"/>
              </a:ext>
            </a:extLst>
          </p:cNvPr>
          <p:cNvSpPr txBox="1"/>
          <p:nvPr/>
        </p:nvSpPr>
        <p:spPr>
          <a:xfrm>
            <a:off x="749808" y="3364992"/>
            <a:ext cx="10698480" cy="321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xAPI 국제표준 기반 행동 예측형 치매 돌봄·가족지원 통합 솔루션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9E8DB-7FB7-8442-5C0B-9A9BD543C05A}"/>
              </a:ext>
            </a:extLst>
          </p:cNvPr>
          <p:cNvSpPr txBox="1"/>
          <p:nvPr/>
        </p:nvSpPr>
        <p:spPr>
          <a:xfrm>
            <a:off x="749808" y="3977639"/>
            <a:ext cx="10698480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"사후 수색이 아닌, 사전 차단"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76337-2D35-3C88-1A75-635CC02F66C9}"/>
              </a:ext>
            </a:extLst>
          </p:cNvPr>
          <p:cNvSpPr txBox="1"/>
          <p:nvPr/>
        </p:nvSpPr>
        <p:spPr>
          <a:xfrm>
            <a:off x="749808" y="5120640"/>
            <a:ext cx="10698480" cy="535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팀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안심동행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 |  방효식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이동엽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정영호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이광열</a:t>
            </a:r>
            <a:endParaRPr sz="1500" b="1" dirty="0">
              <a:solidFill>
                <a:schemeClr val="accent3">
                  <a:lumMod val="50000"/>
                </a:schemeClr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2026. 07</a:t>
            </a:r>
            <a:r>
              <a:rPr lang="en-US"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.</a:t>
            </a:r>
            <a:r>
              <a:rPr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07</a:t>
            </a:r>
            <a:endParaRPr sz="1200" b="0" dirty="0">
              <a:solidFill>
                <a:schemeClr val="accent3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F00465-5A3C-29F9-5D25-C5D03A0EC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933" y="2004788"/>
            <a:ext cx="1706046" cy="20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57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문제 — 매년 3.3만 건의 실종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보건복지부 법정 통계 · 한일 양국 조사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2C5F2D"/>
                </a:solidFill>
                <a:latin typeface="맑은 고딕"/>
                <a:ea typeface="맑은 고딕"/>
              </a:rPr>
              <a:t>100만 명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2026년 국내 치매 환자
(유병률 9.25%)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15,502건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2024년 한국 치매 실종
= 전체 실종의 31%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80%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사망사고, 마지막 확인 장소
5km 이내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C5F2D"/>
                </a:solidFill>
                <a:latin typeface="맑은 고딕"/>
                <a:ea typeface="맑은 고딕"/>
              </a:rPr>
              <a:t>기존 제품이 실패하는 이유, 단 두 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맑은 고딕"/>
                <a:ea typeface="맑은 고딕"/>
              </a:rPr>
              <a:t>① 매일 충전 → 착용 포기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434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맑은 고딕"/>
                <a:ea typeface="맑은 고딕"/>
              </a:rPr>
              <a:t>② 이탈 '후' 알림 → 골든타임 유실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→ 본질은 "이탈을 미리 알고, 반드시 보호자에게 도달하는 알림"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상세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▸ A1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해법 — 네 가지를 동시에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기존 배회감지기·워치와의 구조적 차별화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C5F2D"/>
                </a:solidFill>
                <a:latin typeface="맑은 고딕"/>
                <a:ea typeface="맑은 고딕"/>
              </a:rPr>
              <a:t>사전 2단계 알림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Warning(5분) → Emergency(30분)
+ 즉시 SMS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F6DB5"/>
                </a:solidFill>
                <a:latin typeface="맑은 고딕"/>
                <a:ea typeface="맑은 고딕"/>
              </a:rPr>
              <a:t>무충전 6개월~1년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ESP32 Deep Sleep ~2mA
+ LTE-M 저전력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dirty="0" err="1">
                <a:solidFill>
                  <a:srgbClr val="E8A013"/>
                </a:solidFill>
                <a:latin typeface="맑은 고딕"/>
                <a:ea typeface="맑은 고딕"/>
              </a:rPr>
              <a:t>복합</a:t>
            </a:r>
            <a:r>
              <a:rPr sz="1900" b="1" dirty="0">
                <a:solidFill>
                  <a:srgbClr val="E8A013"/>
                </a:solidFill>
                <a:latin typeface="맑은 고딕"/>
                <a:ea typeface="맑은 고딕"/>
              </a:rPr>
              <a:t> </a:t>
            </a:r>
            <a:r>
              <a:rPr sz="1900" b="1" dirty="0" err="1">
                <a:solidFill>
                  <a:srgbClr val="E8A013"/>
                </a:solidFill>
                <a:latin typeface="맑은 고딕"/>
                <a:ea typeface="맑은 고딕"/>
              </a:rPr>
              <a:t>SafeZone</a:t>
            </a:r>
            <a:endParaRPr sz="1900" b="1" dirty="0">
              <a:solidFill>
                <a:srgbClr val="E8A013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WiFi·GPS·BLE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+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동선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반영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
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다각형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  <a:endParaRPr sz="13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맑은 고딕"/>
                <a:ea typeface="맑은 고딕"/>
              </a:rPr>
              <a:t>서버 없이도 알림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단말이 직접 판정·SMS 발송
— 장애에도 도달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2C5F2D"/>
                </a:solidFill>
                <a:latin typeface="맑은 고딕"/>
                <a:ea typeface="맑은 고딕"/>
              </a:rPr>
              <a:t>+ 데이터는 xAPI 국제표준 — 제조사 종속 없는 개방형 돌봄 데이터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비교표 ▸ 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12주 로드맵 — 6주차 게이트 통과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2026.05.22 ~ 08.17 · Phase 게이트 기반 일정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643435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Phase 1 완료율 100% — 시제품 6대 · 앱 · 서버 · 대시보드 핵심 개발 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108960"/>
            <a:ext cx="10881360" cy="0"/>
          </a:xfrm>
          <a:prstGeom prst="line">
            <a:avLst/>
          </a:prstGeom>
          <a:ln w="2857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43584" y="2980944"/>
            <a:ext cx="256032" cy="25603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1~6주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212A21"/>
                </a:solidFill>
                <a:latin typeface="맑은 고딕"/>
                <a:ea typeface="맑은 고딕"/>
              </a:rPr>
              <a:t>설계·핵심 개발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[완료]</a:t>
            </a:r>
          </a:p>
        </p:txBody>
      </p:sp>
      <p:sp>
        <p:nvSpPr>
          <p:cNvPr id="10" name="Oval 9"/>
          <p:cNvSpPr/>
          <p:nvPr/>
        </p:nvSpPr>
        <p:spPr>
          <a:xfrm>
            <a:off x="4078224" y="2980944"/>
            <a:ext cx="256032" cy="256032"/>
          </a:xfrm>
          <a:prstGeom prst="ellipse">
            <a:avLst/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59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8A013"/>
                </a:solidFill>
                <a:latin typeface="맑은 고딕"/>
                <a:ea typeface="맑은 고딕"/>
              </a:rPr>
              <a:t>7주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59" y="3337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212A21"/>
                </a:solidFill>
                <a:latin typeface="맑은 고딕"/>
                <a:ea typeface="맑은 고딕"/>
              </a:rPr>
              <a:t>통합 검증 30회+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[진행 중]</a:t>
            </a:r>
          </a:p>
        </p:txBody>
      </p:sp>
      <p:sp>
        <p:nvSpPr>
          <p:cNvPr id="13" name="Oval 12"/>
          <p:cNvSpPr/>
          <p:nvPr/>
        </p:nvSpPr>
        <p:spPr>
          <a:xfrm>
            <a:off x="6912864" y="2980944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8~11주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37560"/>
            <a:ext cx="2286000" cy="428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 dirty="0">
                <a:solidFill>
                  <a:srgbClr val="212A21"/>
                </a:solidFill>
                <a:latin typeface="맑은 고딕"/>
                <a:ea typeface="맑은 고딕"/>
              </a:rPr>
              <a:t>6가족 </a:t>
            </a:r>
            <a:r>
              <a:rPr sz="1350" b="1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3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212A21"/>
                </a:solidFill>
                <a:latin typeface="맑은 고딕"/>
                <a:ea typeface="맑은 고딕"/>
              </a:rPr>
              <a:t>실증</a:t>
            </a:r>
            <a:endParaRPr sz="135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dirty="0">
                <a:solidFill>
                  <a:srgbClr val="667066"/>
                </a:solidFill>
                <a:latin typeface="맑은 고딕"/>
                <a:ea typeface="맑은 고딕"/>
              </a:rPr>
              <a:t>[</a:t>
            </a:r>
            <a:r>
              <a:rPr lang="ko-KR" altLang="en-US" sz="1100" b="0" dirty="0">
                <a:solidFill>
                  <a:srgbClr val="667066"/>
                </a:solidFill>
                <a:latin typeface="맑은 고딕"/>
                <a:ea typeface="맑은 고딕"/>
              </a:rPr>
              <a:t>한일 동시</a:t>
            </a:r>
            <a:r>
              <a:rPr sz="1100" b="0" dirty="0" err="1">
                <a:solidFill>
                  <a:srgbClr val="667066"/>
                </a:solidFill>
                <a:latin typeface="맑은 고딕"/>
                <a:ea typeface="맑은 고딕"/>
              </a:rPr>
              <a:t>예정</a:t>
            </a:r>
            <a:r>
              <a:rPr sz="1100" b="0" dirty="0">
                <a:solidFill>
                  <a:srgbClr val="667066"/>
                </a:solidFill>
                <a:latin typeface="맑은 고딕"/>
                <a:ea typeface="맑은 고딕"/>
              </a:rPr>
              <a:t>]</a:t>
            </a:r>
          </a:p>
        </p:txBody>
      </p:sp>
      <p:sp>
        <p:nvSpPr>
          <p:cNvPr id="16" name="Oval 15"/>
          <p:cNvSpPr/>
          <p:nvPr/>
        </p:nvSpPr>
        <p:spPr>
          <a:xfrm>
            <a:off x="9747504" y="2980944"/>
            <a:ext cx="256032" cy="256032"/>
          </a:xfrm>
          <a:prstGeom prst="ellipse">
            <a:avLst/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12주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212A21"/>
                </a:solidFill>
                <a:latin typeface="맑은 고딕"/>
                <a:ea typeface="맑은 고딕"/>
              </a:rPr>
              <a:t>ZBI 정량 분석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[예정]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일정을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지키는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장치</a:t>
            </a:r>
            <a:endParaRPr sz="1500" b="1" dirty="0">
              <a:solidFill>
                <a:srgbClr val="2C5F2D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2주차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xAPI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규격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선확정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→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FW·서버·AI·웹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병렬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개발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 · 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주차별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WBS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담당자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매칭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 ·  12주 후 6개월 내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출시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목표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20" name="Rounded Rectangle 19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주차별 상세 ▸ A3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시스템 아키텍처 — 이중 알림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워치(ESP32·LTE-M) — 클라우드(xAPI·LRS·AI) — 가족용 웹 + 검증용 안드로이드 트리플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3806" y="20116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보호자 앱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SFC · BLE 등록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2766" y="20116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단말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워치 · SFD/SFW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2766" y="45720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서버 · LRS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xAPI 변환 · AI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06" y="45720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웹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0771" y="4407214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</a:rPr>
              <a:t>보호자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</a:rPr>
              <a:t> 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dirty="0">
                <a:solidFill>
                  <a:srgbClr val="FFFFFF"/>
                </a:solidFill>
                <a:latin typeface="맑은 고딕"/>
                <a:ea typeface="맑은 고딕"/>
              </a:rPr>
              <a:t>SMS </a:t>
            </a:r>
            <a:r>
              <a:rPr sz="1100" b="0" dirty="0" err="1">
                <a:solidFill>
                  <a:srgbClr val="FFFFFF"/>
                </a:solidFill>
                <a:latin typeface="맑은 고딕"/>
                <a:ea typeface="맑은 고딕"/>
              </a:rPr>
              <a:t>직접</a:t>
            </a:r>
            <a:r>
              <a:rPr sz="11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  <a:ea typeface="맑은 고딕"/>
              </a:rPr>
              <a:t>수신</a:t>
            </a:r>
            <a:endParaRPr sz="1100" b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064086" y="2468880"/>
            <a:ext cx="822960" cy="0"/>
          </a:xfrm>
          <a:prstGeom prst="line">
            <a:avLst/>
          </a:prstGeom>
          <a:ln w="25400">
            <a:solidFill>
              <a:srgbClr val="2F6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30046" y="2971800"/>
            <a:ext cx="0" cy="1554480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7206" y="3566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C5F2D"/>
                </a:solidFill>
                <a:latin typeface="맑은 고딕"/>
                <a:ea typeface="맑은 고딕"/>
              </a:rPr>
              <a:t>WiFi/LTE-M 텔레메트리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64086" y="5029200"/>
            <a:ext cx="822960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21086" y="2971800"/>
            <a:ext cx="0" cy="1554480"/>
          </a:xfrm>
          <a:prstGeom prst="line">
            <a:avLst/>
          </a:prstGeom>
          <a:ln w="25400">
            <a:solidFill>
              <a:srgbClr val="6670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6392380" y="2774205"/>
            <a:ext cx="1079244" cy="1314555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4486" y="2084831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핵심: 서버·AI 분석 경로가 죽어도, 단말이 직접 쏘는 SMS는 보호자에게 도달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기술 상세 ▸ A4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5EC1D-3BCC-BF7B-96F1-406D8258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549" y="723943"/>
            <a:ext cx="2459301" cy="1992000"/>
          </a:xfrm>
          <a:prstGeom prst="rect">
            <a:avLst/>
          </a:prstGeom>
        </p:spPr>
      </p:pic>
      <p:cxnSp>
        <p:nvCxnSpPr>
          <p:cNvPr id="27" name="Connector 14">
            <a:extLst>
              <a:ext uri="{FF2B5EF4-FFF2-40B4-BE49-F238E27FC236}">
                <a16:creationId xmlns:a16="http://schemas.microsoft.com/office/drawing/2014/main" id="{FAC2A50B-B4CA-F0D8-0EA0-58777B95661E}"/>
              </a:ext>
            </a:extLst>
          </p:cNvPr>
          <p:cNvCxnSpPr>
            <a:cxnSpLocks/>
          </p:cNvCxnSpPr>
          <p:nvPr/>
        </p:nvCxnSpPr>
        <p:spPr>
          <a:xfrm flipV="1">
            <a:off x="7579734" y="2422658"/>
            <a:ext cx="1376634" cy="28128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4">
            <a:extLst>
              <a:ext uri="{FF2B5EF4-FFF2-40B4-BE49-F238E27FC236}">
                <a16:creationId xmlns:a16="http://schemas.microsoft.com/office/drawing/2014/main" id="{F0A9C8F5-97B2-56F9-60AC-A888FB925EE1}"/>
              </a:ext>
            </a:extLst>
          </p:cNvPr>
          <p:cNvCxnSpPr>
            <a:cxnSpLocks/>
          </p:cNvCxnSpPr>
          <p:nvPr/>
        </p:nvCxnSpPr>
        <p:spPr>
          <a:xfrm flipV="1">
            <a:off x="8767123" y="2834683"/>
            <a:ext cx="1108397" cy="1254077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동작 시나리오 — 이탈부터 복귀까지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60초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주기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판정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에스컬레이션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상태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안전구역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등록 WiFi 연결
(2분 유예)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24328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52928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이탈 감지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즉시 SMS
+ GPS 모드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28616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주의 +5분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Warning
SMS + 서버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32904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긴급 +30분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SOS 60초 반복
SMS + 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37192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복귀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재진입 SMS
타이머 리셋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1064240" cy="1088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AI가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더하는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개인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베이스라인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학습으로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지오펜스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이탈보다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약 10분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먼저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Warning —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보호자가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전화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한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통으로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사고를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차단하는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골든타임</a:t>
            </a:r>
            <a:endParaRPr lang="en-US" sz="135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br>
              <a:rPr lang="en-US" sz="1350" b="0" dirty="0">
                <a:solidFill>
                  <a:srgbClr val="212A21"/>
                </a:solidFill>
                <a:latin typeface="맑은 고딕"/>
                <a:ea typeface="맑은 고딕"/>
              </a:rPr>
            </a:br>
            <a:r>
              <a:rPr lang="ko-KR" altLang="en-US" sz="1350" b="0" dirty="0">
                <a:solidFill>
                  <a:srgbClr val="212A21"/>
                </a:solidFill>
                <a:latin typeface="맑은 고딕"/>
                <a:ea typeface="맑은 고딕"/>
              </a:rPr>
              <a:t>언제 어디서나 </a:t>
            </a:r>
            <a:r>
              <a:rPr lang="en-US" altLang="ko-KR" sz="1350" b="0" dirty="0">
                <a:solidFill>
                  <a:srgbClr val="212A21"/>
                </a:solidFill>
                <a:latin typeface="맑은 고딕"/>
                <a:ea typeface="맑은 고딕"/>
              </a:rPr>
              <a:t>GPS </a:t>
            </a:r>
            <a:r>
              <a:rPr lang="ko-KR" altLang="en-US" sz="1350" b="0" dirty="0">
                <a:solidFill>
                  <a:srgbClr val="212A21"/>
                </a:solidFill>
                <a:latin typeface="맑은 고딕"/>
                <a:ea typeface="맑은 고딕"/>
              </a:rPr>
              <a:t>좌표로 추적되는 위치 정보</a:t>
            </a:r>
            <a:endParaRPr sz="13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DFD·데이터 ▸ A5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지금 동작하는 것들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시제품 6대 조립 준비 + 3개 안드로이드 앱 · 서버 · 대시보드 가동 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구현·유용성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5486400" cy="496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SFD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어르신</a:t>
            </a: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1" dirty="0">
                <a:solidFill>
                  <a:srgbClr val="212A21"/>
                </a:solidFill>
                <a:latin typeface="맑은 고딕"/>
                <a:ea typeface="맑은 고딕"/>
              </a:rPr>
              <a:t>테스트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단말</a:t>
            </a:r>
            <a:endParaRPr sz="16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Phone</a:t>
            </a:r>
            <a:r>
              <a:rPr lang="ko-KR" alt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으로 </a:t>
            </a:r>
            <a:r>
              <a:rPr lang="en-US" altLang="ko-KR" sz="1250" b="0" dirty="0">
                <a:solidFill>
                  <a:srgbClr val="667066"/>
                </a:solidFill>
                <a:latin typeface="맑은 고딕"/>
                <a:ea typeface="맑은 고딕"/>
              </a:rPr>
              <a:t>Test App</a:t>
            </a:r>
            <a:r>
              <a:rPr lang="ko-KR" altLang="en-US" sz="1250" dirty="0">
                <a:solidFill>
                  <a:srgbClr val="667066"/>
                </a:solidFill>
                <a:latin typeface="맑은 고딕"/>
                <a:ea typeface="맑은 고딕"/>
              </a:rPr>
              <a:t> 구성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안전구역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상태머신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한글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SMS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SFC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보호자</a:t>
            </a: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 앱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BLE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등록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실시간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대시보드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080" y="3867912"/>
            <a:ext cx="384048" cy="384048"/>
          </a:xfrm>
          <a:prstGeom prst="ellipse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94760"/>
            <a:ext cx="5486400" cy="496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SFW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워치</a:t>
            </a:r>
            <a:endParaRPr sz="16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SFD</a:t>
            </a:r>
            <a:r>
              <a:rPr lang="ko-KR" altLang="en-US" sz="1250" dirty="0">
                <a:solidFill>
                  <a:srgbClr val="667066"/>
                </a:solidFill>
                <a:latin typeface="맑은 고딕"/>
                <a:ea typeface="맑은 고딕"/>
              </a:rPr>
              <a:t>와 같은 역할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(Wear OS)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965192"/>
            <a:ext cx="384048" cy="384048"/>
          </a:xfrm>
          <a:prstGeom prst="ellipse">
            <a:avLst/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920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12A21"/>
                </a:solidFill>
                <a:latin typeface="맑은 고딕"/>
                <a:ea typeface="맑은 고딕"/>
              </a:rPr>
              <a:t>서버·대시보드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xAPI·LRS + 이력 조회 가동</a:t>
            </a:r>
          </a:p>
        </p:txBody>
      </p:sp>
      <p:pic>
        <p:nvPicPr>
          <p:cNvPr id="13" name="Picture 12" descr="sfc_ma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3977639" cy="2548444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pic>
        <p:nvPicPr>
          <p:cNvPr id="14" name="Picture 13" descr="sf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251960"/>
            <a:ext cx="1033975" cy="2240280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040880" y="4251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실제 화면 — SFC 대시보드(위)
SFD 운영 모드(오른쪽)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704088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구현 상세 ▸ A6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실측 — 전 구간이 실제로 동작했다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2026-07-04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실기기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운영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실측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,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SMS·서버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기록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양쪽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교차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검증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55648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이탈 감지 — SMS + GPS 모드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24328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주의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(+5분) — SMS +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서버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93008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긴급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(+30분) — SOS SMS + 60초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반복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59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00:05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61688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복귀 — SMS + SOS 자동 중단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실제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발송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문자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: "[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SafeFinder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]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아버님이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안전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구역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집을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벗어났습니다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.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현재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위치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: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지도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링크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문자 전문·로그 ▸ A7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실증 계획과 파급성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주관적 만족이 아닌 ZBI 정량 입증 → 사업화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2F6DB5"/>
                </a:solidFill>
                <a:latin typeface="맑은 고딕"/>
                <a:ea typeface="맑은 고딕"/>
              </a:rPr>
              <a:t>실증</a:t>
            </a:r>
            <a:r>
              <a:rPr sz="1700" b="1" dirty="0">
                <a:solidFill>
                  <a:srgbClr val="2F6DB5"/>
                </a:solidFill>
                <a:latin typeface="맑은 고딕"/>
                <a:ea typeface="맑은 고딕"/>
              </a:rPr>
              <a:t> (Phase 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시제품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6대 · 30회+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시나리오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스트레스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테스트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6가족 × 4주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실사용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, AI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오경보율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개선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ZBI(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국제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부양부담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척도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)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사전·사후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변화량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측정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2C5F2D"/>
                </a:solidFill>
                <a:latin typeface="맑은 고딕"/>
                <a:ea typeface="맑은 고딕"/>
              </a:rPr>
              <a:t>파급</a:t>
            </a:r>
            <a:r>
              <a:rPr sz="17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700" b="1" dirty="0" err="1">
                <a:solidFill>
                  <a:srgbClr val="2C5F2D"/>
                </a:solidFill>
                <a:latin typeface="맑은 고딕"/>
                <a:ea typeface="맑은 고딕"/>
              </a:rPr>
              <a:t>효과</a:t>
            </a:r>
            <a:endParaRPr sz="1700" b="1" dirty="0">
              <a:solidFill>
                <a:srgbClr val="2C5F2D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10%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예방만으로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한·일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연 3,300건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실종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차단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일본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돌봄비용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6.16조 엔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시장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일본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우선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진출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ZBI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데이터로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제5차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치매관리종합계획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dirty="0">
                <a:solidFill>
                  <a:srgbClr val="212A21"/>
                </a:solidFill>
                <a:latin typeface="맑은 고딕"/>
                <a:ea typeface="맑은 고딕"/>
              </a:rPr>
              <a:t>부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합 (B2G)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12주 종료 → 6개월 내 제품 출시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12A21"/>
                </a:solidFill>
                <a:latin typeface="맑은 고딕"/>
                <a:ea typeface="맑은 고딕"/>
              </a:rPr>
              <a:t>확장: xAPI 개방형 데이터 → 이종 센서·기관 연동  ·  아동·정신장애인 등 인접 취약계층 수평 확장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상세 ▸ A8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팀 안심동행 — 파이프라인이 곧 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HW → FW → 서버 → 웹, 단계마다 전담 전문가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55064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방효식 (팀장)  —  FW·아키텍처 총괄 — Deep Sleep · 알람 로직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삼성전자 PE · 24년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이동엽  —  서버·웹 — xAPI/LRS · React 대시보드 · ZBI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풀스택 7년 · 일본시장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58183"/>
            <a:ext cx="411480" cy="411480"/>
          </a:xfrm>
          <a:prstGeom prst="ellipse">
            <a:avLst/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0332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정영호  —  디바이스·DB — 회로 배선 · LRS 스키마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삼성 시스템 30년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09743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54879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>
                <a:solidFill>
                  <a:srgbClr val="212A21"/>
                </a:solidFill>
                <a:latin typeface="맑은 고딕"/>
                <a:ea typeface="맑은 고딕"/>
              </a:rPr>
              <a:t>이광열  —  HW·기구 — PCB · 저전력 부품 · 패키징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삼성전자 PE · 32년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C5F2D"/>
                </a:solidFill>
                <a:latin typeface="맑은 고딕"/>
                <a:ea typeface="맑은 고딕"/>
              </a:rPr>
              <a:t>협업: 2주차 xAPI 규격 선확정으로 4개 영역 병렬 개발 · 주차별 WBS · 6주차 게이트 전원 통합 점검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역할 상세 ▸ A9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12267-F746-97CE-5462-BA1594FBCF21}"/>
              </a:ext>
            </a:extLst>
          </p:cNvPr>
          <p:cNvSpPr txBox="1"/>
          <p:nvPr/>
        </p:nvSpPr>
        <p:spPr>
          <a:xfrm>
            <a:off x="731520" y="2103120"/>
            <a:ext cx="10698480" cy="482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사후 수색이 아닌, 사전 차단.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EBD45-DFF0-F5E7-46A5-3211127FDB60}"/>
              </a:ext>
            </a:extLst>
          </p:cNvPr>
          <p:cNvSpPr txBox="1"/>
          <p:nvPr/>
        </p:nvSpPr>
        <p:spPr>
          <a:xfrm>
            <a:off x="731520" y="2971800"/>
            <a:ext cx="10698480" cy="651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충전 부담 없는 워치, 국제표준 데이터, 개인화 AI, 그리고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서버가 죽어도 보호자에게 반드시 도달하는 알림.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28FB8-6F9E-F84E-BBF4-4ADC7FE61E6A}"/>
              </a:ext>
            </a:extLst>
          </p:cNvPr>
          <p:cNvSpPr txBox="1"/>
          <p:nvPr/>
        </p:nvSpPr>
        <p:spPr>
          <a:xfrm>
            <a:off x="731520" y="4663440"/>
            <a:ext cx="10698480" cy="224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팀 안심동행  ·  감사합니다  ·  Q&amp;A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3ACBC-37BD-79C1-5630-12B9BC2A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83" y="2194560"/>
            <a:ext cx="1706046" cy="20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3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749039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9F2DC"/>
                </a:solidFill>
                <a:latin typeface="맑은 고딕"/>
                <a:ea typeface="맑은 고딕"/>
              </a:rPr>
              <a:t>A1 조사 상세  ·  A2 경쟁 비교표  ·  A3 12주 로드맵  ·  A4 핵심 기술  ·  A5 DFD·데이터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9F2DC"/>
                </a:solidFill>
                <a:latin typeface="맑은 고딕"/>
                <a:ea typeface="맑은 고딕"/>
              </a:rPr>
              <a:t>A6 구현 상세  ·  A7 실측 로그·문자 전문  ·  A8 실증·사업화  ·  A9 팀 역할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A1. 문제 조사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근거 통계와 기존 제품의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9.25%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63677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국내 65세+ 치매 유병률 (보건복지부 법정 통계)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15,502건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1401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2024년 한국 치매 실종 신고 — 전체 실종의 31%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39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18,121명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19125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일본 연간 치매 실종 (20년 먼저 초고령화)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79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45.8%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968495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재가 치매 가족 "24시간 감시의 한계" 호소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병목 상세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① 충전: 기존 배회감지기·스마트워치는 매일~수일 충전 — 관리 부담이 가족에게 전가, 실사용 포기의 결정적 원인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② 사후 대응: 이탈 완료 후 알림/수동 조회 — 배회 중 교통사고·저체온·익수 위험, 골든타임 유실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③ 고정 원형 지오펜스: 실제 동선과 불일치로 오경보 빈발 → 알림 무시(alarm fatigue) → 실제 사고 대응 지연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A2. 기존 솔루션 vs SafeFinder — 전체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1732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기존 배회감지기 · 워치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SafeFinder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39112"/>
            <a:ext cx="2286000" cy="804672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대응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39112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이탈 '후' 알림 — 사후 수색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39112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Warning(5분) → Emergency(30분)
2단계 사전 알림 + 즉시 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16936"/>
            <a:ext cx="2286000" cy="804672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배터리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16936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매일 ~ 수일 충전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16936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Deep Sleep ~2mA — 1회 충전
6개월~1년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2286000" cy="804672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794760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단순 원형 지오펜스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794760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WiFi·GPS·BLE 복합 + 동선 반영 다각형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72584"/>
            <a:ext cx="2286000" cy="804672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672584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제조사별 폐쇄 포맷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672584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xAPI 국제표준 Statement + LRS 개방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50408"/>
            <a:ext cx="2286000" cy="804672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알림 신뢰성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550408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서버 의존 (장애 시 침묵)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550408"/>
            <a:ext cx="4297680" cy="804672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단말 직접 판정·SMS — 서버 불통에도 도달</a:t>
            </a:r>
          </a:p>
        </p:txBody>
      </p:sp>
      <p:sp>
        <p:nvSpPr>
          <p:cNvPr id="21" name="Rounded Rectangle 20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A3. 12주 로드맵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2026.05.22 ~ 08.17 · WBS 주차별 담당자 매칭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1 · 1~6주 [완료]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27048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한·일 시장 조사, xAPI Statement 규격 확정(2주차), HW 시제품 6대 제작·패키징,
안드로이드 3앱·Spring Boot LRS·React 대시보드 핵심 개발 — 6주차 중간 게이트 통과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79191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7주 [진행 중]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697479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시제품 6대로 디바이스→LTE-M→LRS→AI→대시보드 30회+ 시나리오 스트레스 테스트,
Warning 미복귀 시 Emergency 격상 로직 무결성 검증 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9624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8~11주 [예정]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867911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6가족 모집·1:1 단말 매칭·사전 ZBI 12문항 → 4주 필드 실사용,
실제 배회 경로·기습 외출 데이터를 AI에 피딩, 오경보율 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0056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12주 → [예정]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038344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사후 ZBI 재시행·변화량 정량 분석, 최종 보고서·일문/영문 가이드북·시연 영상,
한·일 사업화 계획서 — 이후 6개월 내 제품 출시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A4. 핵심 기술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기술 선택마다 '왜'가 있는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초저전력 HW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ESP32-S3 Deep Sleep 커널 최적화 + LTE-M(Cat-M1),
대기전류 ~2mA → 1회 충전 6개월~1년.
GPS NEO-7M, 하드웨어 비상 버튼, 실리콘/TPU 스트랩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xAPI 국제표준 · LRS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Raw 값을 Actor-Verb-Object Statement로 정규화,
Spring Boot 파서 + LRS DB. 이종 스마트홈 센서·기관
시스템과 연동 가능한 개방형 데이터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8A013"/>
                </a:solidFill>
                <a:latin typeface="맑은 고딕"/>
                <a:ea typeface="맑은 고딕"/>
              </a:rPr>
              <a:t>AI 개인화 위험점수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고정 임계값의 오탐/미탐을 개인 베이스라인 학습으로 해결.
룰 기반 + 경량 ML 하이브리드 — 지오펜스 이탈보다
약 10분 선행 Warning으로 골든타임 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단말 자율 상태머신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판정·에스컬레이션·SMS가 단말 내부 완결.
5/30분 타이머 영속화(재시작에도 유지), FGS 이중 폴백,
다중 WiFi 프로필·시간 무결성 자가 치유(NTP)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A5. 데이터 흐름도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Raw → xAPI Statement → AI 판정 → 사전 예방 알림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센서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자이로·가속도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WiFi 상태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SSID/BSSID/신호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GPS/LTE-M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좌표·정확도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SFC (BLE)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설정·안전구역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743200" cy="1554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단말 텔레메트리 서비스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안전구역 판정 · 이탈 타이머
경고/긴급 에스컬레이션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12064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667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12A21"/>
                </a:solidFill>
                <a:latin typeface="맑은 고딕"/>
                <a:ea typeface="맑은 고딕"/>
              </a:rPr>
              <a:t>로컬 저장소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67066"/>
                </a:solidFill>
                <a:latin typeface="맑은 고딕"/>
                <a:ea typeface="맑은 고딕"/>
              </a:rPr>
              <a:t>타이머·구역 상태 영속화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휴대폰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SMS 수신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LRS 서버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xAPI 변환 · AI 위험점수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572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SFC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60초 폴링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103120"/>
            <a:ext cx="1051560" cy="9144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200400"/>
            <a:ext cx="914400" cy="18288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31720" y="3840480"/>
            <a:ext cx="1051560" cy="4572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4343400"/>
            <a:ext cx="1143000" cy="100584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48840" y="4709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2F6DB5"/>
                </a:solidFill>
                <a:latin typeface="맑은 고딕"/>
                <a:ea typeface="맑은 고딕"/>
              </a:rPr>
              <a:t>프로비저닝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4343400"/>
            <a:ext cx="0" cy="73152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80760" y="2148840"/>
            <a:ext cx="1188720" cy="91440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2240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80760" y="3493008"/>
            <a:ext cx="1188720" cy="27432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C5F2D"/>
                </a:solidFill>
                <a:latin typeface="맑은 고딕"/>
                <a:ea typeface="맑은 고딕"/>
              </a:rPr>
              <a:t>60초 보고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3493008"/>
            <a:ext cx="54864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366760" y="3931920"/>
            <a:ext cx="0" cy="59436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51760" y="617220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텔레메트리 스키마: deviceId · seq · eventType · locationType · inSafeZone · battery · signal · deviceStatus · verb · gyro[10] · lat/lng</a:t>
            </a:r>
          </a:p>
        </p:txBody>
      </p:sp>
      <p:sp>
        <p:nvSpPr>
          <p:cNvPr id="27" name="Rounded Rectangle 26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A6. 구현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완료된 구현 항목 (6주차 기준)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SFD — 어르신 단말 (안드로이드)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481328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WiFi/GPS 복합 안전구역 + 2분 유예 · 5/30분 에스컬레이션 · 한글 SMS(이름·구역명·지도링크, 멀티파트)
에스컬레이션 상태 영속화(재시작 유지) · Foreground Service 이중 폴백 · 재부팅/업데이트 자동 복구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70048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SFC — 보호자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688336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BLE 프로비저닝(20바이트 청크) · 안전구역/보호자 CRUD · 60초 폴링 대시보드(정상/주의/긴급 한글 표기)
백그라운드 BLE 모니터 FGS 승격 + SERVICE_UUID 스캔 필터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77056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SFW — 워치 단말 (Wear 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895344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SFD와 동일 텔레메트리·판정 루프 포트 · SMS 미지원 기기 자동 폴백 · 등록 완료 시 자동 기동
청크 조립 버그 2건(한글 깨짐·버퍼 리셋) 수정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84064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서버 ·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102352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Spring Boot xAPI 파서 · LRS DB 적재 · 이력 조회/페이징 API · React 반응형 웹 · WebSocket/SSE 실시간 팝업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A7. 실측 로그 — 실제 발송 문자 전문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2026-07-04 Galaxy S24 Ultra · 서버 sf-api.ese-lab.com 교차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C5F2D"/>
                </a:solidFill>
                <a:latin typeface="맑은 고딕"/>
                <a:ea typeface="맑은 고딕"/>
              </a:rPr>
              <a:t>이탈 (23:29)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아버님이 안전 구역 집을 벗어났습니다.
현재 위치: https://maps.google.com/?q=37.44530,126.89930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A013"/>
                </a:solidFill>
                <a:latin typeface="맑은 고딕"/>
                <a:ea typeface="맑은 고딕"/>
              </a:rPr>
              <a:t>주의 (23:34, +5분)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주의: 아버님이 안전 구역을 벗어난 지
5분이 넘어 관심이 필요합니다.
현재 위치: (지도 링크)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B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맑은 고딕"/>
                <a:ea typeface="맑은 고딕"/>
              </a:rPr>
              <a:t>SOS (23:59, +30분)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SOS: 아버님이 안전 구역을 벗어난 지
30분이 지났습니다. 지금 바로 위치를 확인해 주세요.
현재 위치: (지도 링크) — 서버 EMERGENCY 60초 반복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290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맑은 고딕"/>
                <a:ea typeface="맑은 고딕"/>
              </a:rPr>
              <a:t>복귀 (00:05)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아버님이 안전 구역 집에 들어가셨습니다.
— SOS 반복 자동 중단, 타이머 초기화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서버 기록: GEOFENCE_EXIT_HINT(23:29 NORMAL → 23:34 WARNING) → SOS×6회(EMERGENCY, 60초 간격) → 복귀 후 중단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추가 검증: 서비스 강제종료·앱 업데이트·재부팅 후에도 타이머 유지, 중복 SMS 없음 (상태 영속화)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A8. 실증·사업화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실증 설계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7주: 30회+ 전 구간 업링크 스트레스 테스트 + 격상 로직 검증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8주: 6가족 모집·단말 매칭, 사전 ZBI 12문항 설문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9~11주: 4주 필드 — 실제 배회·기습 외출 데이터 AI 피딩,
  오경보율(False Alarm) 지속 개선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12주: 사후 ZBI 변화량 교차 분석 — 부담 경감 통계 입증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사회·경제 효과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10% 예방 시 한·일 연 3,300건 / 20% 보급 시 6,700건+ 차단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일본 비공식 돌봄비용 연 6.16조 엔 경감 대상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경찰·소방 수색비 절감, 실종 안전문자 행정 피로(5년새 7배) 경감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다중 가족 공유로 독점 돌봄 노동 분산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사업화 로드맵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12주 종료 → 6개월 내 출시  ·  ZBI 정량 데이터로 제5차 치매관리종합계획(2026~2030) 정합 — B2G·지자체 돌봄사업 진입
일본 우선 진출(일문 가이드북·현지 경험 보유) → 독일·중국·대만 실버 헬스케어 확장  ·  xAPI 개방 표준으로 이종 기기·기관 생태계 연동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A9. 팀 역할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방효식 (팀장)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삼성전자 Principal Engineer · 24년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FW·시스템 아키텍처 총괄 — ESP32 Deep Sleep 제어, 알람 로직,
단말 상태머신, 전체 기술 조율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이동엽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풀스택 7년 · 일본시장 경험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서버·웹·기획 — Spring Boot xAPI 파서/LRS, React 대시보드,
ZBI 설문 모듈, 일본 시장 조사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E8A013"/>
                </a:solidFill>
                <a:latin typeface="맑은 고딕"/>
                <a:ea typeface="맑은 고딕"/>
              </a:rPr>
              <a:t>정영호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 시스템 개발 30년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디바이스 아키텍처·DB·FW — 회로 배선, LRS 스키마 설계,
단말-서버 데이터 정합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이광열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삼성전자 Principal Engineer · 32년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HW·PCB·기구 설계 — 회로도, 저전력 부품 매핑,
워치 케이스·스트랩 패키징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협업 구조: 2주차 xAPI 규격 선확정(표준 우선 설계) → HW·FW·서버·웹 4개 영역 병렬 개발  ·  주차별 WBS 담당자-업무 매칭  ·  6주차 중간 게이트 전원 참여 통합 점검 통과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2420</Words>
  <Application>Microsoft Office PowerPoint</Application>
  <PresentationFormat>Widescreen</PresentationFormat>
  <Paragraphs>282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방효식</cp:lastModifiedBy>
  <cp:revision>2</cp:revision>
  <dcterms:created xsi:type="dcterms:W3CDTF">2013-01-27T09:14:16Z</dcterms:created>
  <dcterms:modified xsi:type="dcterms:W3CDTF">2026-07-05T05:35:44Z</dcterms:modified>
  <cp:category/>
</cp:coreProperties>
</file>