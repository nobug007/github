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세 개의 안드로이드 앱과 텔레메트리 서버가 하나의 안전망을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SFD — 어르신 단말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스마트폰 · 항시 휴대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WiFi/GPS 안전구역 감지, 자이로 움직임 수집,
이탈 시 경고·SOS 발송 (상태 머신)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SFC — 보호자 앱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태블릿/폰 · 보호자용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BLE로 단말 등록(프로비저닝), 안전구역 관리,
실시간 현황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00600"/>
            <a:ext cx="3200400" cy="14630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SFW — 워치 단말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Wear OS · 확장 단말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SFD와 동일 BLE 프로토콜로 등록,
운영 모드 확장 진행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SFC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보호자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SFD / SFW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어르신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0624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서버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sf-api.ese-lab.com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20624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E9F2DC"/>
                </a:solidFill>
                <a:latin typeface="맑은 고딕"/>
                <a:ea typeface="맑은 고딕"/>
              </a:rPr>
              <a:t>웹 · 이력 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999232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SMS 직접 수신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2212848"/>
            <a:ext cx="731520" cy="0"/>
          </a:xfrm>
          <a:prstGeom prst="line">
            <a:avLst/>
          </a:prstGeom>
          <a:ln w="22225">
            <a:solidFill>
              <a:srgbClr val="2F6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9360" y="18470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F6DB5"/>
                </a:solidFill>
                <a:latin typeface="맑은 고딕"/>
                <a:ea typeface="맑은 고딕"/>
              </a:rPr>
              <a:t>BLE 등록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66760" y="2651760"/>
            <a:ext cx="0" cy="1508760"/>
          </a:xfrm>
          <a:prstGeom prst="line">
            <a:avLst/>
          </a:prstGeom>
          <a:ln w="22225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85632" y="3200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C5F2D"/>
                </a:solidFill>
                <a:latin typeface="맑은 고딕"/>
                <a:ea typeface="맑은 고딕"/>
              </a:rPr>
              <a:t>텔레메트리(HTTPS)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629400" y="4590288"/>
            <a:ext cx="73152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23560" y="2651760"/>
            <a:ext cx="0" cy="1508760"/>
          </a:xfrm>
          <a:prstGeom prst="line">
            <a:avLst/>
          </a:prstGeom>
          <a:ln w="22225">
            <a:solidFill>
              <a:srgbClr val="6670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4840" y="32461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60초 폴링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72600" y="2212848"/>
            <a:ext cx="1325880" cy="758952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64040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서버 장애·데이터 불통 상황에서도 SMS 직접 발송 경로는 유지 — 이중 알림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SFC — 보호자 앱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단말 등록부터 실시간 모니터링까지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BLE 스캔·프로비저닝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주변 SFD/SFW 단말 검색 후 어르신·보호자·안전구역
설정을 BLE GATT로 전송 (20바이트 청크 프로토콜)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70048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안전구역 등록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집 WiFi(SSID/BSSID) 기반 안전구역 지정,
서버와 양방향 동기화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77056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실시간 현황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60초 주기 서버 폴링 — 상태(정상/주의/긴급),
체류 시간, 배터리, 신호 표시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175504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084064"/>
            <a:ext cx="5120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백그라운드 감시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BLE 모니터를 Foreground Service로 상시 유지
(이번 마일스톤에서 강화)</a:t>
            </a:r>
          </a:p>
        </p:txBody>
      </p:sp>
      <p:pic>
        <p:nvPicPr>
          <p:cNvPr id="12" name="Picture 11" descr="sfc_ma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17320"/>
            <a:ext cx="4754880" cy="3046417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실제 화면 — 어르신 '집' 안전구역 체류 중 (정상)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SFD — 어르신 단말 상태 머신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60초 주기로 위치·움직임을 판정하는 안전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60초 샘플링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자이로/가속도 누적
WiFi·GPS 판독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65960" y="2542032"/>
            <a:ext cx="0" cy="164592"/>
          </a:xfrm>
          <a:prstGeom prst="line">
            <a:avLst/>
          </a:prstGeom>
          <a:ln w="1905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724912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안전구역 판정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등록 WiFi 연결 = 구역 내
(2분 유예로 순단 흡수)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3712464"/>
            <a:ext cx="0" cy="164592"/>
          </a:xfrm>
          <a:prstGeom prst="line">
            <a:avLst/>
          </a:prstGeom>
          <a:ln w="1905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3895344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이탈 → GPS 모드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구역 밖이면 GPS 추적
60초마다 서버 보고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4882896"/>
            <a:ext cx="0" cy="164592"/>
          </a:xfrm>
          <a:prstGeom prst="line">
            <a:avLst/>
          </a:prstGeom>
          <a:ln w="1905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5065776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에스컬레이션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5분 주의 → 30분 SOS
SMS + 서버 동시 통보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00200"/>
            <a:ext cx="36576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설계 포인트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상태는 단말이 소유 — 서버가 죽어도 이탈 감지와 SMS는 동작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에스컬레이션 타이머를 저장소에 영속화 — 프로세스가 재시작돼도 5/30분 카운트가 이어짐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Foreground Service 이중 폴백(location→dataSync)으로 OS 강제종료·권한 변화에도 크래시 없이 유지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복귀 시 모든 타이머·플래그 초기화, 재진입 SMS 발송</a:t>
            </a:r>
          </a:p>
        </p:txBody>
      </p:sp>
      <p:pic>
        <p:nvPicPr>
          <p:cNvPr id="12" name="Picture 11" descr="sf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25880"/>
            <a:ext cx="2342271" cy="5074920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863840" y="6419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실제 화면 — 운영 모드 (WiFi 안전구역 활성)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데이터 흐름도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센서 입력에서 보호자 알림까지의 데이터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센서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자이로·가속도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WiFi 상태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SSID/BSSID/신호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GPS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좌표·정확도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SFC (BLE)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설정·안전구역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743200" cy="1554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SFD 텔레메트리 서비스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안전구역 판정 · 이탈 타이머
경고/긴급 에스컬레이션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12064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667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12A21"/>
                </a:solidFill>
                <a:latin typeface="맑은 고딕"/>
                <a:ea typeface="맑은 고딕"/>
              </a:rPr>
              <a:t>로컬 저장소 (Prefs)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67066"/>
                </a:solidFill>
                <a:latin typeface="맑은 고딕"/>
                <a:ea typeface="맑은 고딕"/>
              </a:rPr>
              <a:t>설정·타이머·구역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휴대폰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SMS 수신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텔레메트리 서버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E9F2DC"/>
                </a:solidFill>
                <a:latin typeface="맑은 고딕"/>
                <a:ea typeface="맑은 고딕"/>
              </a:rP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이력·검색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572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SFC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60초 폴링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103120"/>
            <a:ext cx="1051560" cy="9144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200400"/>
            <a:ext cx="914400" cy="18288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31720" y="3840480"/>
            <a:ext cx="1051560" cy="4572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4343400"/>
            <a:ext cx="1143000" cy="100584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48840" y="4709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2F6DB5"/>
                </a:solidFill>
                <a:latin typeface="맑은 고딕"/>
                <a:ea typeface="맑은 고딕"/>
              </a:rPr>
              <a:t>프로비저닝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4343400"/>
            <a:ext cx="0" cy="73152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80760" y="2148840"/>
            <a:ext cx="1188720" cy="91440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2240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80760" y="3493008"/>
            <a:ext cx="1188720" cy="27432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C5F2D"/>
                </a:solidFill>
                <a:latin typeface="맑은 고딕"/>
                <a:ea typeface="맑은 고딕"/>
              </a:rPr>
              <a:t>60초 보고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3493008"/>
            <a:ext cx="54864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366760" y="3931920"/>
            <a:ext cx="0" cy="59436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핵심: 판정·알림의 1차 경로(SMS)는 단말 내부에서 완결 — 네트워크/서버 의존 없이 보호자에게 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이탈 시나리오 — 알림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안전구역 이탈부터 복귀까지, 실제 발송 문자 그대로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103120"/>
            <a:ext cx="10881360" cy="0"/>
          </a:xfrm>
          <a:prstGeom prst="line">
            <a:avLst/>
          </a:prstGeom>
          <a:ln w="2857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60704" y="1975103"/>
            <a:ext cx="256032" cy="25603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19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이탈 감지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즉시</a:t>
            </a:r>
          </a:p>
        </p:txBody>
      </p:sp>
      <p:sp>
        <p:nvSpPr>
          <p:cNvPr id="8" name="Oval 7"/>
          <p:cNvSpPr/>
          <p:nvPr/>
        </p:nvSpPr>
        <p:spPr>
          <a:xfrm>
            <a:off x="3803904" y="1975103"/>
            <a:ext cx="256032" cy="256032"/>
          </a:xfrm>
          <a:prstGeom prst="ellipse">
            <a:avLst/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417319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E8A013"/>
                </a:solidFill>
                <a:latin typeface="맑은 고딕"/>
                <a:ea typeface="맑은 고딕"/>
              </a:rPr>
              <a:t>주의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+5분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4" y="1975103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59" y="1417319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  <a:ea typeface="맑은 고딕"/>
              </a:rPr>
              <a:t>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2860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+30분 (60초 반복)</a:t>
            </a:r>
          </a:p>
        </p:txBody>
      </p:sp>
      <p:sp>
        <p:nvSpPr>
          <p:cNvPr id="14" name="Oval 13"/>
          <p:cNvSpPr/>
          <p:nvPr/>
        </p:nvSpPr>
        <p:spPr>
          <a:xfrm>
            <a:off x="9564624" y="1975103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1417319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F6DB5"/>
                </a:solidFill>
                <a:latin typeface="맑은 고딕"/>
                <a:ea typeface="맑은 고딕"/>
              </a:rPr>
              <a:t>복귀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860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재진입 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이탈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아버님이 안전 구역 집을
벗어났습니다.
현재 위치: maps.google.com/?q=37.44530,126.89930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8A013"/>
                </a:solidFill>
                <a:latin typeface="맑은 고딕"/>
                <a:ea typeface="맑은 고딕"/>
              </a:rPr>
              <a:t>주의 (+5분)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주의: 아버님이 안전 구역을
벗어난 지 5분이 넘어 관심이 필요합니다.
현재 위치: (지도 링크 포함)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FB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맑은 고딕"/>
                <a:ea typeface="맑은 고딕"/>
              </a:rPr>
              <a:t>SOS (+30분)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SOS: 아버님이 안전 구역을
벗어난 지 30분이 지났습니다. 지금 바로
위치를 확인해 주세요. + 지도 링크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120640" cy="16002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F6DB5"/>
                </a:solidFill>
                <a:latin typeface="맑은 고딕"/>
                <a:ea typeface="맑은 고딕"/>
              </a:rPr>
              <a:t>복귀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[SafeFinder] 아버님이 안전 구역 집에
들어가셨습니다.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실기기 검증 결과 (2026-07-04)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Galaxy S24 Ultra + 운영 서버로 전체 파이프라인 실측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234440" cy="7315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581912"/>
            <a:ext cx="94183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안전구역 이탈 감지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67066"/>
                </a:solidFill>
                <a:latin typeface="맑은 고딕"/>
                <a:ea typeface="맑은 고딕"/>
              </a:rPr>
              <a:t>이탈 SMS 발송 + GPS 모드 전환 + 서버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234440" cy="7315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542032"/>
            <a:ext cx="94183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주의 (WARNING)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67066"/>
                </a:solidFill>
                <a:latin typeface="맑은 고딕"/>
                <a:ea typeface="맑은 고딕"/>
              </a:rPr>
              <a:t>이탈 5분 경과 — 주의 SMS + 서버 WARNING 이벤트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234440" cy="73152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502151"/>
            <a:ext cx="94183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긴급 (SOS)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67066"/>
                </a:solidFill>
                <a:latin typeface="맑은 고딕"/>
                <a:ea typeface="맑은 고딕"/>
              </a:rPr>
              <a:t>이탈 30분 경과 — SOS SMS + 서버 EMERGENCY, 60초마다 반복 6회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234440" cy="7315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00:05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462272"/>
            <a:ext cx="94183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안전구역 복귀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67066"/>
                </a:solidFill>
                <a:latin typeface="맑은 고딕"/>
                <a:ea typeface="맑은 고딕"/>
              </a:rPr>
              <a:t>재진입 SMS 발송, SOS 반복 자동 중단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57784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검증 완료: 이탈 → 5분 주의 → 30분 SOS(반복) → 복귀의 전 단계가 SMS·서버 양쪽에서 확인됨   |   대시보드(sf-api.ese-lab.com)에서 SF-4D203069로 전체 이력 조회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이번 마일스톤 — 신뢰성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"보호자에게 반드시 도달한다"를 위한 6가지 수정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2C5F2D"/>
                </a:solidFill>
                <a:latin typeface="맑은 고딕"/>
                <a:ea typeface="맑은 고딕"/>
              </a:rPr>
              <a:t>서비스 크래시 제거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위치 권한 상태와 무관하게 Foreground Service가 죽지 않도록 이중 폴백 도입 (SFD·SFC 동일 적용)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2C5F2D"/>
                </a:solidFill>
                <a:latin typeface="맑은 고딕"/>
                <a:ea typeface="맑은 고딕"/>
              </a:rPr>
              <a:t>타이머 영속화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5/30분 에스컬레이션 상태를 저장소에 보존 — 재시작·재부팅에도 카운트 유지, 중복 SMS 차단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C0392B"/>
                </a:solidFill>
                <a:latin typeface="맑은 고딕"/>
                <a:ea typeface="맑은 고딕"/>
              </a:rPr>
              <a:t>가짜 안전구역 수정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BLE 연결 플래그가 남아 이탈을 영구 은폐하던 버그 제거 — WiFi 끊기면 정확히 GPS 모드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2C5F2D"/>
                </a:solidFill>
                <a:latin typeface="맑은 고딕"/>
                <a:ea typeface="맑은 고딕"/>
              </a:rPr>
              <a:t>행동 가능한 SMS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영문 토큰 → 한글 문장 + 어르신 이름 + 구역 이름 + 지도 링크, 장문 분할 발송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7947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2F6DB5"/>
                </a:solidFill>
                <a:latin typeface="맑은 고딕"/>
                <a:ea typeface="맑은 고딕"/>
              </a:rPr>
              <a:t>보호자 측 감시 강화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SFC BLE 모니터를 Foreground Service로 승격, UUID 기반 스캔 필터로 교체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7947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667066"/>
                </a:solidFill>
                <a:latin typeface="맑은 고딕"/>
                <a:ea typeface="맑은 고딕"/>
              </a:rPr>
              <a:t>워치 프로토콜 수정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SFW 한글 깨짐·전송 중단 버그 2건 수정, SFD형 운영 모드 확장 착수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모든 수정은 실기기(폰·태블릿)에서 빌드·설치·동작 검증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212A21"/>
                </a:solidFill>
                <a:latin typeface="맑은 고딕"/>
                <a:ea typeface="맑은 고딕"/>
              </a:rPr>
              <a:t>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67066"/>
                </a:solidFill>
                <a:latin typeface="맑은 고딕"/>
                <a:ea typeface="맑은 고딕"/>
              </a:rPr>
              <a:t>다음 마일스톤 우선순위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73736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212A21"/>
                </a:solidFill>
                <a:latin typeface="맑은 고딕"/>
                <a:ea typeface="맑은 고딕"/>
              </a:rPr>
              <a:t>BLE 동행 안전구역 재활성화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보호자와 함께 외출 시 오경보 방지 — 토큰 핸드셰이크로 인증된 SFC 연결만 안전으로 인정 (설계 완료, 구현 대기)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319272"/>
            <a:ext cx="548640" cy="548640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15468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 dirty="0">
                <a:solidFill>
                  <a:srgbClr val="212A21"/>
                </a:solidFill>
                <a:latin typeface="맑은 고딕"/>
                <a:ea typeface="맑은 고딕"/>
              </a:rPr>
              <a:t>SFW </a:t>
            </a:r>
            <a:r>
              <a:rPr sz="1700" b="1" dirty="0" err="1">
                <a:solidFill>
                  <a:srgbClr val="212A21"/>
                </a:solidFill>
                <a:latin typeface="맑은 고딕"/>
                <a:ea typeface="맑은 고딕"/>
              </a:rPr>
              <a:t>운영</a:t>
            </a:r>
            <a:r>
              <a:rPr sz="170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700" b="1" dirty="0" err="1">
                <a:solidFill>
                  <a:srgbClr val="212A21"/>
                </a:solidFill>
                <a:latin typeface="맑은 고딕"/>
                <a:ea typeface="맑은 고딕"/>
              </a:rPr>
              <a:t>모드</a:t>
            </a:r>
            <a:r>
              <a:rPr sz="170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700" b="1" dirty="0" err="1">
                <a:solidFill>
                  <a:srgbClr val="212A21"/>
                </a:solidFill>
                <a:latin typeface="맑은 고딕"/>
                <a:ea typeface="맑은 고딕"/>
              </a:rPr>
              <a:t>완성</a:t>
            </a:r>
            <a:endParaRPr sz="17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워치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단독으로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SFD와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동일한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감지·알림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수행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—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개발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진행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중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736592"/>
            <a:ext cx="548640" cy="548640"/>
          </a:xfrm>
          <a:prstGeom prst="ellipse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57200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 dirty="0" err="1">
                <a:solidFill>
                  <a:srgbClr val="212A21"/>
                </a:solidFill>
                <a:latin typeface="맑은 고딕"/>
                <a:ea typeface="맑은 고딕"/>
              </a:rPr>
              <a:t>표현·UX</a:t>
            </a:r>
            <a:r>
              <a:rPr sz="170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700" b="1" dirty="0" err="1">
                <a:solidFill>
                  <a:srgbClr val="212A21"/>
                </a:solidFill>
                <a:latin typeface="맑은 고딕"/>
                <a:ea typeface="맑은 고딕"/>
              </a:rPr>
              <a:t>통일</a:t>
            </a:r>
            <a:endParaRPr sz="17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정상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/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주의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/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긴급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한글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명칭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전 앱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통일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(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적용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중),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대시보드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어르신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친화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화면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개선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948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방효식</cp:lastModifiedBy>
  <cp:revision>2</cp:revision>
  <dcterms:created xsi:type="dcterms:W3CDTF">2013-01-27T09:14:16Z</dcterms:created>
  <dcterms:modified xsi:type="dcterms:W3CDTF">2026-07-05T03:13:21Z</dcterms:modified>
  <cp:category/>
</cp:coreProperties>
</file>