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231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맑은 고딕"/>
                <a:ea typeface="맑은 고딕"/>
              </a:rPr>
              <a:t>SafeFinder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36499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E9F2DC"/>
                </a:solidFill>
                <a:latin typeface="맑은 고딕"/>
                <a:ea typeface="맑은 고딕"/>
              </a:rPr>
              <a:t>xAPI 국제표준 기반 행동 예측형 치매 돌봄·가족지원 통합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977639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7BC62"/>
                </a:solidFill>
                <a:latin typeface="맑은 고딕"/>
                <a:ea typeface="맑은 고딕"/>
              </a:rPr>
              <a:t>"사후 수색이 아닌, 사전 차단" — 스마트 트래커 복합 안심존 &amp; 노인돌봄 관제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1206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팀 안심동행  |  방효식(팀장) · 이동엽 · 정영호 · 이광열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9AB39A"/>
                </a:solidFill>
                <a:latin typeface="맑은 고딕"/>
                <a:ea typeface="맑은 고딕"/>
              </a:rPr>
              <a:t>2026. 07  ·  중간발표 (8분)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문제 인식 — 왜 지금 SafeFinder인가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보건복지부 법정 통계·한일 양국 조사 기반 문제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4747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기획능력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51760" cy="16002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2C5F2D"/>
                </a:solidFill>
                <a:latin typeface="맑은 고딕"/>
                <a:ea typeface="맑은 고딕"/>
              </a:rPr>
              <a:t>9.25%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12A21"/>
                </a:solidFill>
                <a:latin typeface="맑은 고딕"/>
                <a:ea typeface="맑은 고딕"/>
              </a:rPr>
              <a:t>국내 65세+ 치매 유병률
2026년 환자 100만 명 돌파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463040"/>
            <a:ext cx="2651760" cy="16002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C0392B"/>
                </a:solidFill>
                <a:latin typeface="맑은 고딕"/>
                <a:ea typeface="맑은 고딕"/>
              </a:rPr>
              <a:t>15,502건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12A21"/>
                </a:solidFill>
                <a:latin typeface="맑은 고딕"/>
                <a:ea typeface="맑은 고딕"/>
              </a:rPr>
              <a:t>2024년 한국 치매 실종 신고
전체 실종의 31%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463040"/>
            <a:ext cx="2651760" cy="16002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E8A013"/>
                </a:solidFill>
                <a:latin typeface="맑은 고딕"/>
                <a:ea typeface="맑은 고딕"/>
              </a:rPr>
              <a:t>3.3만 건+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12A21"/>
                </a:solidFill>
                <a:latin typeface="맑은 고딕"/>
                <a:ea typeface="맑은 고딕"/>
              </a:rPr>
              <a:t>한·일 연간 실종 위험 합산
(일본 18,121명)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07424" y="1463040"/>
            <a:ext cx="2651760" cy="16002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C0392B"/>
                </a:solidFill>
                <a:latin typeface="맑은 고딕"/>
                <a:ea typeface="맑은 고딕"/>
              </a:rPr>
              <a:t>80%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12A21"/>
                </a:solidFill>
                <a:latin typeface="맑은 고딕"/>
                <a:ea typeface="맑은 고딕"/>
              </a:rPr>
              <a:t>사망사고가 마지막 확인 장소
5km 이내에서 발생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2C5F2D"/>
                </a:solidFill>
                <a:latin typeface="맑은 고딕"/>
                <a:ea typeface="맑은 고딕"/>
              </a:rPr>
              <a:t>기존 제품이 실패하는 두 개의 병목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C0392B"/>
                </a:solidFill>
                <a:latin typeface="맑은 고딕"/>
                <a:ea typeface="맑은 고딕"/>
              </a:rPr>
              <a:t>① 충전 부담 → 사용 포기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기존 배회감지기·스마트워치는 매일~수일 충전 필요.
관리 부담이 가족에게 전가되어 실사용 단계에서
디바이스 착용을 포기하게 되는 결정적 원인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C0392B"/>
                </a:solidFill>
                <a:latin typeface="맑은 고딕"/>
                <a:ea typeface="맑은 고딕"/>
              </a:rPr>
              <a:t>② 사후 대응 → 골든타임 유실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이탈이 '완료된 뒤'에야 알림이 오는 사후 수색 구조.
재가 치매 가족의 45.8%가 "24시간 감시의 한계"로
극심한 간병 부담 호소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C5F2D"/>
                </a:solidFill>
                <a:latin typeface="맑은 고딕"/>
                <a:ea typeface="맑은 고딕"/>
              </a:rPr>
              <a:t>→ 문제의 본질은 '위치 조회'가 아니라 "이탈을 미리 알고, 반드시 보호자에게 도달하는 알림"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대안 탐색 — 기존 솔루션 vs SafeFinder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문제 해결을 위한 대안 비교와 차별화 전략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4747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기획능력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구분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463040"/>
            <a:ext cx="4297680" cy="548640"/>
          </a:xfrm>
          <a:prstGeom prst="roundRect">
            <a:avLst>
              <a:gd name="adj" fmla="val 12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기존 배회감지기 · 워치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63040"/>
            <a:ext cx="4297680" cy="54864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SafeFinder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84832"/>
            <a:ext cx="2286000" cy="841248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12A21"/>
                </a:solidFill>
                <a:latin typeface="맑은 고딕"/>
                <a:ea typeface="맑은 고딕"/>
              </a:rPr>
              <a:t>대응 방식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084832"/>
            <a:ext cx="429768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이탈 '후' 알림 — 사후 수색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084832"/>
            <a:ext cx="4297680" cy="841248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Warning(5분) → Emergency(30분)
2단계 사전 알림 + 즉시 SMS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99232"/>
            <a:ext cx="2286000" cy="841248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12A21"/>
                </a:solidFill>
                <a:latin typeface="맑은 고딕"/>
                <a:ea typeface="맑은 고딕"/>
              </a:rPr>
              <a:t>배터리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999232"/>
            <a:ext cx="429768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매일 ~ 수일 충전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999232"/>
            <a:ext cx="4297680" cy="841248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Deep Sleep ~2mA — 1회 충전
6개월~1년 (충전 부담 해소)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13632"/>
            <a:ext cx="2286000" cy="841248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12A21"/>
                </a:solidFill>
                <a:latin typeface="맑은 고딕"/>
                <a:ea typeface="맑은 고딕"/>
              </a:rPr>
              <a:t>안전구역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913632"/>
            <a:ext cx="429768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단순 원형 지오펜스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913632"/>
            <a:ext cx="4297680" cy="841248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WiFi·GPS·BLE 복합 + 동선 반영
다각형 SafeZone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28032"/>
            <a:ext cx="2286000" cy="841248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12A21"/>
                </a:solidFill>
                <a:latin typeface="맑은 고딕"/>
                <a:ea typeface="맑은 고딕"/>
              </a:rPr>
              <a:t>데이터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4828032"/>
            <a:ext cx="429768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제조사별 폐쇄 포맷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828032"/>
            <a:ext cx="4297680" cy="841248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xAPI 국제표준 Statement + LRS
— AI 학습·기관 연동 개방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742432"/>
            <a:ext cx="2286000" cy="841248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12A21"/>
                </a:solidFill>
                <a:latin typeface="맑은 고딕"/>
                <a:ea typeface="맑은 고딕"/>
              </a:rPr>
              <a:t>알림 신뢰성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5742432"/>
            <a:ext cx="429768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서버 의존 (장애 시 침묵)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5742432"/>
            <a:ext cx="4297680" cy="841248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단말이 직접 판정·SMS 발송
서버 불통에도 알림 도달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개발 목표와 12주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2026.05.22 ~ 08.17 (12주) — Phase 게이트 기반 일정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4747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기획능력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현재 6주차 중간 점검 게이트 통과 — Phase 1 완료율 100% (전체 일정 기준 약 50%)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5440680" cy="17373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2C5F2D"/>
                </a:solidFill>
                <a:latin typeface="맑은 고딕"/>
                <a:ea typeface="맑은 고딕"/>
              </a:rPr>
              <a:t>Phase 1 · 1~6주  —  설계 및 핵심 개발   [완료]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한·일 조사, xAPI Statement 규격 확정(2주차),
HW 시제품 6대 제작·패키징, 앱·서버·대시보드 핵심 개발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331720"/>
            <a:ext cx="5440680" cy="17373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E8A013"/>
                </a:solidFill>
                <a:latin typeface="맑은 고딕"/>
                <a:ea typeface="맑은 고딕"/>
              </a:rPr>
              <a:t>Phase 2 · 7주  —  통합 검증   [진행 중]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시제품 6대로 30회+ 시나리오 스트레스 테스트,
Warning→Emergency 격상 로직 무결성 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51960"/>
            <a:ext cx="5440680" cy="17373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2F6DB5"/>
                </a:solidFill>
                <a:latin typeface="맑은 고딕"/>
                <a:ea typeface="맑은 고딕"/>
              </a:rPr>
              <a:t>Phase 2 · 8~11주  —  가족 참여 실증   [예정]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6가족 모집·1:1 단말 매칭, 사전 ZBI 설문,
4주 필드 실사용 + AI 오경보율 개선 피딩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51960"/>
            <a:ext cx="5440680" cy="173736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212A21"/>
                </a:solidFill>
                <a:latin typeface="맑은 고딕"/>
                <a:ea typeface="맑은 고딕"/>
              </a:rPr>
              <a:t>Phase 2 · 12주 →  —  정량 분석·사업화   [예정]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사후 ZBI 재시행·변화량 정량 분석, 한·일 사업화
계획서 — 이후 6개월 내 제품 출시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C5F2D"/>
                </a:solidFill>
                <a:latin typeface="맑은 고딕"/>
                <a:ea typeface="맑은 고딕"/>
              </a:rPr>
              <a:t>표준 우선 설계(2주차 xAPI 확정)로 FW·서버·AI·웹이 단일 규격에서 병렬 개발 — 일정 지연 리스크 차단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엣지 디바이스 — 무선통신 — 클라우드 — 가족용 웹이 하나의 안전망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4747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개발능력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4846320" cy="141732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</a:rPr>
              <a:t>엣지 디바이스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E9F2DC"/>
                </a:solidFill>
                <a:latin typeface="맑은 고딕"/>
                <a:ea typeface="맑은 고딕"/>
              </a:rPr>
              <a:t>ESP32-S3 + GPS(NEO-7M) + LTE-M 워치형 시제품 6대
Deep Sleep ~2mA · 1회 충전 6개월~1년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63240"/>
            <a:ext cx="4846320" cy="141732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</a:rPr>
              <a:t>검증용 안드로이드 트리플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E9F2DC"/>
                </a:solidFill>
                <a:latin typeface="맑은 고딕"/>
                <a:ea typeface="맑은 고딕"/>
              </a:rPr>
              <a:t>SFD(어르신 단말 상태머신) · SFC(보호자 앱)
SFW(Wear OS) — 알고리즘 실기기 선행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63440"/>
            <a:ext cx="4846320" cy="1417320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</a:rPr>
              <a:t>클라우드 · 관제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E9F2DC"/>
                </a:solidFill>
                <a:latin typeface="맑은 고딕"/>
                <a:ea typeface="맑은 고딕"/>
              </a:rPr>
              <a:t>Spring Boot xAPI 파서 + LRS DB + AI 위험점수
React 반응형 대시보드 (WebSocket/SSE 실시간 팝업)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73736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보호자 앱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E9F2DC"/>
                </a:solidFill>
                <a:latin typeface="맑은 고딕"/>
                <a:ea typeface="맑은 고딕"/>
              </a:rPr>
              <a:t>SFC · BLE 등록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73736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단말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E9F2DC"/>
                </a:solidFill>
                <a:latin typeface="맑은 고딕"/>
                <a:ea typeface="맑은 고딕"/>
              </a:rPr>
              <a:t>워치 · SFD/SFW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411480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서버 · LRS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E9F2DC"/>
                </a:solidFill>
                <a:latin typeface="맑은 고딕"/>
                <a:ea typeface="맑은 고딕"/>
              </a:rPr>
              <a:t>xAPI · AI 판정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114800"/>
            <a:ext cx="1828800" cy="777240"/>
          </a:xfrm>
          <a:prstGeom prst="roundRect">
            <a:avLst>
              <a:gd name="adj" fmla="val 12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웹 대시보드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맑은 고딕"/>
                <a:ea typeface="맑은 고딕"/>
              </a:rPr>
              <a:t>실시간 팝업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52760" y="2880360"/>
            <a:ext cx="1463040" cy="82296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보호자 폰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FFFFFF"/>
                </a:solidFill>
                <a:latin typeface="맑은 고딕"/>
                <a:ea typeface="맑은 고딕"/>
              </a:rPr>
              <a:t>SMS 직접 수신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09560" y="2121408"/>
            <a:ext cx="640080" cy="0"/>
          </a:xfrm>
          <a:prstGeom prst="line">
            <a:avLst/>
          </a:prstGeom>
          <a:ln w="22225">
            <a:solidFill>
              <a:srgbClr val="2F6D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09760" y="2560320"/>
            <a:ext cx="0" cy="1508760"/>
          </a:xfrm>
          <a:prstGeom prst="line">
            <a:avLst/>
          </a:prstGeom>
          <a:ln w="22225">
            <a:solidFill>
              <a:srgbClr val="2C5F2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19488" y="31089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2C5F2D"/>
                </a:solidFill>
                <a:latin typeface="맑은 고딕"/>
                <a:ea typeface="맑은 고딕"/>
              </a:rPr>
              <a:t>WiFi/LTE-M 텔레메트리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909560" y="4498848"/>
            <a:ext cx="640080" cy="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949440" y="2560320"/>
            <a:ext cx="0" cy="1508760"/>
          </a:xfrm>
          <a:prstGeom prst="line">
            <a:avLst/>
          </a:prstGeom>
          <a:ln w="22225">
            <a:solidFill>
              <a:srgbClr val="6670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69880" y="2121408"/>
            <a:ext cx="868680" cy="713232"/>
          </a:xfrm>
          <a:prstGeom prst="line">
            <a:avLst/>
          </a:prstGeom>
          <a:ln w="28575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561320" y="17830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C0392B"/>
                </a:solidFill>
                <a:latin typeface="맑은 고딕"/>
                <a:ea typeface="맑은 고딕"/>
              </a:rPr>
              <a:t>긴급 SMS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C5F2D"/>
                </a:solidFill>
                <a:latin typeface="맑은 고딕"/>
                <a:ea typeface="맑은 고딕"/>
              </a:rPr>
              <a:t>이중 알림 구조: 서버·AI 분석 경로와 별개로, 단말이 직접 보내는 SMS 경로는 서버 장애에도 살아있음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데이터 흐름도 (DFD) — 수집에서 예방까지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Raw 데이터 → xAPI Statement → AI 판정 → 사전 예방 알림의 4단계 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4747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개발능력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센서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자이로·가속도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WiFi 상태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SSID/BSSID/신호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GPS/LTE-M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좌표·정확도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212A21"/>
                </a:solidFill>
                <a:latin typeface="맑은 고딕"/>
                <a:ea typeface="맑은 고딕"/>
              </a:rPr>
              <a:t>SFC (BLE)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67066"/>
                </a:solidFill>
                <a:latin typeface="맑은 고딕"/>
                <a:ea typeface="맑은 고딕"/>
              </a:rPr>
              <a:t>설정·안전구역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743200"/>
            <a:ext cx="2743200" cy="155448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단말 텔레메트리 서비스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E9F2DC"/>
                </a:solidFill>
                <a:latin typeface="맑은 고딕"/>
                <a:ea typeface="맑은 고딕"/>
              </a:rPr>
              <a:t>안전구역 판정 · 이탈 타이머
경고/긴급 에스컬레이션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512064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667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212A21"/>
                </a:solidFill>
                <a:latin typeface="맑은 고딕"/>
                <a:ea typeface="맑은 고딕"/>
              </a:rPr>
              <a:t>로컬 저장소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667066"/>
                </a:solidFill>
                <a:latin typeface="맑은 고딕"/>
                <a:ea typeface="맑은 고딕"/>
              </a:rPr>
              <a:t>타이머·구역 상태 영속화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보호자 휴대폰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SMS 수신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10896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LRS 서버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E9F2DC"/>
                </a:solidFill>
                <a:latin typeface="맑은 고딕"/>
                <a:ea typeface="맑은 고딕"/>
              </a:rPr>
              <a:t>xAPI 변환 · AI 위험점수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310896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대시보드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실시간 팝업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572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SFC 대시보드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60초 폴링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" y="2103120"/>
            <a:ext cx="1051560" cy="91440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31720" y="3200400"/>
            <a:ext cx="914400" cy="18288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331720" y="3840480"/>
            <a:ext cx="1051560" cy="45720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331720" y="4343400"/>
            <a:ext cx="1143000" cy="1005840"/>
          </a:xfrm>
          <a:prstGeom prst="line">
            <a:avLst/>
          </a:prstGeom>
          <a:ln w="22225">
            <a:solidFill>
              <a:srgbClr val="2F6DB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48840" y="47091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50" b="0">
                <a:solidFill>
                  <a:srgbClr val="2F6DB5"/>
                </a:solidFill>
                <a:latin typeface="맑은 고딕"/>
                <a:ea typeface="맑은 고딕"/>
              </a:rPr>
              <a:t>프로비저닝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63440" y="4343400"/>
            <a:ext cx="0" cy="73152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080760" y="2148840"/>
            <a:ext cx="1188720" cy="914400"/>
          </a:xfrm>
          <a:prstGeom prst="line">
            <a:avLst/>
          </a:prstGeom>
          <a:ln w="28575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0" y="2240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C0392B"/>
                </a:solidFill>
                <a:latin typeface="맑은 고딕"/>
                <a:ea typeface="맑은 고딕"/>
              </a:rPr>
              <a:t>긴급 SMS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6080760" y="3493008"/>
            <a:ext cx="1188720" cy="27432"/>
          </a:xfrm>
          <a:prstGeom prst="line">
            <a:avLst/>
          </a:prstGeom>
          <a:ln w="25400">
            <a:solidFill>
              <a:srgbClr val="2C5F2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0" y="36118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C5F2D"/>
                </a:solidFill>
                <a:latin typeface="맑은 고딕"/>
                <a:ea typeface="맑은 고딕"/>
              </a:rPr>
              <a:t>60초 보고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64040" y="3493008"/>
            <a:ext cx="548640" cy="0"/>
          </a:xfrm>
          <a:prstGeom prst="line">
            <a:avLst/>
          </a:prstGeom>
          <a:ln w="22225">
            <a:solidFill>
              <a:srgbClr val="6670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66760" y="3931920"/>
            <a:ext cx="0" cy="594360"/>
          </a:xfrm>
          <a:prstGeom prst="line">
            <a:avLst/>
          </a:prstGeom>
          <a:ln w="22225">
            <a:solidFill>
              <a:srgbClr val="2F6DB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C5F2D"/>
                </a:solidFill>
                <a:latin typeface="맑은 고딕"/>
                <a:ea typeface="맑은 고딕"/>
              </a:rPr>
              <a:t>AI 위험점수는 지오펜스 이탈보다 약 10분 먼저 Warning 생성 — 보호자 개입 골든타임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핵심 기술과 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기술 선택마다 '왜'가 있는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4747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개발능력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440680" cy="20574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2C5F2D"/>
                </a:solidFill>
                <a:latin typeface="맑은 고딕"/>
                <a:ea typeface="맑은 고딕"/>
              </a:rPr>
              <a:t>초저전력 HW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ESP32-S3 Deep Sleep 커널 최적화 + LTE-M(Cat-M1)
대기전류 ~2mA → 1회 충전 6개월~1년.
'매일 충전' 병목을 하드웨어 수준에서 제거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440680" cy="20574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2F6DB5"/>
                </a:solidFill>
                <a:latin typeface="맑은 고딕"/>
                <a:ea typeface="맑은 고딕"/>
              </a:rPr>
              <a:t>xAPI 국제표준 · LRS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Raw 값을 '누가·무엇을·어디서' Statement로 정규화,
Spring Boot 파서 + LRS DB 적재.
제조사 종속 없는 개방형 데이터 — AI·기관 연동 기반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94760"/>
            <a:ext cx="5440680" cy="20574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E8A013"/>
                </a:solidFill>
                <a:latin typeface="맑은 고딕"/>
                <a:ea typeface="맑은 고딕"/>
              </a:rPr>
              <a:t>AI 개인화 위험점수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고정 임계값의 오탐/미탐 한계를 개인 베이스라인
학습으로 해결 — 활발형·정주형 어르신 모두 대응.
룰 기반 + 경량 ML 하이브리드로 시작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440680" cy="20574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50" b="1">
                <a:solidFill>
                  <a:srgbClr val="C0392B"/>
                </a:solidFill>
                <a:latin typeface="맑은 고딕"/>
                <a:ea typeface="맑은 고딕"/>
              </a:rPr>
              <a:t>단말 자율 상태머신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판정·에스컬레이션·SMS가 단말 내부에서 완결.
5/30분 타이머 영속화로 재시작에도 카운트 유지,
FGS 이중 폴백으로 OS 강제종료에도 생존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2C5F2D"/>
                </a:solidFill>
                <a:latin typeface="맑은 고딕"/>
                <a:ea typeface="맑은 고딕"/>
              </a:rPr>
              <a:t>데이터 수집·분류: 60초 주기 자이로 10샘플 + 위치·배터리·신호를 서버 스키마 그대로 축적 → AI 학습 데이터셋으로 직결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구현 완성도 — 동작하는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시제품 6대 조립 준비 + 안드로이드 3앱·서버·대시보드 가동 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4747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구현·유용성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18488"/>
            <a:ext cx="384048" cy="38404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0876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1">
                <a:solidFill>
                  <a:srgbClr val="212A21"/>
                </a:solidFill>
                <a:latin typeface="맑은 고딕"/>
                <a:ea typeface="맑은 고딕"/>
              </a:rPr>
              <a:t>SFD — 어르신 단말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WiFi/GPS 복합 안전구역, 5/30분 에스컬레이션,
한글 SMS(이름·구역명·지도링크), 상태 영속화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807208"/>
            <a:ext cx="384048" cy="384048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1">
                <a:solidFill>
                  <a:srgbClr val="212A21"/>
                </a:solidFill>
                <a:latin typeface="맑은 고딕"/>
                <a:ea typeface="맑은 고딕"/>
              </a:rPr>
              <a:t>SFC — 보호자 앱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BLE 프로비저닝, 안전구역 관리, 실시간 대시보드,
백그라운드 BLE 모니터 (Foreground Service)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995928"/>
            <a:ext cx="384048" cy="384048"/>
          </a:xfrm>
          <a:prstGeom prst="ellipse">
            <a:avLst/>
          </a:prstGeom>
          <a:solidFill>
            <a:srgbClr val="66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88620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1">
                <a:solidFill>
                  <a:srgbClr val="212A21"/>
                </a:solidFill>
                <a:latin typeface="맑은 고딕"/>
                <a:ea typeface="맑은 고딕"/>
              </a:rPr>
              <a:t>SFW — 워치 단말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SFD와 동일 프로토콜·판정 루프 (Wear OS 포트),
SMS 미지원 워치는 서버 경로로 자동 폴백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184648"/>
            <a:ext cx="384048" cy="384048"/>
          </a:xfrm>
          <a:prstGeom prst="ellipse">
            <a:avLst/>
          </a:prstGeom>
          <a:solidFill>
            <a:srgbClr val="21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07492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1">
                <a:solidFill>
                  <a:srgbClr val="212A21"/>
                </a:solidFill>
                <a:latin typeface="맑은 고딕"/>
                <a:ea typeface="맑은 고딕"/>
              </a:rPr>
              <a:t>서버 · 대시보드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xAPI 파서 + LRS 적재 + 이력 조회 API 가동,
React 반응형 웹 · 실시간 위험 팝업</a:t>
            </a:r>
          </a:p>
        </p:txBody>
      </p:sp>
      <p:pic>
        <p:nvPicPr>
          <p:cNvPr id="13" name="Picture 12" descr="sfc_mai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463040"/>
            <a:ext cx="3977639" cy="2548444"/>
          </a:xfrm>
          <a:prstGeom prst="rect">
            <a:avLst/>
          </a:prstGeom>
          <a:ln w="19050">
            <a:solidFill>
              <a:srgbClr val="97BC62"/>
            </a:solidFill>
          </a:ln>
        </p:spPr>
      </p:pic>
      <p:pic>
        <p:nvPicPr>
          <p:cNvPr id="14" name="Picture 13" descr="sfd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4160520"/>
            <a:ext cx="1076178" cy="2331720"/>
          </a:xfrm>
          <a:prstGeom prst="rect">
            <a:avLst/>
          </a:prstGeom>
          <a:ln w="19050">
            <a:solidFill>
              <a:srgbClr val="97BC62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7040880" y="416052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67066"/>
                </a:solidFill>
                <a:latin typeface="맑은 고딕"/>
                <a:ea typeface="맑은 고딕"/>
              </a:rPr>
              <a:t>실제 화면 — SFC 보호자
대시보드(위) · SFD 운영 모드(오른쪽)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실기기 실측 — 이탈부터 복귀까지 전 구간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2026-07-04 Galaxy S24 Ultra + 운영 서버, 실제 발송된 문자 그대로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4747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구현·유용성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188720" cy="73152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23:29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527048"/>
            <a:ext cx="9601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50" b="1">
                <a:solidFill>
                  <a:srgbClr val="212A21"/>
                </a:solidFill>
                <a:latin typeface="맑은 고딕"/>
                <a:ea typeface="맑은 고딕"/>
              </a:rPr>
              <a:t>안전구역 이탈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"[SafeFinder] 아버님이 안전 구역 집을 벗어났습니다. 현재 위치: 지도링크" + GPS 모드 전환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41448"/>
            <a:ext cx="1188720" cy="731520"/>
          </a:xfrm>
          <a:prstGeom prst="roundRect">
            <a:avLst>
              <a:gd name="adj" fmla="val 12000"/>
            </a:avLst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23:34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59736"/>
            <a:ext cx="9601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50" b="1">
                <a:solidFill>
                  <a:srgbClr val="212A21"/>
                </a:solidFill>
                <a:latin typeface="맑은 고딕"/>
                <a:ea typeface="맑은 고딕"/>
              </a:rPr>
              <a:t>주의 (+5분)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"주의: 안전 구역을 벗어난 지 5분이 넘어 관심이 필요합니다" + 서버 WARNING 이벤트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74136"/>
            <a:ext cx="1188720" cy="73152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23:59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392424"/>
            <a:ext cx="9601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50" b="1">
                <a:solidFill>
                  <a:srgbClr val="212A21"/>
                </a:solidFill>
                <a:latin typeface="맑은 고딕"/>
                <a:ea typeface="맑은 고딕"/>
              </a:rPr>
              <a:t>긴급 (+30분)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"SOS: 30분이 지났습니다. 지금 바로 위치를 확인해 주세요" + 서버 EMERGENCY, 60초 반복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06824"/>
            <a:ext cx="1188720" cy="73152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00:05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325112"/>
            <a:ext cx="9601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450" b="1">
                <a:solidFill>
                  <a:srgbClr val="212A21"/>
                </a:solidFill>
                <a:latin typeface="맑은 고딕"/>
                <a:ea typeface="맑은 고딕"/>
              </a:rPr>
              <a:t>복귀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"안전 구역 집에 들어가셨습니다" — SOS 반복 자동 중단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40680"/>
            <a:ext cx="11064240" cy="960120"/>
          </a:xfrm>
          <a:prstGeom prst="roundRect">
            <a:avLst>
              <a:gd name="adj" fmla="val 12000"/>
            </a:avLst>
          </a:prstGeom>
          <a:solidFill>
            <a:srgbClr val="E9F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2C5F2D"/>
                </a:solidFill>
                <a:latin typeface="맑은 고딕"/>
                <a:ea typeface="맑은 고딕"/>
              </a:rPr>
              <a:t>전 단계가 SMS와 서버 기록 양쪽에서 교차 검증됨 — 대시보드에서 디바이스 ID로 전체 이력 조회 가능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212A21"/>
                </a:solidFill>
                <a:latin typeface="맑은 고딕"/>
                <a:ea typeface="맑은 고딕"/>
              </a:rPr>
              <a:t>서비스 강제종료·앱 업데이트·재부팅 후에도 타이머가 이어지고 중복 알림이 없음을 확인 (에스컬레이션 상태 영속화)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실증 추진 계획 — 주관적 만족이 아닌 정량 입증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Phase 2: 통합 검증 → 6가족 필드 실증 → ZBI 정량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4747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구현·유용성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1417320" cy="96012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7주차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527048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1">
                <a:solidFill>
                  <a:srgbClr val="212A21"/>
                </a:solidFill>
                <a:latin typeface="맑은 고딕"/>
                <a:ea typeface="맑은 고딕"/>
              </a:rPr>
              <a:t>30회+ 시나리오 스트레스 테스트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시제품 6대로 디바이스→LTE-M→LRS→AI→대시보드 전 구간 업링크 검증.
Warning 미복귀 시 Emergency 격상 로직 무결성 테스트 보고서 도출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79191"/>
            <a:ext cx="1417320" cy="960120"/>
          </a:xfrm>
          <a:prstGeom prst="roundRect">
            <a:avLst>
              <a:gd name="adj" fmla="val 12000"/>
            </a:avLst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8주차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697479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1">
                <a:solidFill>
                  <a:srgbClr val="212A21"/>
                </a:solidFill>
                <a:latin typeface="맑은 고딕"/>
                <a:ea typeface="맑은 고딕"/>
              </a:rPr>
              <a:t>6가족 실증 인프라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치매 어르신 가정 6곳 모집, 1:1 단말 매칭·설치,
사전 ZBI(Zarit 부양부담) 12문항 + 사용성 설문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9624"/>
            <a:ext cx="1417320" cy="960120"/>
          </a:xfrm>
          <a:prstGeom prst="roundRect">
            <a:avLst>
              <a:gd name="adj" fmla="val 12000"/>
            </a:avLst>
          </a:prstGeom>
          <a:solidFill>
            <a:srgbClr val="E8A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9~11주차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867911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1">
                <a:solidFill>
                  <a:srgbClr val="212A21"/>
                </a:solidFill>
                <a:latin typeface="맑은 고딕"/>
                <a:ea typeface="맑은 고딕"/>
              </a:rPr>
              <a:t>4주 필드 실사용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실제 배회 경로·기습 외출·정지/이동 실데이터를 AI에 피딩,
오경보율(False Alarm) 지속 개선 — SafeZone 예측 정확도 리빌딩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20056"/>
            <a:ext cx="1417320" cy="96012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12주차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5038344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50" b="1">
                <a:solidFill>
                  <a:srgbClr val="212A21"/>
                </a:solidFill>
                <a:latin typeface="맑은 고딕"/>
                <a:ea typeface="맑은 고딕"/>
              </a:rPr>
              <a:t>사전·사후 정량 분석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667066"/>
                </a:solidFill>
                <a:latin typeface="맑은 고딕"/>
                <a:ea typeface="맑은 고딕"/>
              </a:rPr>
              <a:t>사후 ZBI 재시행 → 변화량 교차 분석으로 간병 부담 경감을 통계 입증,
한·일 사업화 계획서 + 일문/영문 가이드북 + 시연 영상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2C5F2D"/>
                </a:solidFill>
                <a:latin typeface="맑은 고딕"/>
                <a:ea typeface="맑은 고딕"/>
              </a:rPr>
              <a:t>ZBI는 1980년 개발된 국제 표준 척도 — "편해졌다"가 아니라 몇 점 줄었는지로 유용성을 증명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파급성 — 사회적 효과와 사업화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예방률 10%만으로도 사회가 체감하는 변화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4747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파급성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51760" cy="146304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C5F2D"/>
                </a:solidFill>
                <a:latin typeface="맑은 고딕"/>
                <a:ea typeface="맑은 고딕"/>
              </a:rPr>
              <a:t>연 3,300건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12A21"/>
                </a:solidFill>
                <a:latin typeface="맑은 고딕"/>
                <a:ea typeface="맑은 고딕"/>
              </a:rPr>
              <a:t>10% 사전 예방 시
한·일 실종 사고 차단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463040"/>
            <a:ext cx="2651760" cy="146304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C5F2D"/>
                </a:solidFill>
                <a:latin typeface="맑은 고딕"/>
                <a:ea typeface="맑은 고딕"/>
              </a:rPr>
              <a:t>6,700건+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12A21"/>
                </a:solidFill>
                <a:latin typeface="맑은 고딕"/>
                <a:ea typeface="맑은 고딕"/>
              </a:rPr>
              <a:t>20% 보급 확대 시
연간 차단 규모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463040"/>
            <a:ext cx="2651760" cy="146304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2F6DB5"/>
                </a:solidFill>
                <a:latin typeface="맑은 고딕"/>
                <a:ea typeface="맑은 고딕"/>
              </a:rPr>
              <a:t>6.16조 엔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12A21"/>
                </a:solidFill>
                <a:latin typeface="맑은 고딕"/>
                <a:ea typeface="맑은 고딕"/>
              </a:rPr>
              <a:t>일본 비공식 돌봄비용
경감 대상 시장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07424" y="1463040"/>
            <a:ext cx="2651760" cy="146304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E8A013"/>
                </a:solidFill>
                <a:latin typeface="맑은 고딕"/>
                <a:ea typeface="맑은 고딕"/>
              </a:rPr>
              <a:t>7배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12A21"/>
                </a:solidFill>
                <a:latin typeface="맑은 고딕"/>
                <a:ea typeface="맑은 고딕"/>
              </a:rPr>
              <a:t>5년새 폭증한 실종
안전문자 행정 피로 경감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5486400" cy="27432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C5F2D"/>
                </a:solidFill>
                <a:latin typeface="맑은 고딕"/>
                <a:ea typeface="맑은 고딕"/>
              </a:rPr>
              <a:t>사업화 전략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• 12주 종료 후 6개월 내 제품 출시 목표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• ZBI 정량 데이터 → 제5차 치매관리종합계획(2026~2030)
  정책 정합 — B2G·지자체 돌봄사업 진입 근거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• 초고령화 선행 시장 일본 우선 진출 (일문 가이드북 준비)
  → 독일·중국·대만 실버 헬스케어로 확장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91840"/>
            <a:ext cx="5486400" cy="274320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F6DB5"/>
                </a:solidFill>
                <a:latin typeface="맑은 고딕"/>
                <a:ea typeface="맑은 고딕"/>
              </a:rPr>
              <a:t>산업 파급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• xAPI 개방형 표준 채택 — 이종 스마트홈 센서·기관 시스템과
  연동되는 개방형 돌봄 데이터 모델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• 경찰·소방 수색 비용 절감, 다중 가족 공유로 돌봄 노동 분산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212A21"/>
                </a:solidFill>
                <a:latin typeface="맑은 고딕"/>
                <a:ea typeface="맑은 고딕"/>
              </a:rPr>
              <a:t>• 저전력 워치 + 관제 플랫폼은 아동·정신장애인 등
  인접 안전 취약계층으로 수평 확장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5097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900" b="1">
                <a:solidFill>
                  <a:srgbClr val="212A21"/>
                </a:solidFill>
                <a:latin typeface="맑은 고딕"/>
                <a:ea typeface="맑은 고딕"/>
              </a:rPr>
              <a:t>팀 안심동행 — 역할 분담과 협업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667066"/>
                </a:solidFill>
                <a:latin typeface="맑은 고딕"/>
                <a:ea typeface="맑은 고딕"/>
              </a:rPr>
              <a:t>4인의 전문 영역이 파이프라인 단계별로 맞물리는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4747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팀웍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178308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50" b="1">
                <a:solidFill>
                  <a:srgbClr val="2C5F2D"/>
                </a:solidFill>
                <a:latin typeface="맑은 고딕"/>
                <a:ea typeface="맑은 고딕"/>
              </a:rPr>
              <a:t>방효식 (팀장)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>
                <a:solidFill>
                  <a:srgbClr val="667066"/>
                </a:solidFill>
                <a:latin typeface="맑은 고딕"/>
                <a:ea typeface="맑은 고딕"/>
              </a:rPr>
              <a:t>삼성전자 Principal Engineer · 24년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FW·시스템 아키텍처 총괄
Deep Sleep 제어 · 알람 로직 · 단말 상태머신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440680" cy="178308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50" b="1">
                <a:solidFill>
                  <a:srgbClr val="2F6DB5"/>
                </a:solidFill>
                <a:latin typeface="맑은 고딕"/>
                <a:ea typeface="맑은 고딕"/>
              </a:rPr>
              <a:t>이동엽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>
                <a:solidFill>
                  <a:srgbClr val="667066"/>
                </a:solidFill>
                <a:latin typeface="맑은 고딕"/>
                <a:ea typeface="맑은 고딕"/>
              </a:rPr>
              <a:t>풀스택 7년 · 일본시장 경험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서버·웹·기획
xAPI/LRS 백엔드 · React 대시보드 · ZBI 모듈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29000"/>
            <a:ext cx="5440680" cy="178308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50" b="1">
                <a:solidFill>
                  <a:srgbClr val="E8A013"/>
                </a:solidFill>
                <a:latin typeface="맑은 고딕"/>
                <a:ea typeface="맑은 고딕"/>
              </a:rPr>
              <a:t>정영호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>
                <a:solidFill>
                  <a:srgbClr val="667066"/>
                </a:solidFill>
                <a:latin typeface="맑은 고딕"/>
                <a:ea typeface="맑은 고딕"/>
              </a:rPr>
              <a:t>삼성 시스템 개발 30년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디바이스 아키텍처·DB·FW
회로 배선 · LRS 스키마 · 단말-서버 정합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429000"/>
            <a:ext cx="5440680" cy="1783080"/>
          </a:xfrm>
          <a:prstGeom prst="roundRect">
            <a:avLst>
              <a:gd name="adj" fmla="val 12000"/>
            </a:avLst>
          </a:prstGeom>
          <a:solidFill>
            <a:srgbClr val="F7FAF2"/>
          </a:solidFill>
          <a:ln w="12700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50" b="1">
                <a:solidFill>
                  <a:srgbClr val="C0392B"/>
                </a:solidFill>
                <a:latin typeface="맑은 고딕"/>
                <a:ea typeface="맑은 고딕"/>
              </a:rPr>
              <a:t>이광열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>
                <a:solidFill>
                  <a:srgbClr val="667066"/>
                </a:solidFill>
                <a:latin typeface="맑은 고딕"/>
                <a:ea typeface="맑은 고딕"/>
              </a:rPr>
              <a:t>삼성전자 Principal Engineer · 32년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HW·PCB·기구 설계
회로도 · 저전력 부품 매핑 · 워치 패키징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2C5F2D"/>
                </a:solidFill>
                <a:latin typeface="맑은 고딕"/>
                <a:ea typeface="맑은 고딕"/>
              </a:rPr>
              <a:t>협업 방식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12A21"/>
                </a:solidFill>
                <a:latin typeface="맑은 고딕"/>
                <a:ea typeface="맑은 고딕"/>
              </a:rPr>
              <a:t>2주차에 xAPI 규격을 먼저 확정해 FW·서버·웹이 병렬 개발 (표준 우선 설계)  ·  주차별 WBS로 담당자-업무 매칭·진척 트래킹  ·  6주차 중간 게이트를 전원 참여 통합 점검으로 통과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사후 수색이 아닌, 사전 차단.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9F2DC"/>
                </a:solidFill>
                <a:latin typeface="맑은 고딕"/>
                <a:ea typeface="맑은 고딕"/>
              </a:rPr>
              <a:t>충전 부담 없는 워치, 국제표준 데이터, 개인화 AI, 그리고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E9F2DC"/>
                </a:solidFill>
                <a:latin typeface="맑은 고딕"/>
                <a:ea typeface="맑은 고딕"/>
              </a:rPr>
              <a:t>서버가 죽어도 보호자에게 반드시 도달하는 알림.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6634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7BC62"/>
                </a:solidFill>
                <a:latin typeface="맑은 고딕"/>
                <a:ea typeface="맑은 고딕"/>
              </a:rPr>
              <a:t>어르신이 안전구역을 벗어난 순간부터 — 보호자가 알고, 찾고, 도착할 때까지.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B39A"/>
                </a:solidFill>
                <a:latin typeface="맑은 고딕"/>
                <a:ea typeface="맑은 고딕"/>
              </a:rPr>
              <a:t>팀 안심동행  ·  감사합니다  ·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