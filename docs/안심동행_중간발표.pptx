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57" r:id="rId3"/>
    <p:sldId id="258" r:id="rId4"/>
    <p:sldId id="259" r:id="rId5"/>
    <p:sldId id="260" r:id="rId6"/>
    <p:sldId id="279" r:id="rId7"/>
    <p:sldId id="261" r:id="rId8"/>
    <p:sldId id="262" r:id="rId9"/>
    <p:sldId id="283" r:id="rId10"/>
    <p:sldId id="263" r:id="rId11"/>
    <p:sldId id="264" r:id="rId12"/>
    <p:sldId id="265" r:id="rId13"/>
    <p:sldId id="278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76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slide" Target="slide2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slide" Target="slide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5D7FE4-CB7E-EAF7-5FDA-13C32F443666}"/>
              </a:ext>
            </a:extLst>
          </p:cNvPr>
          <p:cNvSpPr txBox="1"/>
          <p:nvPr/>
        </p:nvSpPr>
        <p:spPr>
          <a:xfrm>
            <a:off x="731520" y="2423160"/>
            <a:ext cx="10698480" cy="8356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200" b="1" dirty="0" err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SafeFinder</a:t>
            </a:r>
            <a:endParaRPr sz="5200" b="1" dirty="0">
              <a:solidFill>
                <a:schemeClr val="accent3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BFF26-B22D-5240-BE6A-5101A9D4C217}"/>
              </a:ext>
            </a:extLst>
          </p:cNvPr>
          <p:cNvSpPr txBox="1"/>
          <p:nvPr/>
        </p:nvSpPr>
        <p:spPr>
          <a:xfrm>
            <a:off x="749808" y="3364992"/>
            <a:ext cx="10698480" cy="3213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xAPI 국제표준 기반 행동 예측형 치매 돌봄·가족지원 통합 솔루션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9E8DB-7FB7-8442-5C0B-9A9BD543C05A}"/>
              </a:ext>
            </a:extLst>
          </p:cNvPr>
          <p:cNvSpPr txBox="1"/>
          <p:nvPr/>
        </p:nvSpPr>
        <p:spPr>
          <a:xfrm>
            <a:off x="749808" y="3977639"/>
            <a:ext cx="10698480" cy="2410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"사후 수색이 아닌, 사전 차단"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76337-2D35-3C88-1A75-635CC02F66C9}"/>
              </a:ext>
            </a:extLst>
          </p:cNvPr>
          <p:cNvSpPr txBox="1"/>
          <p:nvPr/>
        </p:nvSpPr>
        <p:spPr>
          <a:xfrm>
            <a:off x="749808" y="5120640"/>
            <a:ext cx="10698480" cy="5352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팀 </a:t>
            </a:r>
            <a:r>
              <a:rPr sz="1500" b="1" dirty="0" err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안심동행</a:t>
            </a:r>
            <a:r>
              <a:rPr sz="1500" b="1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  |  방효식 · </a:t>
            </a:r>
            <a:r>
              <a:rPr sz="1500" b="1" dirty="0" err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이동엽</a:t>
            </a:r>
            <a:r>
              <a:rPr sz="1500" b="1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 · </a:t>
            </a:r>
            <a:r>
              <a:rPr sz="1500" b="1" dirty="0" err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정영호</a:t>
            </a:r>
            <a:r>
              <a:rPr sz="1500" b="1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 · </a:t>
            </a:r>
            <a:r>
              <a:rPr sz="1500" b="1" dirty="0" err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이광열</a:t>
            </a:r>
            <a:endParaRPr sz="1500" b="1" dirty="0">
              <a:solidFill>
                <a:schemeClr val="accent3">
                  <a:lumMod val="50000"/>
                </a:schemeClr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2026. 07</a:t>
            </a:r>
            <a:r>
              <a:rPr lang="en-US" sz="1200" b="0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.</a:t>
            </a:r>
            <a:r>
              <a:rPr sz="1200" b="0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lang="en-US" sz="1200" b="0" dirty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07</a:t>
            </a:r>
            <a:endParaRPr sz="1200" b="0" dirty="0">
              <a:solidFill>
                <a:schemeClr val="accent3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F00465-5A3C-29F9-5D25-C5D03A0EC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933" y="2004788"/>
            <a:ext cx="1706046" cy="20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57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문제 — 매년 3.3만 건의 실종 위험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보건복지부 법정 통계 · 한일 양국 조사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1">
                <a:solidFill>
                  <a:srgbClr val="2C5F2D"/>
                </a:solidFill>
                <a:latin typeface="맑은 고딕"/>
                <a:ea typeface="맑은 고딕"/>
              </a:rPr>
              <a:t>100만 명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2026년 국내 치매 환자
(유병률 9.25%)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  <a:ea typeface="맑은 고딕"/>
              </a:rPr>
              <a:t>15,502건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2024년 한국 치매 실종
= 전체 실종의 31%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  <a:ea typeface="맑은 고딕"/>
              </a:rPr>
              <a:t>80%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사망사고, 마지막 확인 장소
5km 이내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2C5F2D"/>
                </a:solidFill>
                <a:latin typeface="맑은 고딕"/>
                <a:ea typeface="맑은 고딕"/>
              </a:rPr>
              <a:t>기존 제품이 실패하는 이유, 단 두 가지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맑은 고딕"/>
                <a:ea typeface="맑은 고딕"/>
              </a:rPr>
              <a:t>① 매일 충전 → 착용 포기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434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맑은 고딕"/>
                <a:ea typeface="맑은 고딕"/>
              </a:rPr>
              <a:t>② 이탈 '후' 알림 → 골든타임 유실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C5F2D"/>
                </a:solidFill>
                <a:latin typeface="맑은 고딕"/>
                <a:ea typeface="맑은 고딕"/>
              </a:rPr>
              <a:t>→ 본질은 "이탈을 미리 알고, 반드시 보호자에게 도달하는 알림"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2C5F2D"/>
                </a:solidFill>
                <a:latin typeface="맑은 고딕"/>
                <a:ea typeface="맑은 고딕"/>
              </a:rPr>
              <a:t>상세</a:t>
            </a:r>
            <a:r>
              <a:rPr sz="1100" b="1" dirty="0">
                <a:solidFill>
                  <a:srgbClr val="2C5F2D"/>
                </a:solidFill>
                <a:latin typeface="맑은 고딕"/>
                <a:ea typeface="맑은 고딕"/>
              </a:rPr>
              <a:t> ▸ A1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해법 — 네 가지를 동시에 바꿨다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기존 배회감지기·워치와의 구조적 차별화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2C5F2D"/>
                </a:solidFill>
                <a:latin typeface="맑은 고딕"/>
                <a:ea typeface="맑은 고딕"/>
              </a:rPr>
              <a:t>사전 2단계 알림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Warning(5분) → Emergency(30분)
+ 즉시 SMS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2F6DB5"/>
                </a:solidFill>
                <a:latin typeface="맑은 고딕"/>
                <a:ea typeface="맑은 고딕"/>
              </a:rPr>
              <a:t>무충전 6개월~1년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ESP32 Deep Sleep ~2mA
+ LTE-M 저전력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 dirty="0" err="1">
                <a:solidFill>
                  <a:srgbClr val="E8A013"/>
                </a:solidFill>
                <a:latin typeface="맑은 고딕"/>
                <a:ea typeface="맑은 고딕"/>
              </a:rPr>
              <a:t>복합</a:t>
            </a:r>
            <a:r>
              <a:rPr sz="1900" b="1" dirty="0">
                <a:solidFill>
                  <a:srgbClr val="E8A013"/>
                </a:solidFill>
                <a:latin typeface="맑은 고딕"/>
                <a:ea typeface="맑은 고딕"/>
              </a:rPr>
              <a:t> </a:t>
            </a:r>
            <a:r>
              <a:rPr sz="1900" b="1" dirty="0" err="1">
                <a:solidFill>
                  <a:srgbClr val="E8A013"/>
                </a:solidFill>
                <a:latin typeface="맑은 고딕"/>
                <a:ea typeface="맑은 고딕"/>
              </a:rPr>
              <a:t>SafeZone</a:t>
            </a:r>
            <a:endParaRPr sz="1900" b="1" dirty="0">
              <a:solidFill>
                <a:srgbClr val="E8A013"/>
              </a:solidFill>
              <a:latin typeface="맑은 고딕"/>
              <a:ea typeface="맑은 고딕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WiFi·GPS·BLE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+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동선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반영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
다</a:t>
            </a:r>
            <a:r>
              <a:rPr lang="ko-KR" altLang="en-US" sz="1350" b="0" dirty="0">
                <a:solidFill>
                  <a:srgbClr val="212A21"/>
                </a:solidFill>
                <a:latin typeface="맑은 고딕"/>
                <a:ea typeface="맑은 고딕"/>
              </a:rPr>
              <a:t>양한</a:t>
            </a:r>
            <a:r>
              <a:rPr sz="13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0" dirty="0" err="1">
                <a:solidFill>
                  <a:srgbClr val="212A21"/>
                </a:solidFill>
                <a:latin typeface="맑은 고딕"/>
                <a:ea typeface="맑은 고딕"/>
              </a:rPr>
              <a:t>안전구역</a:t>
            </a:r>
            <a:endParaRPr sz="135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44068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C0392B"/>
                </a:solidFill>
                <a:latin typeface="맑은 고딕"/>
                <a:ea typeface="맑은 고딕"/>
              </a:rPr>
              <a:t>서버 없이도 알림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단말이 직접 판정·SMS 발송
— 장애에도 도달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2C5F2D"/>
                </a:solidFill>
                <a:latin typeface="맑은 고딕"/>
                <a:ea typeface="맑은 고딕"/>
              </a:rPr>
              <a:t>+ 데이터는 xAPI 국제표준 — 제조사 종속 없는 개방형 돌봄 데이터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비교표 ▸ A2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12주 로드맵 — 6주차 게이트 통과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2026.05.22 ~ 08.17 · Phase 게이트 기반 일정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643435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dirty="0">
                <a:solidFill>
                  <a:srgbClr val="FFFFFF"/>
                </a:solidFill>
                <a:latin typeface="맑은 고딕"/>
                <a:ea typeface="맑은 고딕"/>
              </a:rPr>
              <a:t>Phase 1 </a:t>
            </a:r>
            <a:r>
              <a:rPr sz="1600" b="1" dirty="0" err="1">
                <a:solidFill>
                  <a:srgbClr val="FFFFFF"/>
                </a:solidFill>
                <a:latin typeface="맑은 고딕"/>
                <a:ea typeface="맑은 고딕"/>
              </a:rPr>
              <a:t>완료율</a:t>
            </a:r>
            <a:r>
              <a:rPr sz="1600" b="1" dirty="0">
                <a:solidFill>
                  <a:srgbClr val="FFFFFF"/>
                </a:solidFill>
                <a:latin typeface="맑은 고딕"/>
                <a:ea typeface="맑은 고딕"/>
              </a:rPr>
              <a:t> 100% — </a:t>
            </a:r>
            <a:r>
              <a:rPr sz="1600" b="1" dirty="0" err="1">
                <a:solidFill>
                  <a:srgbClr val="FFFFFF"/>
                </a:solidFill>
                <a:latin typeface="맑은 고딕"/>
                <a:ea typeface="맑은 고딕"/>
              </a:rPr>
              <a:t>시제품</a:t>
            </a:r>
            <a:r>
              <a:rPr sz="1600" b="1" dirty="0">
                <a:solidFill>
                  <a:srgbClr val="FFFFFF"/>
                </a:solidFill>
                <a:latin typeface="맑은 고딕"/>
                <a:ea typeface="맑은 고딕"/>
              </a:rPr>
              <a:t> · 앱 · </a:t>
            </a:r>
            <a:r>
              <a:rPr sz="1600" b="1" dirty="0" err="1">
                <a:solidFill>
                  <a:srgbClr val="FFFFFF"/>
                </a:solidFill>
                <a:latin typeface="맑은 고딕"/>
                <a:ea typeface="맑은 고딕"/>
              </a:rPr>
              <a:t>서버</a:t>
            </a:r>
            <a:r>
              <a:rPr sz="1600" b="1" dirty="0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sz="1600" b="1" dirty="0" err="1">
                <a:solidFill>
                  <a:srgbClr val="FFFFFF"/>
                </a:solidFill>
                <a:latin typeface="맑은 고딕"/>
                <a:ea typeface="맑은 고딕"/>
              </a:rPr>
              <a:t>대시보드</a:t>
            </a:r>
            <a:r>
              <a:rPr sz="16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맑은 고딕"/>
                <a:ea typeface="맑은 고딕"/>
              </a:rPr>
              <a:t>핵심</a:t>
            </a:r>
            <a:r>
              <a:rPr sz="16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  <a:r>
              <a:rPr sz="16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맑은 고딕"/>
                <a:ea typeface="맑은 고딕"/>
              </a:rPr>
              <a:t>완료</a:t>
            </a:r>
            <a:endParaRPr sz="16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31520" y="3108960"/>
            <a:ext cx="10881360" cy="0"/>
          </a:xfrm>
          <a:prstGeom prst="line">
            <a:avLst/>
          </a:prstGeom>
          <a:ln w="2857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43584" y="2980944"/>
            <a:ext cx="256032" cy="256032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1~6주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3375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212A21"/>
                </a:solidFill>
                <a:latin typeface="맑은 고딕"/>
                <a:ea typeface="맑은 고딕"/>
              </a:rPr>
              <a:t>설계·핵심 개발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[완료]</a:t>
            </a:r>
          </a:p>
        </p:txBody>
      </p:sp>
      <p:sp>
        <p:nvSpPr>
          <p:cNvPr id="10" name="Oval 9"/>
          <p:cNvSpPr/>
          <p:nvPr/>
        </p:nvSpPr>
        <p:spPr>
          <a:xfrm>
            <a:off x="4078224" y="2980944"/>
            <a:ext cx="256032" cy="256032"/>
          </a:xfrm>
          <a:prstGeom prst="ellipse">
            <a:avLst/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59" y="2240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8A013"/>
                </a:solidFill>
                <a:latin typeface="맑은 고딕"/>
                <a:ea typeface="맑은 고딕"/>
              </a:rPr>
              <a:t>7주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59" y="33375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212A21"/>
                </a:solidFill>
                <a:latin typeface="맑은 고딕"/>
                <a:ea typeface="맑은 고딕"/>
              </a:rPr>
              <a:t>통합 검증 30회+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[진행 중]</a:t>
            </a:r>
          </a:p>
        </p:txBody>
      </p:sp>
      <p:sp>
        <p:nvSpPr>
          <p:cNvPr id="13" name="Oval 12"/>
          <p:cNvSpPr/>
          <p:nvPr/>
        </p:nvSpPr>
        <p:spPr>
          <a:xfrm>
            <a:off x="6912864" y="2980944"/>
            <a:ext cx="256032" cy="25603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F6DB5"/>
                </a:solidFill>
                <a:latin typeface="맑은 고딕"/>
                <a:ea typeface="맑은 고딕"/>
              </a:rPr>
              <a:t>8~11주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37560"/>
            <a:ext cx="2286000" cy="4285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50" b="1" dirty="0">
                <a:solidFill>
                  <a:srgbClr val="212A21"/>
                </a:solidFill>
                <a:latin typeface="맑은 고딕"/>
                <a:ea typeface="맑은 고딕"/>
              </a:rPr>
              <a:t>6가족 </a:t>
            </a:r>
            <a:r>
              <a:rPr sz="1350" b="1" dirty="0" err="1">
                <a:solidFill>
                  <a:srgbClr val="212A21"/>
                </a:solidFill>
                <a:latin typeface="맑은 고딕"/>
                <a:ea typeface="맑은 고딕"/>
              </a:rPr>
              <a:t>필드</a:t>
            </a:r>
            <a:r>
              <a:rPr sz="13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212A21"/>
                </a:solidFill>
                <a:latin typeface="맑은 고딕"/>
                <a:ea typeface="맑은 고딕"/>
              </a:rPr>
              <a:t>실증</a:t>
            </a:r>
            <a:endParaRPr sz="135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dirty="0">
                <a:solidFill>
                  <a:srgbClr val="667066"/>
                </a:solidFill>
                <a:latin typeface="맑은 고딕"/>
                <a:ea typeface="맑은 고딕"/>
              </a:rPr>
              <a:t>[</a:t>
            </a:r>
            <a:r>
              <a:rPr lang="ko-KR" altLang="en-US" sz="1100" b="0" dirty="0">
                <a:solidFill>
                  <a:srgbClr val="667066"/>
                </a:solidFill>
                <a:latin typeface="맑은 고딕"/>
                <a:ea typeface="맑은 고딕"/>
              </a:rPr>
              <a:t>한일 동시</a:t>
            </a:r>
            <a:r>
              <a:rPr sz="1100" b="0" dirty="0" err="1">
                <a:solidFill>
                  <a:srgbClr val="667066"/>
                </a:solidFill>
                <a:latin typeface="맑은 고딕"/>
                <a:ea typeface="맑은 고딕"/>
              </a:rPr>
              <a:t>예정</a:t>
            </a:r>
            <a:r>
              <a:rPr sz="1100" b="0" dirty="0">
                <a:solidFill>
                  <a:srgbClr val="667066"/>
                </a:solidFill>
                <a:latin typeface="맑은 고딕"/>
                <a:ea typeface="맑은 고딕"/>
              </a:rPr>
              <a:t>]</a:t>
            </a:r>
          </a:p>
        </p:txBody>
      </p:sp>
      <p:sp>
        <p:nvSpPr>
          <p:cNvPr id="16" name="Oval 15"/>
          <p:cNvSpPr/>
          <p:nvPr/>
        </p:nvSpPr>
        <p:spPr>
          <a:xfrm>
            <a:off x="9747504" y="2980944"/>
            <a:ext cx="256032" cy="256032"/>
          </a:xfrm>
          <a:prstGeom prst="ellipse">
            <a:avLst/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22402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12A21"/>
                </a:solidFill>
                <a:latin typeface="맑은 고딕"/>
                <a:ea typeface="맑은 고딕"/>
              </a:rPr>
              <a:t>12주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338866"/>
            <a:ext cx="2286000" cy="216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lang="en-US" altLang="ko-KR" sz="1350" b="1" dirty="0">
                <a:solidFill>
                  <a:srgbClr val="212A21"/>
                </a:solidFill>
                <a:latin typeface="맑은 고딕"/>
                <a:ea typeface="맑은 고딕"/>
              </a:rPr>
              <a:t>CSI.AI</a:t>
            </a:r>
            <a:r>
              <a:rPr lang="ko-KR" altLang="en-US" sz="1350" b="1" dirty="0">
                <a:solidFill>
                  <a:srgbClr val="212A21"/>
                </a:solidFill>
                <a:latin typeface="맑은 고딕"/>
                <a:ea typeface="맑은 고딕"/>
              </a:rPr>
              <a:t> 정확도 검증</a:t>
            </a:r>
            <a:endParaRPr sz="1350" b="1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일정을</a:t>
            </a: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지키는</a:t>
            </a: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장치</a:t>
            </a:r>
            <a:endParaRPr sz="1500" b="1" dirty="0">
              <a:solidFill>
                <a:srgbClr val="2C5F2D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2주차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xAPI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규격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선확정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→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FW·서버·AI·웹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병렬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개발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 · 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주차별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WBS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담당자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매칭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 ·  12주 후 6개월 내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출시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목표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20" name="Rounded Rectangle 19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주차별 상세 ▸ A3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ACAE56-42C3-8CBC-6765-24B044D2900A}"/>
              </a:ext>
            </a:extLst>
          </p:cNvPr>
          <p:cNvSpPr txBox="1"/>
          <p:nvPr/>
        </p:nvSpPr>
        <p:spPr>
          <a:xfrm>
            <a:off x="4605783" y="5753266"/>
            <a:ext cx="26756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gg sans"/>
              </a:rPr>
              <a:t>*  CSI(Caregiver Strain Index, </a:t>
            </a:r>
            <a:r>
              <a:rPr lang="en-US" sz="1000" b="0" i="0" dirty="0" err="1">
                <a:effectLst/>
                <a:latin typeface="gg sans"/>
              </a:rPr>
              <a:t>부양부담지표</a:t>
            </a:r>
            <a:r>
              <a:rPr lang="en-US" sz="1000" dirty="0">
                <a:latin typeface="gg sans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시스템 아키텍처 — 이중 알림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워치(ESP32·LTE-M) — 클라우드(xAPI·LRS·AI) — 가족용 웹 + 검증용 안드로이드 트리플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3806" y="20116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보호자 앱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SFC · BLE 등록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2766" y="20116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단말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워치 · SFD/SFW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2766" y="45720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서버 · LRS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xAPI 변환 · AI 판정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06" y="45720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웹 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실시간 팝업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0771" y="4407214"/>
            <a:ext cx="2194560" cy="10058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</a:rPr>
              <a:t>보호자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</a:rPr>
              <a:t> 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dirty="0">
                <a:solidFill>
                  <a:srgbClr val="FFFFFF"/>
                </a:solidFill>
                <a:latin typeface="맑은 고딕"/>
                <a:ea typeface="맑은 고딕"/>
              </a:rPr>
              <a:t>SMS </a:t>
            </a:r>
            <a:r>
              <a:rPr sz="1100" b="0" dirty="0" err="1">
                <a:solidFill>
                  <a:srgbClr val="FFFFFF"/>
                </a:solidFill>
                <a:latin typeface="맑은 고딕"/>
                <a:ea typeface="맑은 고딕"/>
              </a:rPr>
              <a:t>직접</a:t>
            </a:r>
            <a:r>
              <a:rPr sz="1100" b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FFFFFF"/>
                </a:solidFill>
                <a:latin typeface="맑은 고딕"/>
                <a:ea typeface="맑은 고딕"/>
              </a:rPr>
              <a:t>수신</a:t>
            </a:r>
            <a:endParaRPr sz="1100" b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064086" y="2468880"/>
            <a:ext cx="822960" cy="0"/>
          </a:xfrm>
          <a:prstGeom prst="line">
            <a:avLst/>
          </a:prstGeom>
          <a:ln w="25400">
            <a:solidFill>
              <a:srgbClr val="2F6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30046" y="2971800"/>
            <a:ext cx="0" cy="1554480"/>
          </a:xfrm>
          <a:prstGeom prst="line">
            <a:avLst/>
          </a:prstGeom>
          <a:ln w="25400">
            <a:solidFill>
              <a:srgbClr val="2C5F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67206" y="3566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2C5F2D"/>
                </a:solidFill>
                <a:latin typeface="맑은 고딕"/>
                <a:ea typeface="맑은 고딕"/>
              </a:rPr>
              <a:t>WiFi/LTE-M 텔레메트리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064086" y="5029200"/>
            <a:ext cx="822960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21086" y="2971800"/>
            <a:ext cx="0" cy="1554480"/>
          </a:xfrm>
          <a:prstGeom prst="line">
            <a:avLst/>
          </a:prstGeom>
          <a:ln w="25400">
            <a:solidFill>
              <a:srgbClr val="6670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>
          <a:xfrm>
            <a:off x="6392380" y="2774205"/>
            <a:ext cx="1079244" cy="1314555"/>
          </a:xfrm>
          <a:prstGeom prst="line">
            <a:avLst/>
          </a:prstGeom>
          <a:ln w="3492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4486" y="2084831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C0392B"/>
                </a:solidFill>
                <a:latin typeface="맑은 고딕"/>
                <a:ea typeface="맑은 고딕"/>
              </a:rPr>
              <a:t>긴급 SMS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2C5F2D"/>
                </a:solidFill>
                <a:latin typeface="맑은 고딕"/>
                <a:ea typeface="맑은 고딕"/>
              </a:rPr>
              <a:t>핵심: 서버·AI 분석 경로가 죽어도, 단말이 직접 쏘는 SMS는 보호자에게 도달</a:t>
            </a:r>
          </a:p>
        </p:txBody>
      </p:sp>
      <p:sp>
        <p:nvSpPr>
          <p:cNvPr id="18" name="Rounded Rectangle 17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기술 상세 ▸ A4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5EC1D-3BCC-BF7B-96F1-406D82585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549" y="723943"/>
            <a:ext cx="2459301" cy="1992000"/>
          </a:xfrm>
          <a:prstGeom prst="rect">
            <a:avLst/>
          </a:prstGeom>
        </p:spPr>
      </p:pic>
      <p:cxnSp>
        <p:nvCxnSpPr>
          <p:cNvPr id="27" name="Connector 14">
            <a:extLst>
              <a:ext uri="{FF2B5EF4-FFF2-40B4-BE49-F238E27FC236}">
                <a16:creationId xmlns:a16="http://schemas.microsoft.com/office/drawing/2014/main" id="{FAC2A50B-B4CA-F0D8-0EA0-58777B95661E}"/>
              </a:ext>
            </a:extLst>
          </p:cNvPr>
          <p:cNvCxnSpPr>
            <a:cxnSpLocks/>
          </p:cNvCxnSpPr>
          <p:nvPr/>
        </p:nvCxnSpPr>
        <p:spPr>
          <a:xfrm flipV="1">
            <a:off x="7579734" y="2422658"/>
            <a:ext cx="1376634" cy="28128"/>
          </a:xfrm>
          <a:prstGeom prst="line">
            <a:avLst/>
          </a:prstGeom>
          <a:ln w="3492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14">
            <a:extLst>
              <a:ext uri="{FF2B5EF4-FFF2-40B4-BE49-F238E27FC236}">
                <a16:creationId xmlns:a16="http://schemas.microsoft.com/office/drawing/2014/main" id="{F0A9C8F5-97B2-56F9-60AC-A888FB925EE1}"/>
              </a:ext>
            </a:extLst>
          </p:cNvPr>
          <p:cNvCxnSpPr>
            <a:cxnSpLocks/>
          </p:cNvCxnSpPr>
          <p:nvPr/>
        </p:nvCxnSpPr>
        <p:spPr>
          <a:xfrm flipV="1">
            <a:off x="8767123" y="2834683"/>
            <a:ext cx="1108397" cy="1254077"/>
          </a:xfrm>
          <a:prstGeom prst="line">
            <a:avLst/>
          </a:prstGeom>
          <a:ln w="3492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icon_tab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572768"/>
            <a:ext cx="566928" cy="566928"/>
          </a:xfrm>
          <a:prstGeom prst="rect">
            <a:avLst/>
          </a:prstGeom>
        </p:spPr>
      </p:pic>
      <p:pic>
        <p:nvPicPr>
          <p:cNvPr id="31" name="Picture 30" descr="icon_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536192"/>
            <a:ext cx="566928" cy="566928"/>
          </a:xfrm>
          <a:prstGeom prst="rect">
            <a:avLst/>
          </a:prstGeom>
        </p:spPr>
      </p:pic>
      <p:pic>
        <p:nvPicPr>
          <p:cNvPr id="32" name="Picture 31" descr="icon_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133087"/>
            <a:ext cx="566928" cy="566928"/>
          </a:xfrm>
          <a:prstGeom prst="rect">
            <a:avLst/>
          </a:prstGeom>
        </p:spPr>
      </p:pic>
      <p:pic>
        <p:nvPicPr>
          <p:cNvPr id="33" name="Picture 32" descr="icon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" y="4114800"/>
            <a:ext cx="566928" cy="566928"/>
          </a:xfrm>
          <a:prstGeom prst="rect">
            <a:avLst/>
          </a:prstGeom>
        </p:spPr>
      </p:pic>
      <p:pic>
        <p:nvPicPr>
          <p:cNvPr id="34" name="Picture 33" descr="icon_phone_sm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4112" y="4041648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데이터가 사고를 막는 순간까지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데이터 수집 → xAPI 변환 → AI 정제·판정 → 사고 예방</a:t>
            </a:r>
          </a:p>
        </p:txBody>
      </p:sp>
      <p:pic>
        <p:nvPicPr>
          <p:cNvPr id="5" name="Picture 4" descr="icon_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0876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260604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2C5F2D"/>
                </a:solidFill>
                <a:latin typeface="맑은 고딕"/>
                <a:ea typeface="맑은 고딕"/>
              </a:rPr>
              <a:t>1. 데이터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99232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워치형 디바이스 · LTE-M
위치·활동량·배터리 전송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1993392"/>
            <a:ext cx="1371600" cy="0"/>
          </a:xfrm>
          <a:prstGeom prst="line">
            <a:avLst/>
          </a:prstGeom>
          <a:ln w="31750">
            <a:solidFill>
              <a:srgbClr val="97BC6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_trans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508760"/>
            <a:ext cx="960120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63240" y="260604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2C5F2D"/>
                </a:solidFill>
                <a:latin typeface="맑은 고딕"/>
                <a:ea typeface="맑은 고딕"/>
              </a:rPr>
              <a:t>2. xAPI 변환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흩어진 raw 값을
국제표준 Statement로 재구성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74920" y="1993392"/>
            <a:ext cx="1371600" cy="0"/>
          </a:xfrm>
          <a:prstGeom prst="line">
            <a:avLst/>
          </a:prstGeom>
          <a:ln w="31750">
            <a:solidFill>
              <a:srgbClr val="97BC6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icon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508760"/>
            <a:ext cx="960120" cy="960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260604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2C5F2D"/>
                </a:solidFill>
                <a:latin typeface="맑은 고딕"/>
                <a:ea typeface="맑은 고딕"/>
              </a:rPr>
              <a:t>3. AI 정제 · 판정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99232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개인 베이스라인과 비교
실시간 위험 점수 산출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79" y="1993392"/>
            <a:ext cx="1371601" cy="0"/>
          </a:xfrm>
          <a:prstGeom prst="line">
            <a:avLst/>
          </a:prstGeom>
          <a:ln w="31750">
            <a:solidFill>
              <a:srgbClr val="97BC6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icon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508760"/>
            <a:ext cx="960120" cy="960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23960" y="260604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2C5F2D"/>
                </a:solidFill>
                <a:latin typeface="맑은 고딕"/>
                <a:ea typeface="맑은 고딕"/>
              </a:rPr>
              <a:t>4. 사고 예방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999232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이탈 전 Warning 발송
보호자 개입으로 종료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86200"/>
            <a:ext cx="4846320" cy="14173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667066"/>
                </a:solidFill>
                <a:latin typeface="맑은 고딕"/>
                <a:ea typeface="맑은 고딕"/>
              </a:rPr>
              <a:t>BEFORE — 흩어진 raw 값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Courier New"/>
                <a:ea typeface="맑은 고딕"/>
              </a:rPr>
              <a:t>lat: 37.5665   battery: 80   gyX: 0.12
eventType: PERIODIC   apName: HOME_AP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32120" y="4590288"/>
            <a:ext cx="731520" cy="0"/>
          </a:xfrm>
          <a:prstGeom prst="line">
            <a:avLst/>
          </a:prstGeom>
          <a:ln w="34925">
            <a:solidFill>
              <a:srgbClr val="2C5F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388620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AFTER — xAPI Statement (누가 · 무엇을 · 어디서)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Courier New"/>
                <a:ea typeface="맑은 고딕"/>
              </a:rPr>
              <a:t>Actor: elder_001   ·   Verb: stayed (머무름)
Object: ZONE-001 (집)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900" b="1">
                <a:solidFill>
                  <a:srgbClr val="2C5F2D"/>
                </a:solidFill>
                <a:latin typeface="맑은 고딕"/>
                <a:ea typeface="맑은 고딕"/>
              </a:rPr>
              <a:t>10분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12A21"/>
                </a:solidFill>
                <a:latin typeface="맑은 고딕"/>
                <a:ea typeface="맑은 고딕"/>
              </a:rPr>
              <a:t>Warning → 실제 이탈 사이
확보되는 개입 시간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57784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900" b="1">
                <a:solidFill>
                  <a:srgbClr val="2C5F2D"/>
                </a:solidFill>
                <a:latin typeface="맑은 고딕"/>
                <a:ea typeface="맑은 고딕"/>
              </a:rPr>
              <a:t>이탈 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12A21"/>
                </a:solidFill>
                <a:latin typeface="맑은 고딕"/>
                <a:ea typeface="맑은 고딕"/>
              </a:rPr>
              <a:t>SafeZone 내부에서 알람 발생
(사후 대응 아님)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557784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900" b="1">
                <a:solidFill>
                  <a:srgbClr val="2C5F2D"/>
                </a:solidFill>
                <a:latin typeface="맑은 고딕"/>
                <a:ea typeface="맑은 고딕"/>
              </a:rPr>
              <a:t>개인화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12A21"/>
                </a:solidFill>
                <a:latin typeface="맑은 고딕"/>
                <a:ea typeface="맑은 고딕"/>
              </a:rPr>
              <a:t>고정 임계 아닌
어르신별 학습 기준</a:t>
            </a:r>
          </a:p>
        </p:txBody>
      </p:sp>
      <p:sp>
        <p:nvSpPr>
          <p:cNvPr id="26" name="Rounded Rectangle 25">
            <a:hlinkClick r:id="rId6" action="ppaction://hlinksldjump"/>
          </p:cNvPr>
          <p:cNvSpPr/>
          <p:nvPr/>
        </p:nvSpPr>
        <p:spPr>
          <a:xfrm>
            <a:off x="10122576" y="322326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JSON 구조 ▸ A10</a:t>
            </a:r>
          </a:p>
        </p:txBody>
      </p:sp>
      <p:sp>
        <p:nvSpPr>
          <p:cNvPr id="27" name="Rounded Rectangle 26">
            <a:hlinkClick r:id="rId7" action="ppaction://hlinksldjump"/>
          </p:cNvPr>
          <p:cNvSpPr/>
          <p:nvPr/>
        </p:nvSpPr>
        <p:spPr>
          <a:xfrm>
            <a:off x="10129287" y="78638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2C5F2D"/>
                </a:solidFill>
                <a:latin typeface="맑은 고딕"/>
                <a:ea typeface="맑은 고딕"/>
              </a:rPr>
              <a:t>근거</a:t>
            </a:r>
            <a:r>
              <a:rPr sz="11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C5F2D"/>
                </a:solidFill>
                <a:latin typeface="맑은 고딕"/>
                <a:ea typeface="맑은 고딕"/>
              </a:rPr>
              <a:t>상세</a:t>
            </a:r>
            <a:r>
              <a:rPr sz="1100" b="1" dirty="0">
                <a:solidFill>
                  <a:srgbClr val="2C5F2D"/>
                </a:solidFill>
                <a:latin typeface="맑은 고딕"/>
                <a:ea typeface="맑은 고딕"/>
              </a:rPr>
              <a:t> ▸ A12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동작 시나리오 — 이탈부터 복귀까지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200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60초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주기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판정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·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에스컬레이션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상태</a:t>
            </a:r>
            <a:endParaRPr sz="12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안전구역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9F2DC"/>
                </a:solidFill>
                <a:latin typeface="맑은 고딕"/>
                <a:ea typeface="맑은 고딕"/>
              </a:rPr>
              <a:t>등록 WiFi 연결
(2분 유예)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24328" y="2880360"/>
            <a:ext cx="210312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52928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이탈 감지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</a:rPr>
              <a:t>즉시 SMS
+ GPS 모드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28616" y="2880360"/>
            <a:ext cx="210312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57216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주의 +5분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</a:rPr>
              <a:t>Warning
SMS + 서버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32904" y="2880360"/>
            <a:ext cx="210312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61504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긴급 +30분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9F2DC"/>
                </a:solidFill>
                <a:latin typeface="맑은 고딕"/>
                <a:ea typeface="맑은 고딕"/>
              </a:rPr>
              <a:t>SOS 60초 반복
SMS + 서버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37192" y="2880360"/>
            <a:ext cx="210312" cy="0"/>
          </a:xfrm>
          <a:prstGeom prst="line">
            <a:avLst/>
          </a:prstGeom>
          <a:ln w="25400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65792" y="210312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복귀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E9F2DC"/>
                </a:solidFill>
                <a:latin typeface="맑은 고딕"/>
                <a:ea typeface="맑은 고딕"/>
              </a:rPr>
              <a:t>재진입 SMS
타이머 리셋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DFD·데이터 ▸ A5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1363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근거 1 · 개인화 — 고정 임계값은 오탐/미탐을 피할 수 없다</a:t>
            </a:r>
          </a:p>
        </p:txBody>
      </p:sp>
      <p:pic>
        <p:nvPicPr>
          <p:cNvPr id="17" name="Picture 16" descr="chart_personal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79392"/>
            <a:ext cx="5257800" cy="213598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63640" y="391363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근거 2 · 사전예측 — Warning이 실제 이탈보다 10분 먼저</a:t>
            </a:r>
          </a:p>
        </p:txBody>
      </p:sp>
      <p:pic>
        <p:nvPicPr>
          <p:cNvPr id="19" name="Picture 18" descr="chart_pred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79392"/>
            <a:ext cx="5257800" cy="2135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E987217-C35A-4AA2-586C-BE62B2A4E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585190" y="3279289"/>
            <a:ext cx="2542912" cy="339054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292608"/>
            <a:ext cx="9509760" cy="466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altLang="ko-KR" sz="2900" b="1" dirty="0">
                <a:solidFill>
                  <a:srgbClr val="212A21"/>
                </a:solidFill>
                <a:latin typeface="맑은 고딕"/>
                <a:ea typeface="맑은 고딕"/>
              </a:rPr>
              <a:t>Phase 1 </a:t>
            </a:r>
            <a:r>
              <a:rPr lang="ko-KR" altLang="en-US" sz="2900" b="1" dirty="0">
                <a:solidFill>
                  <a:srgbClr val="212A21"/>
                </a:solidFill>
                <a:latin typeface="맑은 고딕"/>
                <a:ea typeface="맑은 고딕"/>
              </a:rPr>
              <a:t>구현 현황 </a:t>
            </a:r>
            <a:r>
              <a:rPr lang="en-US" altLang="ko-KR" sz="2900" b="1" dirty="0">
                <a:solidFill>
                  <a:srgbClr val="212A21"/>
                </a:solidFill>
                <a:latin typeface="맑은 고딕"/>
                <a:ea typeface="맑은 고딕"/>
              </a:rPr>
              <a:t>- 1</a:t>
            </a:r>
            <a:endParaRPr sz="2900" b="1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200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3개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안드로이드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앱 ·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서버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·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대시보드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가동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중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73352"/>
            <a:ext cx="384048" cy="38404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00200"/>
            <a:ext cx="5486400" cy="496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SFD </a:t>
            </a:r>
            <a:r>
              <a:rPr sz="1600" b="1" dirty="0" err="1">
                <a:solidFill>
                  <a:srgbClr val="212A21"/>
                </a:solidFill>
                <a:latin typeface="맑은 고딕"/>
                <a:ea typeface="맑은 고딕"/>
              </a:rPr>
              <a:t>어르신</a:t>
            </a: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 b="1" dirty="0">
                <a:solidFill>
                  <a:srgbClr val="212A21"/>
                </a:solidFill>
                <a:latin typeface="맑은 고딕"/>
                <a:ea typeface="맑은 고딕"/>
              </a:rPr>
              <a:t>테스트 </a:t>
            </a:r>
            <a:r>
              <a:rPr sz="1600" b="1" dirty="0" err="1">
                <a:solidFill>
                  <a:srgbClr val="212A21"/>
                </a:solidFill>
                <a:latin typeface="맑은 고딕"/>
                <a:ea typeface="맑은 고딕"/>
              </a:rPr>
              <a:t>단말</a:t>
            </a:r>
            <a:endParaRPr sz="160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50" b="0" dirty="0">
                <a:solidFill>
                  <a:srgbClr val="667066"/>
                </a:solidFill>
                <a:latin typeface="맑은 고딕"/>
                <a:ea typeface="맑은 고딕"/>
              </a:rPr>
              <a:t>Phone</a:t>
            </a:r>
            <a:r>
              <a:rPr lang="ko-KR" altLang="en-US" sz="1250" b="0" dirty="0">
                <a:solidFill>
                  <a:srgbClr val="667066"/>
                </a:solidFill>
                <a:latin typeface="맑은 고딕"/>
                <a:ea typeface="맑은 고딕"/>
              </a:rPr>
              <a:t>으로 </a:t>
            </a:r>
            <a:r>
              <a:rPr lang="en-US" altLang="ko-KR" sz="1250" b="0" dirty="0">
                <a:solidFill>
                  <a:srgbClr val="667066"/>
                </a:solidFill>
                <a:latin typeface="맑은 고딕"/>
                <a:ea typeface="맑은 고딕"/>
              </a:rPr>
              <a:t>Test App</a:t>
            </a:r>
            <a:r>
              <a:rPr lang="ko-KR" altLang="en-US" sz="1250" dirty="0">
                <a:solidFill>
                  <a:srgbClr val="667066"/>
                </a:solidFill>
                <a:latin typeface="맑은 고딕"/>
                <a:ea typeface="맑은 고딕"/>
              </a:rPr>
              <a:t> 구성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안전구역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상태머신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+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한글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SMS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79498"/>
            <a:ext cx="384048" cy="384048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113666"/>
            <a:ext cx="384048" cy="384048"/>
          </a:xfrm>
          <a:prstGeom prst="ellipse">
            <a:avLst/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6773" y="5057360"/>
            <a:ext cx="3434864" cy="496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SF</a:t>
            </a:r>
            <a:r>
              <a:rPr lang="en-US" sz="1600" b="1" dirty="0">
                <a:solidFill>
                  <a:srgbClr val="212A21"/>
                </a:solidFill>
                <a:latin typeface="맑은 고딕"/>
                <a:ea typeface="맑은 고딕"/>
              </a:rPr>
              <a:t> Device </a:t>
            </a:r>
            <a:r>
              <a:rPr lang="en-US" altLang="ko-KR" sz="1600" b="1" dirty="0">
                <a:solidFill>
                  <a:srgbClr val="212A21"/>
                </a:solidFill>
                <a:latin typeface="맑은 고딕"/>
                <a:ea typeface="맑은 고딕"/>
              </a:rPr>
              <a:t>ESP32-C5 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lang="ko-KR" altLang="en-US" sz="1250" b="0" dirty="0">
                <a:solidFill>
                  <a:srgbClr val="667066"/>
                </a:solidFill>
                <a:latin typeface="맑은 고딕"/>
                <a:ea typeface="맑은 고딕"/>
              </a:rPr>
              <a:t>실제 환자가 착용할 </a:t>
            </a:r>
            <a:r>
              <a:rPr lang="en-US" altLang="ko-KR" sz="1250" b="0" dirty="0">
                <a:solidFill>
                  <a:srgbClr val="667066"/>
                </a:solidFill>
                <a:latin typeface="맑은 고딕"/>
                <a:ea typeface="맑은 고딕"/>
              </a:rPr>
              <a:t>Safe</a:t>
            </a:r>
            <a:r>
              <a:rPr lang="ko-KR" altLang="en-US"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lang="en-US" altLang="ko-KR" sz="1250" b="0" dirty="0">
                <a:solidFill>
                  <a:srgbClr val="667066"/>
                </a:solidFill>
                <a:latin typeface="맑은 고딕"/>
                <a:ea typeface="맑은 고딕"/>
              </a:rPr>
              <a:t>Finder Device</a:t>
            </a:r>
            <a:endParaRPr sz="12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  <p:pic>
        <p:nvPicPr>
          <p:cNvPr id="14" name="Picture 13" descr="sfd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264" y="320963"/>
            <a:ext cx="2123097" cy="4600046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16" name="Rounded Rectangle 15">
            <a:hlinkClick r:id="rId4" action="ppaction://hlinksldjump"/>
          </p:cNvPr>
          <p:cNvSpPr/>
          <p:nvPr/>
        </p:nvSpPr>
        <p:spPr>
          <a:xfrm>
            <a:off x="9503049" y="6308941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구현 상세 ▸ A6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245164-74DA-9C49-2898-E7071BFB3B61}"/>
              </a:ext>
            </a:extLst>
          </p:cNvPr>
          <p:cNvSpPr txBox="1"/>
          <p:nvPr/>
        </p:nvSpPr>
        <p:spPr>
          <a:xfrm>
            <a:off x="1234440" y="3385306"/>
            <a:ext cx="3621339" cy="496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SFW </a:t>
            </a:r>
            <a:r>
              <a:rPr sz="1600" b="1" dirty="0" err="1">
                <a:solidFill>
                  <a:srgbClr val="212A21"/>
                </a:solidFill>
                <a:latin typeface="맑은 고딕"/>
                <a:ea typeface="맑은 고딕"/>
              </a:rPr>
              <a:t>워치</a:t>
            </a:r>
            <a:endParaRPr sz="160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50" b="0" dirty="0">
                <a:solidFill>
                  <a:srgbClr val="667066"/>
                </a:solidFill>
                <a:latin typeface="맑은 고딕"/>
                <a:ea typeface="맑은 고딕"/>
              </a:rPr>
              <a:t>SFD</a:t>
            </a:r>
            <a:r>
              <a:rPr lang="ko-KR" altLang="en-US" sz="1250" dirty="0">
                <a:solidFill>
                  <a:srgbClr val="667066"/>
                </a:solidFill>
                <a:latin typeface="맑은 고딕"/>
                <a:ea typeface="맑은 고딕"/>
              </a:rPr>
              <a:t>와 같은 역할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(Wear OS)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E026D28-C56C-9CCD-C1B0-FCA3D0704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826" y="2366473"/>
            <a:ext cx="2125053" cy="21250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30F5-A0DA-B819-C5E8-4FFF91ED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EF0D415-A644-6865-F5DA-9C57F62A3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808" y="503595"/>
            <a:ext cx="4547112" cy="37724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67E14F-5BC4-66E5-95F3-67EF03B4EC36}"/>
              </a:ext>
            </a:extLst>
          </p:cNvPr>
          <p:cNvSpPr txBox="1"/>
          <p:nvPr/>
        </p:nvSpPr>
        <p:spPr>
          <a:xfrm>
            <a:off x="548640" y="292608"/>
            <a:ext cx="9509760" cy="466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altLang="ko-KR" sz="2900" b="1" dirty="0">
                <a:solidFill>
                  <a:srgbClr val="212A21"/>
                </a:solidFill>
                <a:latin typeface="맑은 고딕"/>
                <a:ea typeface="맑은 고딕"/>
              </a:rPr>
              <a:t>Phase 1 </a:t>
            </a:r>
            <a:r>
              <a:rPr lang="ko-KR" altLang="en-US" sz="2900" b="1" dirty="0">
                <a:solidFill>
                  <a:srgbClr val="212A21"/>
                </a:solidFill>
                <a:latin typeface="맑은 고딕"/>
                <a:ea typeface="맑은 고딕"/>
              </a:rPr>
              <a:t>구현 현황 </a:t>
            </a:r>
            <a:r>
              <a:rPr lang="en-US" altLang="ko-KR" sz="2900" b="1" dirty="0">
                <a:solidFill>
                  <a:srgbClr val="212A21"/>
                </a:solidFill>
                <a:latin typeface="맑은 고딕"/>
                <a:ea typeface="맑은 고딕"/>
              </a:rPr>
              <a:t>- 2</a:t>
            </a:r>
            <a:endParaRPr sz="2900" b="1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EE731-0CF4-5907-05BF-1F55F849785F}"/>
              </a:ext>
            </a:extLst>
          </p:cNvPr>
          <p:cNvSpPr txBox="1"/>
          <p:nvPr/>
        </p:nvSpPr>
        <p:spPr>
          <a:xfrm>
            <a:off x="548640" y="868680"/>
            <a:ext cx="10058400" cy="200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3개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안드로이드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앱 ·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서버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·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대시보드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가동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중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7BBB45-724E-87F0-166F-2E44D2D428A5}"/>
              </a:ext>
            </a:extLst>
          </p:cNvPr>
          <p:cNvSpPr/>
          <p:nvPr/>
        </p:nvSpPr>
        <p:spPr>
          <a:xfrm>
            <a:off x="640080" y="1673352"/>
            <a:ext cx="384048" cy="38404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DE61D9-74BA-2F0B-3121-C0701EE44CC5}"/>
              </a:ext>
            </a:extLst>
          </p:cNvPr>
          <p:cNvSpPr/>
          <p:nvPr/>
        </p:nvSpPr>
        <p:spPr>
          <a:xfrm>
            <a:off x="640080" y="3886361"/>
            <a:ext cx="384048" cy="384048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25D19-7B08-D7DB-CDDD-77239C7512C6}"/>
              </a:ext>
            </a:extLst>
          </p:cNvPr>
          <p:cNvSpPr txBox="1"/>
          <p:nvPr/>
        </p:nvSpPr>
        <p:spPr>
          <a:xfrm>
            <a:off x="1234440" y="161530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SFC </a:t>
            </a:r>
            <a:r>
              <a:rPr sz="1600" b="1" dirty="0" err="1">
                <a:solidFill>
                  <a:srgbClr val="212A21"/>
                </a:solidFill>
                <a:latin typeface="맑은 고딕"/>
                <a:ea typeface="맑은 고딕"/>
              </a:rPr>
              <a:t>보호자</a:t>
            </a:r>
            <a:r>
              <a:rPr sz="1600" b="1" dirty="0">
                <a:solidFill>
                  <a:srgbClr val="212A21"/>
                </a:solidFill>
                <a:latin typeface="맑은 고딕"/>
                <a:ea typeface="맑은 고딕"/>
              </a:rPr>
              <a:t> 앱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BLE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등록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+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실시간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대시보드</a:t>
            </a:r>
            <a:endParaRPr sz="12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B911D-B9D9-D0CC-98C5-E3BFBEFD54E5}"/>
              </a:ext>
            </a:extLst>
          </p:cNvPr>
          <p:cNvSpPr txBox="1"/>
          <p:nvPr/>
        </p:nvSpPr>
        <p:spPr>
          <a:xfrm>
            <a:off x="1234440" y="377968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>
                <a:solidFill>
                  <a:srgbClr val="212A21"/>
                </a:solidFill>
                <a:latin typeface="맑은 고딕"/>
                <a:ea typeface="맑은 고딕"/>
              </a:rPr>
              <a:t>서버·대시보드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xAPI·LRS + 이력 조회 가동</a:t>
            </a:r>
          </a:p>
        </p:txBody>
      </p:sp>
      <p:sp>
        <p:nvSpPr>
          <p:cNvPr id="16" name="Rounded Rectangle 15">
            <a:hlinkClick r:id="rId3" action="ppaction://hlinksldjump"/>
            <a:extLst>
              <a:ext uri="{FF2B5EF4-FFF2-40B4-BE49-F238E27FC236}">
                <a16:creationId xmlns:a16="http://schemas.microsoft.com/office/drawing/2014/main" id="{00A128E2-2D58-1CB1-79D5-1238BBFFE299}"/>
              </a:ext>
            </a:extLst>
          </p:cNvPr>
          <p:cNvSpPr/>
          <p:nvPr/>
        </p:nvSpPr>
        <p:spPr>
          <a:xfrm>
            <a:off x="9540841" y="6301965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2C5F2D"/>
                </a:solidFill>
                <a:latin typeface="맑은 고딕"/>
                <a:ea typeface="맑은 고딕"/>
              </a:rPr>
              <a:t>구현</a:t>
            </a:r>
            <a:r>
              <a:rPr sz="11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C5F2D"/>
                </a:solidFill>
                <a:latin typeface="맑은 고딕"/>
                <a:ea typeface="맑은 고딕"/>
              </a:rPr>
              <a:t>상세</a:t>
            </a:r>
            <a:r>
              <a:rPr sz="1100" b="1" dirty="0">
                <a:solidFill>
                  <a:srgbClr val="2C5F2D"/>
                </a:solidFill>
                <a:latin typeface="맑은 고딕"/>
                <a:ea typeface="맑은 고딕"/>
              </a:rPr>
              <a:t> ▸ A6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3AA21C5-A2DA-7A2D-EC64-10FAC6061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924" y="2800632"/>
            <a:ext cx="6177070" cy="3885381"/>
          </a:xfrm>
          <a:prstGeom prst="rect">
            <a:avLst/>
          </a:prstGeom>
        </p:spPr>
      </p:pic>
      <p:pic>
        <p:nvPicPr>
          <p:cNvPr id="13" name="Picture 12" descr="sfc_main_crop.png">
            <a:extLst>
              <a:ext uri="{FF2B5EF4-FFF2-40B4-BE49-F238E27FC236}">
                <a16:creationId xmlns:a16="http://schemas.microsoft.com/office/drawing/2014/main" id="{C109AF47-BF32-AE08-F9F1-3CE4E2C6A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286" y="1268018"/>
            <a:ext cx="3168522" cy="2030049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</p:spTree>
    <p:extLst>
      <p:ext uri="{BB962C8B-B14F-4D97-AF65-F5344CB8AC3E}">
        <p14:creationId xmlns:p14="http://schemas.microsoft.com/office/powerpoint/2010/main" val="3328316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466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altLang="en-US" sz="2900" b="1" dirty="0">
                <a:solidFill>
                  <a:srgbClr val="212A21"/>
                </a:solidFill>
                <a:latin typeface="맑은 고딕"/>
                <a:ea typeface="맑은 고딕"/>
              </a:rPr>
              <a:t>시나리오 검증</a:t>
            </a:r>
            <a:endParaRPr sz="2900" b="1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2026-07-04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실기기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+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운영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서버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실측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,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SMS·서버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기록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양쪽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교차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검증</a:t>
            </a:r>
            <a:endParaRPr sz="12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</a:rPr>
              <a:t>경계</a:t>
            </a:r>
            <a:endParaRPr sz="16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76992" y="2286315"/>
            <a:ext cx="3300848" cy="249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이탈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감지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— SMS + GPS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모드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전환</a:t>
            </a:r>
            <a:endParaRPr sz="1550" b="1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</a:rPr>
              <a:t>이탈</a:t>
            </a:r>
            <a:endParaRPr sz="16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1004" y="3101695"/>
            <a:ext cx="3582826" cy="249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주의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(+5분) — SMS +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서버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sz="1600" b="1" dirty="0">
                <a:solidFill>
                  <a:srgbClr val="FFFFFF"/>
                </a:solidFill>
                <a:latin typeface="맑은 고딕"/>
                <a:ea typeface="맑은 고딕"/>
              </a:rPr>
              <a:t>SOS</a:t>
            </a:r>
            <a:endParaRPr sz="16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35058" y="4012560"/>
            <a:ext cx="3528775" cy="249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긴급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(+30분) — SOS SMS + 60초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반복</a:t>
            </a:r>
            <a:endParaRPr sz="1550" b="1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4251959"/>
            <a:ext cx="1188720" cy="6858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</a:rPr>
              <a:t>안전</a:t>
            </a:r>
            <a:endParaRPr sz="16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16160" y="4902581"/>
            <a:ext cx="2912382" cy="249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복귀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— SMS + SOS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자동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중단</a:t>
            </a:r>
            <a:endParaRPr sz="1550" b="1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78815" y="5826706"/>
            <a:ext cx="10058400" cy="384049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실제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발송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문자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: "[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SafeFinder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]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아버님이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안전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구역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집을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벗어났습니다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.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현재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위치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: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지도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C5F2D"/>
                </a:solidFill>
                <a:latin typeface="맑은 고딕"/>
                <a:ea typeface="맑은 고딕"/>
              </a:rPr>
              <a:t>링크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"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2C5F2D"/>
                </a:solidFill>
                <a:latin typeface="맑은 고딕"/>
                <a:ea typeface="맑은 고딕"/>
              </a:rPr>
              <a:t>문자</a:t>
            </a:r>
            <a:r>
              <a:rPr sz="11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2C5F2D"/>
                </a:solidFill>
                <a:latin typeface="맑은 고딕"/>
                <a:ea typeface="맑은 고딕"/>
              </a:rPr>
              <a:t>전문·로그</a:t>
            </a:r>
            <a:r>
              <a:rPr sz="1100" b="1" dirty="0">
                <a:solidFill>
                  <a:srgbClr val="2C5F2D"/>
                </a:solidFill>
                <a:latin typeface="맑은 고딕"/>
                <a:ea typeface="맑은 고딕"/>
              </a:rPr>
              <a:t> ▸ A7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C6CE0E-282A-260B-9A5D-7AD74A95E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582" y="1767118"/>
            <a:ext cx="3205763" cy="4434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E2052E-9BEB-2E45-26FD-317EBD01F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7875" y="3457268"/>
            <a:ext cx="3235340" cy="4548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092593-05F3-430E-BC80-EA846F3FD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7876" y="2620210"/>
            <a:ext cx="3200666" cy="4434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375B9D-756D-7D09-1F72-7704DE584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583" y="4352197"/>
            <a:ext cx="3281030" cy="4754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2446486-ECD8-EFE0-1E2B-7B6254854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0570" y="1558625"/>
            <a:ext cx="1688123" cy="365759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F41681C-54CD-73F6-78BF-6C04956B35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3807" y="1558625"/>
            <a:ext cx="1688123" cy="36575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7038B6-7DE5-FAB8-F83B-A60FC7F6FF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4321" y="1553350"/>
            <a:ext cx="1688123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실증 계획과 파급성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200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주관적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만족이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아닌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정량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입증</a:t>
            </a:r>
            <a:r>
              <a:rPr sz="1250" b="0" dirty="0">
                <a:solidFill>
                  <a:srgbClr val="667066"/>
                </a:solidFill>
                <a:latin typeface="맑은 고딕"/>
                <a:ea typeface="맑은 고딕"/>
              </a:rPr>
              <a:t> → </a:t>
            </a:r>
            <a:r>
              <a:rPr sz="1250" b="0" dirty="0" err="1">
                <a:solidFill>
                  <a:srgbClr val="667066"/>
                </a:solidFill>
                <a:latin typeface="맑은 고딕"/>
                <a:ea typeface="맑은 고딕"/>
              </a:rPr>
              <a:t>사업화</a:t>
            </a:r>
            <a:endParaRPr sz="12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2F6DB5"/>
                </a:solidFill>
                <a:latin typeface="맑은 고딕"/>
                <a:ea typeface="맑은 고딕"/>
              </a:rPr>
              <a:t>실증</a:t>
            </a:r>
            <a:r>
              <a:rPr sz="1700" b="1" dirty="0">
                <a:solidFill>
                  <a:srgbClr val="2F6DB5"/>
                </a:solidFill>
                <a:latin typeface="맑은 고딕"/>
                <a:ea typeface="맑은 고딕"/>
              </a:rPr>
              <a:t> (Phase 2)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시제품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6대 · 30회+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시나리오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스트레스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테스트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6가족 × </a:t>
            </a:r>
            <a:r>
              <a:rPr 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2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주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필드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실사용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, AI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오경보율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개선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</a:t>
            </a:r>
            <a:r>
              <a:rPr 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Android Phone </a:t>
            </a:r>
            <a:r>
              <a:rPr lang="ko-KR" alt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및 </a:t>
            </a:r>
            <a:r>
              <a:rPr lang="en-US" altLang="ko-KR" sz="1300" b="0" dirty="0">
                <a:solidFill>
                  <a:srgbClr val="212A21"/>
                </a:solidFill>
                <a:latin typeface="맑은 고딕"/>
                <a:ea typeface="맑은 고딕"/>
              </a:rPr>
              <a:t>Web OS Watch </a:t>
            </a:r>
            <a:r>
              <a:rPr lang="ko-KR" alt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로</a:t>
            </a:r>
            <a:r>
              <a:rPr lang="en-US" altLang="ko-KR"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병행 테스트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2C5F2D"/>
                </a:solidFill>
                <a:latin typeface="맑은 고딕"/>
                <a:ea typeface="맑은 고딕"/>
              </a:rPr>
              <a:t>파급</a:t>
            </a:r>
            <a:r>
              <a:rPr sz="17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700" b="1" dirty="0" err="1">
                <a:solidFill>
                  <a:srgbClr val="2C5F2D"/>
                </a:solidFill>
                <a:latin typeface="맑은 고딕"/>
                <a:ea typeface="맑은 고딕"/>
              </a:rPr>
              <a:t>효과</a:t>
            </a:r>
            <a:endParaRPr sz="1700" b="1" dirty="0">
              <a:solidFill>
                <a:srgbClr val="2C5F2D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10%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예방만으로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한·일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연 3,300건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실종</a:t>
            </a: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212A21"/>
                </a:solidFill>
                <a:latin typeface="맑은 고딕"/>
                <a:ea typeface="맑은 고딕"/>
              </a:rPr>
              <a:t>차단</a:t>
            </a:r>
            <a:endParaRPr sz="13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dirty="0">
                <a:solidFill>
                  <a:srgbClr val="212A21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국내 치매 돌봄 사회적 비용 </a:t>
            </a:r>
            <a:r>
              <a:rPr lang="en-US" altLang="ko-KR" sz="1300" b="0" dirty="0">
                <a:solidFill>
                  <a:srgbClr val="212A21"/>
                </a:solidFill>
                <a:latin typeface="맑은 고딕"/>
                <a:ea typeface="맑은 고딕"/>
              </a:rPr>
              <a:t>22</a:t>
            </a:r>
            <a:r>
              <a:rPr lang="ko-KR" alt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조 </a:t>
            </a:r>
            <a:r>
              <a:rPr lang="en-US" altLang="ko-KR" sz="1300" b="0" dirty="0">
                <a:solidFill>
                  <a:srgbClr val="212A21"/>
                </a:solidFill>
                <a:latin typeface="맑은 고딕"/>
                <a:ea typeface="맑은 고딕"/>
              </a:rPr>
              <a:t>9000</a:t>
            </a:r>
            <a:r>
              <a:rPr lang="ko-KR" alt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억 중 </a:t>
            </a:r>
            <a:endParaRPr lang="en-US" altLang="ko-KR" sz="13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en-US" altLang="ko-KR" sz="1300" dirty="0">
                <a:solidFill>
                  <a:srgbClr val="212A21"/>
                </a:solidFill>
                <a:latin typeface="맑은 고딕"/>
                <a:ea typeface="맑은 고딕"/>
              </a:rPr>
              <a:t>	- </a:t>
            </a:r>
            <a:r>
              <a:rPr lang="ko-KR" altLang="en-US" sz="1300" dirty="0">
                <a:solidFill>
                  <a:srgbClr val="212A21"/>
                </a:solidFill>
                <a:latin typeface="맑은 고딕"/>
                <a:ea typeface="맑은 고딕"/>
              </a:rPr>
              <a:t>직접 실종 예방 비용 </a:t>
            </a:r>
            <a:r>
              <a:rPr lang="ko-KR" alt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약 </a:t>
            </a:r>
            <a:r>
              <a:rPr lang="en-US" altLang="ko-KR" sz="1300" b="0" dirty="0">
                <a:solidFill>
                  <a:srgbClr val="212A21"/>
                </a:solidFill>
                <a:latin typeface="맑은 고딕"/>
                <a:ea typeface="맑은 고딕"/>
              </a:rPr>
              <a:t>1% </a:t>
            </a:r>
            <a:r>
              <a:rPr lang="ko-KR" alt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절감</a:t>
            </a:r>
            <a:endParaRPr lang="en-US" altLang="ko-KR" sz="13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en-US" altLang="ko-KR" sz="1300" b="0" dirty="0">
                <a:solidFill>
                  <a:srgbClr val="212A21"/>
                </a:solidFill>
                <a:latin typeface="맑은 고딕"/>
                <a:ea typeface="맑은 고딕"/>
              </a:rPr>
              <a:t>        - </a:t>
            </a:r>
            <a:r>
              <a:rPr lang="ko-KR" altLang="en-US" sz="1300" b="0" dirty="0">
                <a:solidFill>
                  <a:srgbClr val="212A21"/>
                </a:solidFill>
                <a:latin typeface="맑은 고딕"/>
                <a:ea typeface="맑은 고딕"/>
              </a:rPr>
              <a:t>가족의 사회적 참여 박탈 등의 간접 효과 증대</a:t>
            </a:r>
            <a:br>
              <a:rPr lang="en-US" altLang="ko-KR" sz="1300" b="0" dirty="0">
                <a:solidFill>
                  <a:srgbClr val="212A21"/>
                </a:solidFill>
                <a:latin typeface="맑은 고딕"/>
                <a:ea typeface="맑은 고딕"/>
              </a:rPr>
            </a:br>
            <a:r>
              <a:rPr lang="en-US" altLang="ko-KR" sz="1300" b="0" dirty="0">
                <a:solidFill>
                  <a:srgbClr val="212A21"/>
                </a:solidFill>
                <a:latin typeface="맑은 고딕"/>
                <a:ea typeface="맑은 고딕"/>
              </a:rPr>
              <a:t>       </a:t>
            </a:r>
            <a:r>
              <a:rPr lang="en-US" sz="1300" dirty="0">
                <a:solidFill>
                  <a:srgbClr val="212A21"/>
                </a:solidFill>
                <a:latin typeface="맑은 고딕"/>
                <a:ea typeface="맑은 고딕"/>
              </a:rPr>
              <a:t>* </a:t>
            </a:r>
            <a:r>
              <a:rPr lang="en-US" sz="1000" b="0" dirty="0">
                <a:solidFill>
                  <a:srgbClr val="212A21"/>
                </a:solidFill>
                <a:latin typeface="맑은 고딕"/>
                <a:ea typeface="맑은 고딕"/>
              </a:rPr>
              <a:t>2024</a:t>
            </a:r>
            <a:r>
              <a:rPr lang="ko-KR" altLang="en-US" sz="1000" b="0" dirty="0">
                <a:solidFill>
                  <a:srgbClr val="212A21"/>
                </a:solidFill>
                <a:latin typeface="맑은 고딕"/>
                <a:ea typeface="맑은 고딕"/>
              </a:rPr>
              <a:t>년 한일 치매환자 실종 </a:t>
            </a:r>
            <a:r>
              <a:rPr lang="en-US" altLang="ko-KR" sz="1000" b="0" dirty="0">
                <a:solidFill>
                  <a:srgbClr val="212A21"/>
                </a:solidFill>
                <a:latin typeface="맑은 고딕"/>
                <a:ea typeface="맑은 고딕"/>
              </a:rPr>
              <a:t>3.3</a:t>
            </a:r>
            <a:r>
              <a:rPr lang="ko-KR" altLang="en-US"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만건</a:t>
            </a:r>
            <a:r>
              <a:rPr lang="ko-KR" altLang="en-US" sz="1000" b="0" dirty="0">
                <a:solidFill>
                  <a:srgbClr val="212A21"/>
                </a:solidFill>
                <a:latin typeface="맑은 고딕"/>
                <a:ea typeface="맑은 고딕"/>
              </a:rPr>
              <a:t> 기준</a:t>
            </a:r>
            <a:endParaRPr sz="10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12주 종료 → 6개월 내 제품 출시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12A21"/>
                </a:solidFill>
                <a:latin typeface="맑은 고딕"/>
                <a:ea typeface="맑은 고딕"/>
              </a:rPr>
              <a:t>확장: xAPI 개방형 데이터 → 이종 센서·기관 연동  ·  아동·정신장애인 등 인접 취약계층 수평 확장</a:t>
            </a:r>
          </a:p>
        </p:txBody>
      </p:sp>
      <p:sp>
        <p:nvSpPr>
          <p:cNvPr id="9" name="Rounded Rectangle 8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상세 ▸ A8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팀 안심동행 — 파이프라인이 곧 역할 분담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HW → FW → 서버 → 웹, 단계마다 전담 전문가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55064"/>
            <a:ext cx="411480" cy="41148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00200"/>
            <a:ext cx="10241280" cy="4719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방효식 (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팀장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)  — 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아키텍처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총괄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en-US" sz="1550" b="1" dirty="0">
                <a:solidFill>
                  <a:srgbClr val="212A21"/>
                </a:solidFill>
                <a:latin typeface="맑은 고딕"/>
                <a:ea typeface="맑은 고딕"/>
              </a:rPr>
              <a:t>· </a:t>
            </a:r>
            <a:r>
              <a:rPr lang="en-US" altLang="ko-KR" sz="1550" b="1" dirty="0">
                <a:solidFill>
                  <a:srgbClr val="212A21"/>
                </a:solidFill>
                <a:latin typeface="맑은 고딕"/>
                <a:ea typeface="맑은 고딕"/>
              </a:rPr>
              <a:t>Phone</a:t>
            </a:r>
            <a:r>
              <a:rPr lang="ko-KR" altLang="en-US" sz="15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en-US" altLang="ko-KR" sz="1550" b="1" dirty="0">
                <a:solidFill>
                  <a:srgbClr val="212A21"/>
                </a:solidFill>
                <a:latin typeface="맑은 고딕"/>
                <a:ea typeface="맑은 고딕"/>
              </a:rPr>
              <a:t>App (</a:t>
            </a:r>
            <a:r>
              <a:rPr lang="ko-KR" altLang="en-US" sz="1550" b="1" dirty="0">
                <a:solidFill>
                  <a:srgbClr val="212A21"/>
                </a:solidFill>
                <a:latin typeface="맑은 고딕"/>
                <a:ea typeface="맑은 고딕"/>
              </a:rPr>
              <a:t>보호자용</a:t>
            </a:r>
            <a:r>
              <a:rPr lang="en-US" altLang="ko-KR" sz="1550" b="1" dirty="0">
                <a:solidFill>
                  <a:srgbClr val="212A21"/>
                </a:solidFill>
                <a:latin typeface="맑은 고딕"/>
                <a:ea typeface="맑은 고딕"/>
              </a:rPr>
              <a:t>), Watch</a:t>
            </a:r>
            <a:r>
              <a:rPr lang="ko-KR" altLang="en-US" sz="1550" b="1" dirty="0">
                <a:solidFill>
                  <a:srgbClr val="212A21"/>
                </a:solidFill>
                <a:latin typeface="맑은 고딕"/>
                <a:ea typeface="맑은 고딕"/>
              </a:rPr>
              <a:t> 용 </a:t>
            </a:r>
            <a:r>
              <a:rPr lang="en-US" altLang="ko-KR" sz="1550" b="1" dirty="0">
                <a:solidFill>
                  <a:srgbClr val="212A21"/>
                </a:solidFill>
                <a:latin typeface="맑은 고딕"/>
                <a:ea typeface="맑은 고딕"/>
              </a:rPr>
              <a:t>App</a:t>
            </a:r>
            <a:r>
              <a:rPr lang="ko-KR" altLang="en-US" sz="1550" b="1" dirty="0">
                <a:solidFill>
                  <a:srgbClr val="212A21"/>
                </a:solidFill>
                <a:latin typeface="맑은 고딕"/>
                <a:ea typeface="맑은 고딕"/>
              </a:rPr>
              <a:t>개발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altLang="en-US" sz="1150" b="0" dirty="0">
                <a:solidFill>
                  <a:srgbClr val="667066"/>
                </a:solidFill>
                <a:latin typeface="맑은 고딕"/>
                <a:ea typeface="맑은 고딕"/>
              </a:rPr>
              <a:t>삼성전자 </a:t>
            </a:r>
            <a:r>
              <a:rPr lang="en-US" sz="1150" b="0" dirty="0">
                <a:solidFill>
                  <a:srgbClr val="667066"/>
                </a:solidFill>
                <a:latin typeface="맑은 고딕"/>
                <a:ea typeface="맑은 고딕"/>
              </a:rPr>
              <a:t>PE · 24</a:t>
            </a:r>
            <a:r>
              <a:rPr lang="ko-KR" altLang="en-US" sz="1150" b="0" dirty="0">
                <a:solidFill>
                  <a:srgbClr val="667066"/>
                </a:solidFill>
                <a:latin typeface="맑은 고딕"/>
                <a:ea typeface="맑은 고딕"/>
              </a:rPr>
              <a:t>년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706624"/>
            <a:ext cx="411480" cy="411480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10241280" cy="4719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이동엽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 — 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서버·웹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—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xAPI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/LRS · React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대시보드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· </a:t>
            </a:r>
            <a:r>
              <a:rPr lang="en-US" sz="1550" b="1" dirty="0">
                <a:solidFill>
                  <a:srgbClr val="212A21"/>
                </a:solidFill>
                <a:latin typeface="맑은 고딕"/>
                <a:ea typeface="맑은 고딕"/>
              </a:rPr>
              <a:t>CSI</a:t>
            </a:r>
            <a:endParaRPr sz="155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 err="1">
                <a:solidFill>
                  <a:srgbClr val="667066"/>
                </a:solidFill>
                <a:latin typeface="맑은 고딕"/>
                <a:ea typeface="맑은 고딕"/>
              </a:rPr>
              <a:t>풀스택</a:t>
            </a:r>
            <a:r>
              <a:rPr sz="1150" b="0" dirty="0">
                <a:solidFill>
                  <a:srgbClr val="667066"/>
                </a:solidFill>
                <a:latin typeface="맑은 고딕"/>
                <a:ea typeface="맑은 고딕"/>
              </a:rPr>
              <a:t> 7년 · </a:t>
            </a:r>
            <a:r>
              <a:rPr sz="1150" b="0" dirty="0" err="1">
                <a:solidFill>
                  <a:srgbClr val="667066"/>
                </a:solidFill>
                <a:latin typeface="맑은 고딕"/>
                <a:ea typeface="맑은 고딕"/>
              </a:rPr>
              <a:t>일본시장</a:t>
            </a:r>
            <a:endParaRPr sz="1150" b="0" dirty="0">
              <a:solidFill>
                <a:srgbClr val="667066"/>
              </a:solidFill>
              <a:latin typeface="맑은 고딕"/>
              <a:ea typeface="맑은 고딕"/>
            </a:endParaRPr>
          </a:p>
        </p:txBody>
      </p:sp>
      <p:sp>
        <p:nvSpPr>
          <p:cNvPr id="9" name="Oval 8"/>
          <p:cNvSpPr/>
          <p:nvPr/>
        </p:nvSpPr>
        <p:spPr>
          <a:xfrm>
            <a:off x="640080" y="3758183"/>
            <a:ext cx="411480" cy="411480"/>
          </a:xfrm>
          <a:prstGeom prst="ellipse">
            <a:avLst/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703320"/>
            <a:ext cx="10241280" cy="4719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정영호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 — 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디바이스</a:t>
            </a:r>
            <a:r>
              <a:rPr lang="en-US" sz="1550" b="1" dirty="0">
                <a:solidFill>
                  <a:srgbClr val="212A21"/>
                </a:solidFill>
                <a:latin typeface="맑은 고딕"/>
                <a:ea typeface="맑은 고딕"/>
              </a:rPr>
              <a:t> FW 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—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회로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배선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· LRS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스키마</a:t>
            </a:r>
            <a:endParaRPr sz="155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 err="1">
                <a:solidFill>
                  <a:srgbClr val="667066"/>
                </a:solidFill>
                <a:latin typeface="맑은 고딕"/>
                <a:ea typeface="맑은 고딕"/>
              </a:rPr>
              <a:t>삼성</a:t>
            </a:r>
            <a:r>
              <a:rPr sz="11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667066"/>
                </a:solidFill>
                <a:latin typeface="맑은 고딕"/>
                <a:ea typeface="맑은 고딕"/>
              </a:rPr>
              <a:t>시스템</a:t>
            </a:r>
            <a:r>
              <a:rPr sz="1150" b="0" dirty="0">
                <a:solidFill>
                  <a:srgbClr val="667066"/>
                </a:solidFill>
                <a:latin typeface="맑은 고딕"/>
                <a:ea typeface="맑은 고딕"/>
              </a:rPr>
              <a:t> 30년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809743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754879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이광열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 — 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HW·기구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— PCB ·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저전력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부품</a:t>
            </a:r>
            <a:r>
              <a:rPr sz="1550" b="1" dirty="0">
                <a:solidFill>
                  <a:srgbClr val="212A21"/>
                </a:solidFill>
                <a:latin typeface="맑은 고딕"/>
                <a:ea typeface="맑은 고딕"/>
              </a:rPr>
              <a:t> · </a:t>
            </a:r>
            <a:r>
              <a:rPr sz="1550" b="1" dirty="0" err="1">
                <a:solidFill>
                  <a:srgbClr val="212A21"/>
                </a:solidFill>
                <a:latin typeface="맑은 고딕"/>
                <a:ea typeface="맑은 고딕"/>
              </a:rPr>
              <a:t>패키징</a:t>
            </a:r>
            <a:endParaRPr sz="1550" b="1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 err="1">
                <a:solidFill>
                  <a:srgbClr val="667066"/>
                </a:solidFill>
                <a:latin typeface="맑은 고딕"/>
                <a:ea typeface="맑은 고딕"/>
              </a:rPr>
              <a:t>삼성전자</a:t>
            </a:r>
            <a:r>
              <a:rPr sz="1150" b="0" dirty="0">
                <a:solidFill>
                  <a:srgbClr val="667066"/>
                </a:solidFill>
                <a:latin typeface="맑은 고딕"/>
                <a:ea typeface="맑은 고딕"/>
              </a:rPr>
              <a:t> PE · 32년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C5F2D"/>
                </a:solidFill>
                <a:latin typeface="맑은 고딕"/>
                <a:ea typeface="맑은 고딕"/>
              </a:rPr>
              <a:t>협업: 2주차 xAPI 규격 선확정으로 4개 영역 병렬 개발 · 주차별 WBS · 6주차 게이트 전원 통합 점검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9966960" y="6355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C5F2D"/>
                </a:solidFill>
                <a:latin typeface="맑은 고딕"/>
                <a:ea typeface="맑은 고딕"/>
              </a:rPr>
              <a:t>역할 상세 ▸ A9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12267-F746-97CE-5462-BA1594FBCF21}"/>
              </a:ext>
            </a:extLst>
          </p:cNvPr>
          <p:cNvSpPr txBox="1"/>
          <p:nvPr/>
        </p:nvSpPr>
        <p:spPr>
          <a:xfrm>
            <a:off x="731520" y="2103120"/>
            <a:ext cx="10698480" cy="482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사후 수색이 아닌, 사전 차단.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EBD45-DFF0-F5E7-46A5-3211127FDB60}"/>
              </a:ext>
            </a:extLst>
          </p:cNvPr>
          <p:cNvSpPr txBox="1"/>
          <p:nvPr/>
        </p:nvSpPr>
        <p:spPr>
          <a:xfrm>
            <a:off x="731520" y="2971800"/>
            <a:ext cx="10698480" cy="6510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충전 부담 없는 워치, 국제표준 데이터, 개인화 AI, 그리고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서버가 죽어도 보호자에게 반드시 도달하는 알림.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28FB8-6F9E-F84E-BBF4-4ADC7FE61E6A}"/>
              </a:ext>
            </a:extLst>
          </p:cNvPr>
          <p:cNvSpPr txBox="1"/>
          <p:nvPr/>
        </p:nvSpPr>
        <p:spPr>
          <a:xfrm>
            <a:off x="731520" y="4663440"/>
            <a:ext cx="10698480" cy="224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chemeClr val="accent3">
                    <a:lumMod val="50000"/>
                  </a:schemeClr>
                </a:solidFill>
                <a:latin typeface="맑은 고딕"/>
                <a:ea typeface="맑은 고딕"/>
              </a:rPr>
              <a:t>팀 안심동행  ·  감사합니다  ·  Q&amp;A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3ACBC-37BD-79C1-5630-12B9BC2A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383" y="2194560"/>
            <a:ext cx="1706046" cy="209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38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749039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E9F2DC"/>
                </a:solidFill>
                <a:latin typeface="맑은 고딕"/>
                <a:ea typeface="맑은 고딕"/>
              </a:rPr>
              <a:t>A1 조사 상세 · A2 경쟁 비교표 · A3 12주 로드맵 · A4 핵심 기술 · A5 DFD·데이터 · A6 구현 상세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E9F2DC"/>
                </a:solidFill>
                <a:latin typeface="맑은 고딕"/>
                <a:ea typeface="맑은 고딕"/>
              </a:rPr>
              <a:t>A7 실측 로그·문자 전문 · A8 실증·사업화 · A9 팀 역할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E9F2DC"/>
                </a:solidFill>
                <a:latin typeface="맑은 고딕"/>
                <a:ea typeface="맑은 고딕"/>
              </a:rPr>
              <a:t>A10 JSON 데이터 구조 · A11 HW 구성 · A12 AI 근거 그래프 상세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A1. 문제 조사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근거 통계와 기존 제품의 병목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9.25%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636776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국내 65세+ 치매 유병률 (보건복지부 법정 통계)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15,502건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414016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2024년 한국 치매 실종 신고 — 전체 실종의 31%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39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18,121명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191256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일본 연간 치매 실종 (20년 먼저 초고령화)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79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45.8%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968495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A21"/>
                </a:solidFill>
                <a:latin typeface="맑은 고딕"/>
                <a:ea typeface="맑은 고딕"/>
              </a:rPr>
              <a:t>재가 치매 가족 "24시간 감시의 한계" 호소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병목 상세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① 충전: 기존 배회감지기·스마트워치는 매일~수일 충전 — 관리 부담이 가족에게 전가, 실사용 포기의 결정적 원인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② 사후 대응: 이탈 완료 후 알림/수동 조회 — 배회 중 교통사고·저체온·익수 위험, 골든타임 유실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③ 고정 원형 지오펜스: 실제 동선과 불일치로 오경보 빈발 → 알림 무시(alarm fatigue) → 실제 사고 대응 지연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A2. 기존 솔루션 vs SafeFinder — 전체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252216" cy="467591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17320"/>
            <a:ext cx="4234167" cy="467591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기존 배회감지기 · 워치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17320"/>
            <a:ext cx="4234167" cy="467591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SafeFinder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39112"/>
            <a:ext cx="2252216" cy="685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대응 방식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39112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이탈 '후' 알림 — 사후 수색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39112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Warning(5분) → Emergency(30분)
2단계 사전 알림 + 즉시 SMS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16936"/>
            <a:ext cx="2252216" cy="685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배터리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16936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매일 ~ 수일 충전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916936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Deep Sleep ~2mA — 1회 충전
6개월~1년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2252216" cy="685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안전구역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794760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단순 원형 지오펜스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794760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WiFi·GPS·BLE 복합 + 동선 반영 다각형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72584"/>
            <a:ext cx="2252216" cy="685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672584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제조사별 폐쇄 포맷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672584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xAPI 국제표준 Statement + LRS 개방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50408"/>
            <a:ext cx="2252216" cy="685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알림 신뢰성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550408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서버 의존 (장애 시 침묵)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5550408"/>
            <a:ext cx="4234167" cy="68580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단말 직접 판정·SMS — 서버 불통에도 도달</a:t>
            </a:r>
          </a:p>
        </p:txBody>
      </p:sp>
      <p:sp>
        <p:nvSpPr>
          <p:cNvPr id="21" name="Rounded Rectangle 20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A3. 12주 로드맵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2026.05.22 ~ 08.17 · WBS 주차별 담당자 매칭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Phase 1 · 1~6주 [완료]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527048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한·일 시장 조사, xAPI Statement 규격 확정(2주차), HW 시제품 6대 제작·패키징,
안드로이드 3앱·Spring Boot LRS·React 대시보드 핵심 개발 — 6주차 중간 게이트 통과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79191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Phase 2 · 7주 [진행 중]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697479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시제품 6대로 디바이스→LTE-M→LRS→AI→대시보드 30회+ 시나리오 스트레스 테스트,
Warning 미복귀 시 Emergency 격상 로직 무결성 검증 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9624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Phase 2 · 8~11주 [예정]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867911"/>
            <a:ext cx="8046720" cy="465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6가족 모집·1:1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단말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매칭·사전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en-US" sz="1150" b="0" dirty="0">
                <a:solidFill>
                  <a:srgbClr val="212A21"/>
                </a:solidFill>
                <a:latin typeface="맑은 고딕"/>
                <a:ea typeface="맑은 고딕"/>
              </a:rPr>
              <a:t>CSI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12문항 → 4주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필드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실사용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,
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실제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배회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경로·기습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외출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데이터를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AI에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피딩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,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오경보율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개선</a:t>
            </a:r>
            <a:endParaRPr sz="115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5020056"/>
            <a:ext cx="2743200" cy="96012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Phase 2 · 12주 → [예정]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038344"/>
            <a:ext cx="8046720" cy="465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사후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en-US" sz="1150" dirty="0">
                <a:solidFill>
                  <a:srgbClr val="212A21"/>
                </a:solidFill>
                <a:latin typeface="맑은 고딕"/>
                <a:ea typeface="맑은 고딕"/>
              </a:rPr>
              <a:t>CSI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재시행·변화량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정량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분석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,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최종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보고서·일문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/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영문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가이드북·시연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영상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,
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한·일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사업화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계획서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—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이후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6개월 내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제품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출시</a:t>
            </a:r>
            <a:endParaRPr sz="115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A4. 핵심 기술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기술 선택마다 '왜'가 있는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초저전력</a:t>
            </a: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 HW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ESP32-</a:t>
            </a:r>
            <a:r>
              <a:rPr lang="en-US" sz="1150" b="0" dirty="0">
                <a:solidFill>
                  <a:srgbClr val="212A21"/>
                </a:solidFill>
                <a:latin typeface="맑은 고딕"/>
                <a:ea typeface="맑은 고딕"/>
              </a:rPr>
              <a:t>C5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Deep Sleep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커널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최적화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+ LTE-M(Cat-M1),
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대기전류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~2mA → 1회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충전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6개월~1년.
GPS NEO-7M,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실리콘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/TPU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스트랩</a:t>
            </a:r>
            <a:endParaRPr sz="115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1508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F6DB5"/>
                </a:solidFill>
                <a:latin typeface="맑은 고딕"/>
                <a:ea typeface="맑은 고딕"/>
              </a:rPr>
              <a:t>xAPI 국제표준 · LRS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Raw 값을 Actor-Verb-Object Statement로 정규화,
Spring Boot 파서 + LRS DB. 이종 스마트홈 센서·기관
시스템과 연동 가능한 개방형 데이터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8A013"/>
                </a:solidFill>
                <a:latin typeface="맑은 고딕"/>
                <a:ea typeface="맑은 고딕"/>
              </a:rPr>
              <a:t>AI 개인화 위험점수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고정 임계값의 오탐/미탐을 개인 베이스라인 학습으로 해결.
룰 기반 + 경량 ML 하이브리드 — 지오펜스 이탈보다
약 10분 선행 Warning으로 골든타임 확보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단말 자율 상태머신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판정·에스컬레이션·SMS가 단말 내부 완결.
5/30분 타이머 영속화(재시작에도 유지), FGS 이중 폴백,
다중 WiFi 프로필·시간 무결성 자가 치유(NTP)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A5. 데이터 흐름도 (DFD)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Raw → xAPI Statement → AI 판정 → 사전 예방 알림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센서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자이로·가속도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WiFi 상태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SSID/BSSID/신호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GPS/LTE-M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좌표·정확도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SFC (BLE)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설정·안전구역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743200"/>
            <a:ext cx="2743200" cy="1554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단말 텔레메트리 서비스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안전구역 판정 · 이탈 타이머
경고/긴급 에스컬레이션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512064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667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12A21"/>
                </a:solidFill>
                <a:latin typeface="맑은 고딕"/>
                <a:ea typeface="맑은 고딕"/>
              </a:rPr>
              <a:t>로컬 저장소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67066"/>
                </a:solidFill>
                <a:latin typeface="맑은 고딕"/>
                <a:ea typeface="맑은 고딕"/>
              </a:rPr>
              <a:t>타이머·구역 상태 영속화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보호자 휴대폰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SMS 수신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10896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LRS 서버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E9F2DC"/>
                </a:solidFill>
                <a:latin typeface="맑은 고딕"/>
                <a:ea typeface="맑은 고딕"/>
              </a:rPr>
              <a:t>xAPI 변환 · AI 위험점수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310896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실시간 팝업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572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SFC 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60초 폴링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2103120"/>
            <a:ext cx="1051560" cy="91440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3200400"/>
            <a:ext cx="914400" cy="18288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31720" y="3840480"/>
            <a:ext cx="1051560" cy="45720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31720" y="4343400"/>
            <a:ext cx="1143000" cy="1005840"/>
          </a:xfrm>
          <a:prstGeom prst="line">
            <a:avLst/>
          </a:prstGeom>
          <a:ln w="22225">
            <a:solidFill>
              <a:srgbClr val="2F6DB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48840" y="4709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2F6DB5"/>
                </a:solidFill>
                <a:latin typeface="맑은 고딕"/>
                <a:ea typeface="맑은 고딕"/>
              </a:rPr>
              <a:t>프로비저닝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63440" y="4343400"/>
            <a:ext cx="0" cy="73152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80760" y="2148840"/>
            <a:ext cx="1188720" cy="91440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0" y="22402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C0392B"/>
                </a:solidFill>
                <a:latin typeface="맑은 고딕"/>
                <a:ea typeface="맑은 고딕"/>
              </a:rPr>
              <a:t>긴급 SMS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080760" y="3493008"/>
            <a:ext cx="1188720" cy="27432"/>
          </a:xfrm>
          <a:prstGeom prst="line">
            <a:avLst/>
          </a:prstGeom>
          <a:ln w="25400">
            <a:solidFill>
              <a:srgbClr val="2C5F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0" y="36118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C5F2D"/>
                </a:solidFill>
                <a:latin typeface="맑은 고딕"/>
                <a:ea typeface="맑은 고딕"/>
              </a:rPr>
              <a:t>60초 보고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4040" y="3493008"/>
            <a:ext cx="548640" cy="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366760" y="3931920"/>
            <a:ext cx="0" cy="594360"/>
          </a:xfrm>
          <a:prstGeom prst="line">
            <a:avLst/>
          </a:prstGeom>
          <a:ln w="22225">
            <a:solidFill>
              <a:srgbClr val="2F6DB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651760" y="617220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텔레메트리 스키마: deviceId · seq · eventType · locationType · inSafeZone · battery · signal · deviceStatus · verb · gyro[10] · lat/lng</a:t>
            </a:r>
          </a:p>
        </p:txBody>
      </p:sp>
      <p:sp>
        <p:nvSpPr>
          <p:cNvPr id="27" name="Rounded Rectangle 26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A6. 구현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완료된 구현 항목 (6주차 기준)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SFD —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어르신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</a:rPr>
              <a:t>단말</a:t>
            </a:r>
            <a:endParaRPr sz="125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03320" y="1481328"/>
            <a:ext cx="7863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WiFi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/GPS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복합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안전구역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+ 2분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유예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· 5/30분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에스컬레이션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·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한글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SMS(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이름·구역명·지도링크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멀티파트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)
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에스컬레이션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상태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영속화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(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재시작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유지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) · Foreground Service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이중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폴백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·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재부팅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/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업데이트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자동</a:t>
            </a:r>
            <a:r>
              <a:rPr sz="11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212A21"/>
                </a:solidFill>
                <a:latin typeface="맑은 고딕"/>
                <a:ea typeface="맑은 고딕"/>
              </a:rPr>
              <a:t>복구</a:t>
            </a:r>
            <a:endParaRPr sz="11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670048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SFC — 보호자 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688336"/>
            <a:ext cx="7863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BLE 프로비저닝(20바이트 청크) · 안전구역/보호자 CRUD · 60초 폴링 대시보드(정상/주의/긴급 한글 표기)
백그라운드 BLE 모니터 FGS 승격 + SERVICE_UUID 스캔 필터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77056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SFW — 워치 단말 (Wear 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895344"/>
            <a:ext cx="7863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SFD와 동일 텔레메트리·판정 루프 포트 · SMS 미지원 기기 자동 폴백 · 등록 완료 시 자동 기동
청크 조립 버그 2건(한글 깨짐·버퍼 리셋) 수정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84064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서버 ·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102352"/>
            <a:ext cx="7863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Spring Boot xAPI 파서 · LRS DB 적재 · 이력 조회/페이징 API · React 반응형 웹 · WebSocket/SSE 실시간 팝업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A7. 실측 로그 — 실제 발송 문자 전문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2026-07-04 Galaxy S24 Ultra · 서버 sf-api.ese-lab.com 교차 검증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1" y="1554481"/>
            <a:ext cx="3852192" cy="859896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dirty="0" err="1">
                <a:solidFill>
                  <a:srgbClr val="2C5F2D"/>
                </a:solidFill>
                <a:latin typeface="맑은 고딕"/>
                <a:ea typeface="맑은 고딕"/>
              </a:rPr>
              <a:t>이탈</a:t>
            </a:r>
            <a:r>
              <a:rPr sz="1000" b="1" dirty="0">
                <a:solidFill>
                  <a:srgbClr val="2C5F2D"/>
                </a:solidFill>
                <a:latin typeface="맑은 고딕"/>
                <a:ea typeface="맑은 고딕"/>
              </a:rPr>
              <a:t> (</a:t>
            </a:r>
            <a:r>
              <a:rPr lang="en-US" sz="1000" b="1" dirty="0">
                <a:solidFill>
                  <a:srgbClr val="2C5F2D"/>
                </a:solidFill>
                <a:latin typeface="맑은 고딕"/>
                <a:ea typeface="맑은 고딕"/>
              </a:rPr>
              <a:t>00</a:t>
            </a:r>
            <a:r>
              <a:rPr sz="1000" b="1" dirty="0">
                <a:solidFill>
                  <a:srgbClr val="2C5F2D"/>
                </a:solidFill>
                <a:latin typeface="맑은 고딕"/>
                <a:ea typeface="맑은 고딕"/>
              </a:rPr>
              <a:t>:</a:t>
            </a:r>
            <a:r>
              <a:rPr lang="en-US" sz="1000" b="1" dirty="0">
                <a:solidFill>
                  <a:srgbClr val="2C5F2D"/>
                </a:solidFill>
                <a:latin typeface="맑은 고딕"/>
                <a:ea typeface="맑은 고딕"/>
              </a:rPr>
              <a:t>00</a:t>
            </a:r>
            <a:r>
              <a:rPr sz="1000" b="1" dirty="0">
                <a:solidFill>
                  <a:srgbClr val="2C5F2D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[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SafeFinder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]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아버님이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안전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구역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집을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벗어났습니다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.
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현재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위치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: https://maps.google.com/?q=37.44530,126.89930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7019" y="2699030"/>
            <a:ext cx="3795436" cy="94807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dirty="0" err="1">
                <a:solidFill>
                  <a:srgbClr val="E8A013"/>
                </a:solidFill>
                <a:latin typeface="맑은 고딕"/>
                <a:ea typeface="맑은 고딕"/>
              </a:rPr>
              <a:t>주의</a:t>
            </a:r>
            <a:r>
              <a:rPr sz="1000" b="1" dirty="0">
                <a:solidFill>
                  <a:srgbClr val="E8A013"/>
                </a:solidFill>
                <a:latin typeface="맑은 고딕"/>
                <a:ea typeface="맑은 고딕"/>
              </a:rPr>
              <a:t> (+5분)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[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SafeFinder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]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주의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: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아버님이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안전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구역을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벗어난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지
5분이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넘어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관심이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필요합니다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.
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현재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위치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: (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지도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링크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089" y="3840930"/>
            <a:ext cx="3852192" cy="1060907"/>
          </a:xfrm>
          <a:prstGeom prst="roundRect">
            <a:avLst>
              <a:gd name="adj" fmla="val 12000"/>
            </a:avLst>
          </a:prstGeom>
          <a:solidFill>
            <a:srgbClr val="FB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dirty="0">
                <a:solidFill>
                  <a:srgbClr val="C0392B"/>
                </a:solidFill>
                <a:latin typeface="맑은 고딕"/>
                <a:ea typeface="맑은 고딕"/>
              </a:rPr>
              <a:t>SOS (+30분)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[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SafeFinder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] SOS: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아버님이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안전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구역을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벗어난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지
30분이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지났습니다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.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지금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바로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위치를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확인해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주세요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.
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현재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위치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: (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지도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링크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) —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서버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EMERGENCY 60초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반복</a:t>
            </a:r>
            <a:endParaRPr sz="10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4089" y="5074270"/>
            <a:ext cx="3776744" cy="826537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dirty="0" err="1">
                <a:solidFill>
                  <a:srgbClr val="2F6DB5"/>
                </a:solidFill>
                <a:latin typeface="맑은 고딕"/>
                <a:ea typeface="맑은 고딕"/>
              </a:rPr>
              <a:t>복귀</a:t>
            </a:r>
            <a:endParaRPr sz="1000" b="1" dirty="0">
              <a:solidFill>
                <a:srgbClr val="2F6DB5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[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SafeFinder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]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아버님이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안전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구역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집에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들어가셨습니다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.
— SOS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반복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자동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중단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,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타이머</a:t>
            </a:r>
            <a:r>
              <a:rPr sz="10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212A21"/>
                </a:solidFill>
                <a:latin typeface="맑은 고딕"/>
                <a:ea typeface="맑은 고딕"/>
              </a:rPr>
              <a:t>초기화</a:t>
            </a:r>
            <a:endParaRPr sz="10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9" name="Rounded Rectangle 8">
            <a:hlinkClick r:id="rId2" action="ppaction://hlinksldjump"/>
          </p:cNvPr>
          <p:cNvSpPr/>
          <p:nvPr/>
        </p:nvSpPr>
        <p:spPr>
          <a:xfrm>
            <a:off x="624089" y="6206206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86AA7F-5184-C400-C806-59876880E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480" y="1456959"/>
            <a:ext cx="2200589" cy="4767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F36581-E819-871B-924E-D87D6420A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132" y="1456956"/>
            <a:ext cx="2200589" cy="47679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A8. 실증·사업화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2F6DB5"/>
                </a:solidFill>
                <a:latin typeface="맑은 고딕"/>
                <a:ea typeface="맑은 고딕"/>
              </a:rPr>
              <a:t>실증</a:t>
            </a:r>
            <a:r>
              <a:rPr sz="1500" b="1" dirty="0">
                <a:solidFill>
                  <a:srgbClr val="2F6DB5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2F6DB5"/>
                </a:solidFill>
                <a:latin typeface="맑은 고딕"/>
                <a:ea typeface="맑은 고딕"/>
              </a:rPr>
              <a:t>설계</a:t>
            </a:r>
            <a:endParaRPr sz="1500" b="1" dirty="0">
              <a:solidFill>
                <a:srgbClr val="2F6DB5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• 7주: 30회+ 전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구간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업링크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스트레스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테스트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+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격상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로직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검증</a:t>
            </a:r>
            <a:endParaRPr sz="12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• 8주: 6가족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모집·단말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매칭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사전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en-US" sz="1200" b="0" dirty="0">
                <a:solidFill>
                  <a:srgbClr val="212A21"/>
                </a:solidFill>
                <a:latin typeface="맑은 고딕"/>
                <a:ea typeface="맑은 고딕"/>
              </a:rPr>
              <a:t>CSI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12문항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설문</a:t>
            </a:r>
            <a:endParaRPr sz="12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• 9~11주: 4주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필드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실제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배회·기습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외출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데이터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AI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피딩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,
 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오경보율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(False Alarm)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지속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개선</a:t>
            </a:r>
            <a:endParaRPr sz="1200" b="0" dirty="0">
              <a:solidFill>
                <a:srgbClr val="212A21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• 12주: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사후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en-US" sz="1200" b="0" dirty="0">
                <a:solidFill>
                  <a:srgbClr val="212A21"/>
                </a:solidFill>
                <a:latin typeface="맑은 고딕"/>
                <a:ea typeface="맑은 고딕"/>
              </a:rPr>
              <a:t>CSI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변화량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교차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분석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—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부담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경감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통계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입증</a:t>
            </a:r>
            <a:endParaRPr sz="12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C5F2D"/>
                </a:solidFill>
                <a:latin typeface="맑은 고딕"/>
                <a:ea typeface="맑은 고딕"/>
              </a:rPr>
              <a:t>사회·경제 효과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10% 예방 시 한·일 연 3,300건 / 20% 보급 시 6,700건+ 차단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일본 비공식 돌봄비용 연 6.16조 엔 경감 대상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경찰·소방 수색비 절감, 실종 안전문자 행정 피로(5년새 7배) 경감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• 다중 가족 공유로 독점 돌봄 노동 분산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사업화</a:t>
            </a: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로드맵</a:t>
            </a:r>
            <a:endParaRPr sz="1500" b="1" dirty="0">
              <a:solidFill>
                <a:srgbClr val="2C5F2D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12주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종료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→ 6개월 내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출시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 ·  </a:t>
            </a:r>
            <a:r>
              <a:rPr lang="en-US" sz="1250" b="0" dirty="0">
                <a:solidFill>
                  <a:srgbClr val="212A21"/>
                </a:solidFill>
                <a:latin typeface="맑은 고딕"/>
                <a:ea typeface="맑은 고딕"/>
              </a:rPr>
              <a:t>CSI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정량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데이터로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제5차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치매관리종합계획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(2026~2030)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정합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— B2G·지자체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돌봄사업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진입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
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일본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우선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진출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(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일문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가이드북·현지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경험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보유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) →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독일·중국·대만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실버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헬스케어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확장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 · 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xAPI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개방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표준으로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이종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기기·기관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생태계</a:t>
            </a:r>
            <a:r>
              <a:rPr sz="12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50" b="0" dirty="0" err="1">
                <a:solidFill>
                  <a:srgbClr val="212A21"/>
                </a:solidFill>
                <a:latin typeface="맑은 고딕"/>
                <a:ea typeface="맑은 고딕"/>
              </a:rPr>
              <a:t>연동</a:t>
            </a:r>
            <a:endParaRPr sz="125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A9. 팀 역할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4068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방효식 (</a:t>
            </a:r>
            <a:r>
              <a:rPr sz="1500" b="1" dirty="0" err="1">
                <a:solidFill>
                  <a:srgbClr val="2C5F2D"/>
                </a:solidFill>
                <a:latin typeface="맑은 고딕"/>
                <a:ea typeface="맑은 고딕"/>
              </a:rPr>
              <a:t>팀장</a:t>
            </a:r>
            <a:r>
              <a:rPr sz="1500" b="1" dirty="0">
                <a:solidFill>
                  <a:srgbClr val="2C5F2D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dirty="0" err="1">
                <a:solidFill>
                  <a:srgbClr val="667066"/>
                </a:solidFill>
                <a:latin typeface="맑은 고딕"/>
                <a:ea typeface="맑은 고딕"/>
              </a:rPr>
              <a:t>삼성전자</a:t>
            </a:r>
            <a:r>
              <a:rPr sz="1050" b="0" dirty="0">
                <a:solidFill>
                  <a:srgbClr val="667066"/>
                </a:solidFill>
                <a:latin typeface="맑은 고딕"/>
                <a:ea typeface="맑은 고딕"/>
              </a:rPr>
              <a:t> Principal Engineer · 24년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시스템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아키텍처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총괄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— </a:t>
            </a:r>
            <a:r>
              <a:rPr lang="ko-KR" altLang="en-US" sz="1200" dirty="0">
                <a:solidFill>
                  <a:srgbClr val="212A21"/>
                </a:solidFill>
                <a:latin typeface="맑은 고딕"/>
                <a:ea typeface="맑은 고딕"/>
              </a:rPr>
              <a:t>보호자용 </a:t>
            </a:r>
            <a:r>
              <a:rPr lang="en-US" sz="1200" b="0" dirty="0">
                <a:solidFill>
                  <a:srgbClr val="212A21"/>
                </a:solidFill>
                <a:latin typeface="맑은 고딕"/>
                <a:ea typeface="맑은 고딕"/>
              </a:rPr>
              <a:t>Phone App </a:t>
            </a:r>
            <a:r>
              <a:rPr lang="ko-KR" altLang="en-US" sz="1200" b="0" dirty="0">
                <a:solidFill>
                  <a:srgbClr val="212A21"/>
                </a:solidFill>
                <a:latin typeface="맑은 고딕"/>
                <a:ea typeface="맑은 고딕"/>
              </a:rPr>
              <a:t>구현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
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단말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상태머신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전체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기술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조율</a:t>
            </a:r>
            <a:endParaRPr sz="12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44068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dirty="0" err="1">
                <a:solidFill>
                  <a:srgbClr val="2F6DB5"/>
                </a:solidFill>
                <a:latin typeface="맑은 고딕"/>
                <a:ea typeface="맑은 고딕"/>
              </a:rPr>
              <a:t>이동엽</a:t>
            </a:r>
            <a:endParaRPr sz="1500" b="1" dirty="0">
              <a:solidFill>
                <a:srgbClr val="2F6DB5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dirty="0" err="1">
                <a:solidFill>
                  <a:srgbClr val="667066"/>
                </a:solidFill>
                <a:latin typeface="맑은 고딕"/>
                <a:ea typeface="맑은 고딕"/>
              </a:rPr>
              <a:t>풀스택</a:t>
            </a:r>
            <a:r>
              <a:rPr sz="1050" b="0" dirty="0">
                <a:solidFill>
                  <a:srgbClr val="667066"/>
                </a:solidFill>
                <a:latin typeface="맑은 고딕"/>
                <a:ea typeface="맑은 고딕"/>
              </a:rPr>
              <a:t> 7년 · </a:t>
            </a:r>
            <a:r>
              <a:rPr sz="1050" b="0" dirty="0" err="1">
                <a:solidFill>
                  <a:srgbClr val="667066"/>
                </a:solidFill>
                <a:latin typeface="맑은 고딕"/>
                <a:ea typeface="맑은 고딕"/>
              </a:rPr>
              <a:t>일본시장</a:t>
            </a:r>
            <a:r>
              <a:rPr sz="10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667066"/>
                </a:solidFill>
                <a:latin typeface="맑은 고딕"/>
                <a:ea typeface="맑은 고딕"/>
              </a:rPr>
              <a:t>경험</a:t>
            </a:r>
            <a:endParaRPr sz="1050" b="0" dirty="0">
              <a:solidFill>
                <a:srgbClr val="667066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서버·웹·기획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— Spring Boot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xAPI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파서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/LRS, React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대시보드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,
</a:t>
            </a:r>
            <a:r>
              <a:rPr lang="en-US" sz="1200" dirty="0">
                <a:solidFill>
                  <a:srgbClr val="212A21"/>
                </a:solidFill>
                <a:latin typeface="맑은 고딕"/>
                <a:ea typeface="맑은 고딕"/>
              </a:rPr>
              <a:t>CSI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설문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모듈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일본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시장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조사</a:t>
            </a:r>
            <a:endParaRPr sz="12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3474720"/>
            <a:ext cx="544068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dirty="0" err="1">
                <a:solidFill>
                  <a:srgbClr val="E8A013"/>
                </a:solidFill>
                <a:latin typeface="맑은 고딕"/>
                <a:ea typeface="맑은 고딕"/>
              </a:rPr>
              <a:t>정영호</a:t>
            </a:r>
            <a:endParaRPr sz="1500" b="1" dirty="0">
              <a:solidFill>
                <a:srgbClr val="E8A013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 dirty="0" err="1">
                <a:solidFill>
                  <a:srgbClr val="667066"/>
                </a:solidFill>
                <a:latin typeface="맑은 고딕"/>
                <a:ea typeface="맑은 고딕"/>
              </a:rPr>
              <a:t>삼성</a:t>
            </a:r>
            <a:r>
              <a:rPr sz="10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667066"/>
                </a:solidFill>
                <a:latin typeface="맑은 고딕"/>
                <a:ea typeface="맑은 고딕"/>
              </a:rPr>
              <a:t>시스템</a:t>
            </a:r>
            <a:r>
              <a:rPr sz="1050" b="0" dirty="0">
                <a:solidFill>
                  <a:srgbClr val="667066"/>
                </a:solidFill>
                <a:latin typeface="맑은 고딕"/>
                <a:ea typeface="맑은 고딕"/>
              </a:rPr>
              <a:t> </a:t>
            </a:r>
            <a:r>
              <a:rPr sz="1050" b="0" dirty="0" err="1">
                <a:solidFill>
                  <a:srgbClr val="667066"/>
                </a:solidFill>
                <a:latin typeface="맑은 고딕"/>
                <a:ea typeface="맑은 고딕"/>
              </a:rPr>
              <a:t>개발</a:t>
            </a:r>
            <a:r>
              <a:rPr sz="1050" b="0" dirty="0">
                <a:solidFill>
                  <a:srgbClr val="667066"/>
                </a:solidFill>
                <a:latin typeface="맑은 고딕"/>
                <a:ea typeface="맑은 고딕"/>
              </a:rPr>
              <a:t> 30년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212A21"/>
                </a:solidFill>
                <a:latin typeface="맑은 고딕"/>
                <a:ea typeface="맑은 고딕"/>
              </a:rPr>
              <a:t>Device FW , HW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회로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배선</a:t>
            </a:r>
            <a:r>
              <a:rPr lang="en-US" sz="1200" b="0" dirty="0">
                <a:solidFill>
                  <a:srgbClr val="212A21"/>
                </a:solidFill>
                <a:latin typeface="맑은 고딕"/>
                <a:ea typeface="맑은 고딕"/>
              </a:rPr>
              <a:t> ,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단말-서버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데이터</a:t>
            </a:r>
            <a:r>
              <a:rPr sz="120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212A21"/>
                </a:solidFill>
                <a:latin typeface="맑은 고딕"/>
                <a:ea typeface="맑은 고딕"/>
              </a:rPr>
              <a:t>정합</a:t>
            </a:r>
            <a:endParaRPr sz="120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3474720"/>
            <a:ext cx="544068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이광열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삼성전자 Principal Engineer · 32년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HW·PCB·기구 설계 — 회로도, 저전력 부품 매핑,
워치 케이스·스트랩 패키징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협업 구조: 2주차 xAPI 규격 선확정(표준 우선 설계) → HW·FW·서버·웹 4개 영역 병렬 개발  ·  주차별 WBS 담당자-업무 매칭  ·  6주차 중간 게이트 전원 참여 통합 점검 통과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A10. JSON 데이터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단말(Device) — Mobile App — LRS DB 통신 표준 모델 (중간보고서 별첨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① 프로비저닝 Config (SFC → 단말, BLE)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566160" cy="4434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212A21"/>
                </a:solidFill>
                <a:latin typeface="Courier New"/>
                <a:ea typeface="맑은 고딕"/>
              </a:rPr>
              <a:t>{
  "deviceId": "SF-000123",
  "elderName": "홍길동",
  "elderId": "ELD-X1Y2Z3X4",
  "guardian": {
    "name": "홍보호자",
    "phone": "010-...."
  },
  "safeZones": [{
    "zoneId": "SF-320204",
    "zoneType": "WIFI",
    "name": "집",
    "bssid": "a4:5e:60:11:22:33",
    "ssid": "HomeWiFi",
    "enabled": true
  }]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② 텔레메트리 업링크 (단말 → 서버, 60초)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66160" cy="4434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212A21"/>
                </a:solidFill>
                <a:latin typeface="Courier New"/>
                <a:ea typeface="맑은 고딕"/>
              </a:rPr>
              <a:t>{
  "deviceId": "SF-000001",
  "fwVersion": "1.2.0",
  "sentAt": "...",
  "readings": [{
    "seq": 12290,
    "eventType": "PERIODIC",
    "locationType": "WIFI",
    "inSafeZone": true,
    "battery": 56, "signal": -68,
    "deviceStatus": "NORMAL",
    "verb": "stayed",
    "gyro": { "intervalMs": 60000,
      "data": [{ "offsetMs": 0,
        "gyX": 0.12, "gyY": -0.34,
        "gyZ": 0.05 }] }
  }]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③ 로그 조회 응답 (서버 → 보호자 앱)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965960"/>
            <a:ext cx="3566160" cy="4434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50" b="0">
                <a:solidFill>
                  <a:srgbClr val="212A21"/>
                </a:solidFill>
                <a:latin typeface="Courier New"/>
                <a:ea typeface="맑은 고딕"/>
              </a:rPr>
              <a:t>{
  "success": true,
  "data": {
    "deviceId": "SF-A1B2C3D4",
    "logs": [{
      "eventTimestamp": "...",
      "eventType": "SAFE",
      "locationType": "WIFI",
      "inSafeZone": true,
      "battery": 56,
      "lat": 37.5665,
      "lng": 126.9780,
      "verb": "stayed"
    }],
    "page": 0, "size": 20,
    "hasNext": true
  }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6473952"/>
            <a:ext cx="9326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67066"/>
                </a:solidFill>
                <a:latin typeface="맑은 고딕"/>
                <a:ea typeface="맑은 고딕"/>
              </a:rPr>
              <a:t>xAPI Statement(Actor-Verb-Object)로 정규화되어 LRS에 적재 — 어떤 제조사·시설 데이터와도 하나의 저장소에 쌓임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A11. 하드웨어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1회 충전 6개월~1년을 만드는 부품 선정과 설계 (중간보고서 5장)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ESP32-</a:t>
            </a:r>
            <a:r>
              <a:rPr lang="en-US" sz="1400" b="1" dirty="0">
                <a:solidFill>
                  <a:srgbClr val="2C5F2D"/>
                </a:solidFill>
                <a:latin typeface="맑은 고딕"/>
                <a:ea typeface="맑은 고딕"/>
              </a:rPr>
              <a:t>C</a:t>
            </a:r>
            <a:r>
              <a:rPr lang="en-US" altLang="ko-KR" sz="1400" b="1" dirty="0">
                <a:solidFill>
                  <a:srgbClr val="2C5F2D"/>
                </a:solidFill>
                <a:latin typeface="맑은 고딕"/>
                <a:ea typeface="맑은 고딕"/>
              </a:rPr>
              <a:t>5</a:t>
            </a:r>
            <a:r>
              <a:rPr sz="1400" b="1" dirty="0">
                <a:solidFill>
                  <a:srgbClr val="2C5F2D"/>
                </a:solidFill>
                <a:latin typeface="맑은 고딕"/>
                <a:ea typeface="맑은 고딕"/>
              </a:rPr>
              <a:t> (MCU)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듀얼코어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·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초저전력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Deep Sleep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커널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제어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,
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WiFi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 </a:t>
            </a:r>
            <a:r>
              <a:rPr lang="en-US" sz="1150" b="0" dirty="0">
                <a:solidFill>
                  <a:srgbClr val="212A21"/>
                </a:solidFill>
                <a:latin typeface="맑은 고딕"/>
                <a:ea typeface="맑은 고딕"/>
              </a:rPr>
              <a:t>5G</a:t>
            </a:r>
            <a:r>
              <a:rPr sz="1150" b="0" dirty="0">
                <a:solidFill>
                  <a:srgbClr val="212A21"/>
                </a:solidFill>
                <a:latin typeface="맑은 고딕"/>
                <a:ea typeface="맑은 고딕"/>
              </a:rPr>
              <a:t>+ BLE </a:t>
            </a:r>
            <a:r>
              <a:rPr sz="1150" b="0" dirty="0" err="1">
                <a:solidFill>
                  <a:srgbClr val="212A21"/>
                </a:solidFill>
                <a:latin typeface="맑은 고딕"/>
                <a:ea typeface="맑은 고딕"/>
              </a:rPr>
              <a:t>오케스트레이션</a:t>
            </a:r>
            <a:endParaRPr sz="1150" b="0" dirty="0">
              <a:solidFill>
                <a:srgbClr val="212A21"/>
              </a:solidFill>
              <a:latin typeface="맑은 고딕"/>
              <a:ea typeface="맑은 고딕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2F6DB5"/>
                </a:solidFill>
                <a:latin typeface="맑은 고딕"/>
                <a:ea typeface="맑은 고딕"/>
              </a:rPr>
              <a:t>NEO-7M (GPS/GNSS)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실외 위치 측위 모듈 —
이탈 시 좌표 스트리밍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E8A013"/>
                </a:solidFill>
                <a:latin typeface="맑은 고딕"/>
                <a:ea typeface="맑은 고딕"/>
              </a:rPr>
              <a:t>LTE-M (Cat-M1)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저전력 광대역 셀룰러 —
WiFi 밖 어디서나 단독 통신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03320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  <a:ea typeface="맑은 고딕"/>
              </a:rPr>
              <a:t>전원 관리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배터리 전압 분배 회로 튜닝,
대기전류 ~2mA · 가변 주기 구동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703320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667066"/>
                </a:solidFill>
                <a:latin typeface="맑은 고딕"/>
                <a:ea typeface="맑은 고딕"/>
              </a:rPr>
              <a:t>비상 버튼 + 기구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전면 하드웨어 SOS 버튼,
실리콘/TPU 스트랩 · 라운드 케이스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703320"/>
            <a:ext cx="3566160" cy="1874519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212A21"/>
                </a:solidFill>
                <a:latin typeface="맑은 고딕"/>
                <a:ea typeface="맑은 고딕"/>
              </a:rPr>
              <a:t>무선 공존 · OTA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WiFi/BLE 시분할 공존(레이스 컨디션 방어),
원격 펌웨어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시제품 6대 제작·패키징 — 하드웨어 설계 총괄 이광열 (삼성전자 PE·32년), 회로 배선 정영호 (삼성 시스템 30년)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A12. 왜 규칙이 아닌 AI인가 — 근거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개인차 문제와 사전예측 효과 (share-doc 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근거 1 · 개인화 — 고정 임계값 하나로는 두 어르신을 동시에 만족 못함</a:t>
            </a:r>
          </a:p>
        </p:txBody>
      </p:sp>
      <p:pic>
        <p:nvPicPr>
          <p:cNvPr id="5" name="Picture 4" descr="chart_personal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486400" cy="2228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16052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• 활발형 — 고정 임계 적용 시 정상 활동인데도 하루 3~4회 오탐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• 정주형 — 같은 임계로는 이례적 외출(위험 신호)을 놓침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C5F2D"/>
                </a:solidFill>
                <a:latin typeface="맑은 고딕"/>
                <a:ea typeface="맑은 고딕"/>
              </a:rPr>
              <a:t>• AI가 각자의 정상 범위를 학습해 임계값을 자동 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근거 2 · 사전예측 — Warning은 실제 이탈보다 먼저 뜬다</a:t>
            </a:r>
          </a:p>
        </p:txBody>
      </p:sp>
      <p:pic>
        <p:nvPicPr>
          <p:cNvPr id="8" name="Picture 7" descr="chart_pre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486400" cy="2228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160520"/>
            <a:ext cx="53949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• 14:15 위험점수 0.68 &gt; 임계 0.65 → Warning (아직 SafeZone 내부)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• 14:25 실제 지오펜스 이탈 (Emergency)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C5F2D"/>
                </a:solidFill>
                <a:latin typeface="맑은 고딕"/>
                <a:ea typeface="맑은 고딕"/>
              </a:rPr>
              <a:t>• 그 사이 +10분 — 보호자가 전화·개입해 사고를 원천 차단</a:t>
            </a:r>
          </a:p>
        </p:txBody>
      </p:sp>
      <p:sp>
        <p:nvSpPr>
          <p:cNvPr id="10" name="Rounded Rectangle 9">
            <a:hlinkClick r:id="rId4" action="ppaction://hlinksldjump"/>
          </p:cNvPr>
          <p:cNvSpPr/>
          <p:nvPr/>
        </p:nvSpPr>
        <p:spPr>
          <a:xfrm>
            <a:off x="548640" y="63550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◂ 본문으로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3239</Words>
  <Application>Microsoft Office PowerPoint</Application>
  <PresentationFormat>Widescreen</PresentationFormat>
  <Paragraphs>344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gg sans</vt:lpstr>
      <vt:lpstr>맑은 고딕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방효식</cp:lastModifiedBy>
  <cp:revision>7</cp:revision>
  <dcterms:created xsi:type="dcterms:W3CDTF">2013-01-27T09:14:16Z</dcterms:created>
  <dcterms:modified xsi:type="dcterms:W3CDTF">2026-07-05T13:47:56Z</dcterms:modified>
  <cp:category/>
</cp:coreProperties>
</file>