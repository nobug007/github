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874519"/>
            <a:ext cx="110578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0E7C86"/>
                </a:solidFill>
                <a:latin typeface="맑은 고딕"/>
              </a:rPr>
              <a:t>치매 어르신 실종 예방 시스템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377440"/>
            <a:ext cx="11057839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800" b="1">
                <a:solidFill>
                  <a:srgbClr val="FFFFFF"/>
                </a:solidFill>
                <a:latin typeface="맑은 고딕"/>
              </a:rPr>
              <a:t>SafeFinder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520440"/>
            <a:ext cx="1105783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0">
                <a:solidFill>
                  <a:srgbClr val="D3E0EA"/>
                </a:solidFill>
                <a:latin typeface="맑은 고딕"/>
              </a:rPr>
              <a:t>복합 안심존 판정과 2단계 자동 경보로,</a:t>
            </a:r>
          </a:p>
          <a:p>
            <a:pPr algn="l">
              <a:lnSpc>
                <a:spcPct val="135000"/>
              </a:lnSpc>
            </a:pPr>
            <a:r>
              <a:rPr sz="2000" b="1">
                <a:solidFill>
                  <a:srgbClr val="FFFFFF"/>
                </a:solidFill>
                <a:latin typeface="맑은 고딕"/>
              </a:rPr>
              <a:t>이탈을 "찾기 전에" 알린다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4617720"/>
            <a:ext cx="1005840" cy="28575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4892040"/>
            <a:ext cx="1105783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AFC4D4"/>
                </a:solidFill>
                <a:latin typeface="맑은 고딕"/>
              </a:rPr>
              <a:t>보호자 앱 · 태블릿 · 워치 · 전용 단말 4종 + 관제 서버</a:t>
            </a:r>
          </a:p>
          <a:p>
            <a:pPr algn="l">
              <a:lnSpc>
                <a:spcPct val="100000"/>
              </a:lnSpc>
              <a:spcBef>
                <a:spcPts val="600"/>
              </a:spcBef>
            </a:pPr>
            <a:r>
              <a:rPr sz="1300" b="0">
                <a:solidFill>
                  <a:srgbClr val="AFC4D4"/>
                </a:solidFill>
                <a:latin typeface="맑은 고딕"/>
              </a:rPr>
              <a:t>실증 진행 보고서   |   2026년 08월 17일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155448"/>
            <a:ext cx="56692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0E7C86"/>
                </a:solidFill>
                <a:latin typeface="맑은 고딕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" y="146304"/>
            <a:ext cx="1055491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맑은 고딕"/>
              </a:rPr>
              <a:t>목적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" y="502920"/>
            <a:ext cx="1055491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AFC4D4"/>
                </a:solidFill>
                <a:latin typeface="맑은 고딕"/>
              </a:rPr>
              <a:t>무엇을 해결하려 하는가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143000"/>
            <a:ext cx="110578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E2A47"/>
                </a:solidFill>
                <a:latin typeface="맑은 고딕"/>
              </a:rPr>
              <a:t>기존 배회감지기는 이탈한 "뒤에" 찾기 시작한다. SafeFinder는 이탈하는 "순간"을 알린다.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83080"/>
            <a:ext cx="3564026" cy="1600200"/>
          </a:xfrm>
          <a:prstGeom prst="roundRect">
            <a:avLst>
              <a:gd name="adj" fmla="val 6000"/>
            </a:avLst>
          </a:prstGeom>
          <a:solidFill>
            <a:srgbClr val="FDF2F2"/>
          </a:solidFill>
          <a:ln w="12700">
            <a:solidFill>
              <a:srgbClr val="F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938528"/>
            <a:ext cx="316169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>
                <a:solidFill>
                  <a:srgbClr val="B32D2D"/>
                </a:solidFill>
                <a:latin typeface="맑은 고딕"/>
              </a:rPr>
              <a:t>문제 1</a:t>
            </a:r>
          </a:p>
          <a:p>
            <a:pPr algn="l">
              <a:lnSpc>
                <a:spcPct val="125000"/>
              </a:lnSpc>
              <a:spcBef>
                <a:spcPts val="300"/>
              </a:spcBef>
            </a:pPr>
            <a:r>
              <a:rPr sz="1600" b="1">
                <a:solidFill>
                  <a:srgbClr val="0E2A47"/>
                </a:solidFill>
                <a:latin typeface="맑은 고딕"/>
              </a:rPr>
              <a:t>사후 수색</a:t>
            </a:r>
          </a:p>
          <a:p>
            <a:pPr algn="l">
              <a:lnSpc>
                <a:spcPct val="125000"/>
              </a:lnSpc>
              <a:spcBef>
                <a:spcPts val="600"/>
              </a:spcBef>
            </a:pPr>
            <a:r>
              <a:rPr sz="1100" b="0">
                <a:solidFill>
                  <a:srgbClr val="5E6B7A"/>
                </a:solidFill>
                <a:latin typeface="맑은 고딕"/>
              </a:rPr>
              <a:t>안전구역을 완전히 벗어난 뒤에야 대응이 시작되어
골든타임이 이미 소모된다.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3611880"/>
            <a:ext cx="3564026" cy="1691640"/>
          </a:xfrm>
          <a:prstGeom prst="roundRect">
            <a:avLst>
              <a:gd name="adj" fmla="val 6000"/>
            </a:avLst>
          </a:prstGeom>
          <a:solidFill>
            <a:srgbClr val="EFF7F2"/>
          </a:solidFill>
          <a:ln w="12700">
            <a:solidFill>
              <a:srgbClr val="C9E2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3767328"/>
            <a:ext cx="316169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>
                <a:solidFill>
                  <a:srgbClr val="1E7A4B"/>
                </a:solidFill>
                <a:latin typeface="맑은 고딕"/>
              </a:rPr>
              <a:t>해결 1</a:t>
            </a:r>
          </a:p>
          <a:p>
            <a:pPr algn="l">
              <a:lnSpc>
                <a:spcPct val="125000"/>
              </a:lnSpc>
              <a:spcBef>
                <a:spcPts val="300"/>
              </a:spcBef>
            </a:pPr>
            <a:r>
              <a:rPr sz="1600" b="1">
                <a:solidFill>
                  <a:srgbClr val="0E2A47"/>
                </a:solidFill>
                <a:latin typeface="맑은 고딕"/>
              </a:rPr>
              <a:t>2단계 사전 경보</a:t>
            </a:r>
          </a:p>
          <a:p>
            <a:pPr algn="l">
              <a:lnSpc>
                <a:spcPct val="125000"/>
              </a:lnSpc>
              <a:spcBef>
                <a:spcPts val="600"/>
              </a:spcBef>
            </a:pPr>
            <a:r>
              <a:rPr sz="1100" b="0">
                <a:solidFill>
                  <a:srgbClr val="5E6B7A"/>
                </a:solidFill>
                <a:latin typeface="맑은 고딕"/>
              </a:rPr>
              <a:t>이탈 5분 → WARNING, 30분 → SOS.
보호자 문자와 서버 기록이 동시에 나간다.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13834" y="1783080"/>
            <a:ext cx="3564026" cy="1600200"/>
          </a:xfrm>
          <a:prstGeom prst="roundRect">
            <a:avLst>
              <a:gd name="adj" fmla="val 6000"/>
            </a:avLst>
          </a:prstGeom>
          <a:solidFill>
            <a:srgbClr val="FDF2F2"/>
          </a:solidFill>
          <a:ln w="12700">
            <a:solidFill>
              <a:srgbClr val="F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15002" y="1938528"/>
            <a:ext cx="316169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>
                <a:solidFill>
                  <a:srgbClr val="B32D2D"/>
                </a:solidFill>
                <a:latin typeface="맑은 고딕"/>
              </a:rPr>
              <a:t>문제 2</a:t>
            </a:r>
          </a:p>
          <a:p>
            <a:pPr algn="l">
              <a:lnSpc>
                <a:spcPct val="125000"/>
              </a:lnSpc>
              <a:spcBef>
                <a:spcPts val="300"/>
              </a:spcBef>
            </a:pPr>
            <a:r>
              <a:rPr sz="1600" b="1">
                <a:solidFill>
                  <a:srgbClr val="0E2A47"/>
                </a:solidFill>
                <a:latin typeface="맑은 고딕"/>
              </a:rPr>
              <a:t>단일 신호 의존</a:t>
            </a:r>
          </a:p>
          <a:p>
            <a:pPr algn="l">
              <a:lnSpc>
                <a:spcPct val="125000"/>
              </a:lnSpc>
              <a:spcBef>
                <a:spcPts val="600"/>
              </a:spcBef>
            </a:pPr>
            <a:r>
              <a:rPr sz="1100" b="0">
                <a:solidFill>
                  <a:srgbClr val="5E6B7A"/>
                </a:solidFill>
                <a:latin typeface="맑은 고딕"/>
              </a:rPr>
              <a:t>GPS 하나에 의존하면 실내·지하·건물 사이에서
위치가 끊기고 오탐이 발생한다.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13834" y="3611880"/>
            <a:ext cx="3564026" cy="1691640"/>
          </a:xfrm>
          <a:prstGeom prst="roundRect">
            <a:avLst>
              <a:gd name="adj" fmla="val 6000"/>
            </a:avLst>
          </a:prstGeom>
          <a:solidFill>
            <a:srgbClr val="EFF7F2"/>
          </a:solidFill>
          <a:ln w="12700">
            <a:solidFill>
              <a:srgbClr val="C9E2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15002" y="3767328"/>
            <a:ext cx="316169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>
                <a:solidFill>
                  <a:srgbClr val="1E7A4B"/>
                </a:solidFill>
                <a:latin typeface="맑은 고딕"/>
              </a:rPr>
              <a:t>해결 2</a:t>
            </a:r>
          </a:p>
          <a:p>
            <a:pPr algn="l">
              <a:lnSpc>
                <a:spcPct val="125000"/>
              </a:lnSpc>
              <a:spcBef>
                <a:spcPts val="300"/>
              </a:spcBef>
            </a:pPr>
            <a:r>
              <a:rPr sz="1600" b="1">
                <a:solidFill>
                  <a:srgbClr val="0E2A47"/>
                </a:solidFill>
                <a:latin typeface="맑은 고딕"/>
              </a:rPr>
              <a:t>복합 안심존 판정</a:t>
            </a:r>
          </a:p>
          <a:p>
            <a:pPr algn="l">
              <a:lnSpc>
                <a:spcPct val="125000"/>
              </a:lnSpc>
              <a:spcBef>
                <a:spcPts val="600"/>
              </a:spcBef>
            </a:pPr>
            <a:r>
              <a:rPr sz="1100" b="0">
                <a:solidFill>
                  <a:srgbClr val="5E6B7A"/>
                </a:solidFill>
                <a:latin typeface="맑은 고딕"/>
              </a:rPr>
              <a:t>WiFi → 보호자 근접 → GPS 순으로 교차 검증.
한 신호가 끊겨도 위치 판정이 유지된다.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60740" y="1783080"/>
            <a:ext cx="3564026" cy="1600200"/>
          </a:xfrm>
          <a:prstGeom prst="roundRect">
            <a:avLst>
              <a:gd name="adj" fmla="val 6000"/>
            </a:avLst>
          </a:prstGeom>
          <a:solidFill>
            <a:srgbClr val="FDF2F2"/>
          </a:solidFill>
          <a:ln w="12700">
            <a:solidFill>
              <a:srgbClr val="F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61908" y="1938528"/>
            <a:ext cx="316169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>
                <a:solidFill>
                  <a:srgbClr val="B32D2D"/>
                </a:solidFill>
                <a:latin typeface="맑은 고딕"/>
              </a:rPr>
              <a:t>문제 3</a:t>
            </a:r>
          </a:p>
          <a:p>
            <a:pPr algn="l">
              <a:lnSpc>
                <a:spcPct val="125000"/>
              </a:lnSpc>
              <a:spcBef>
                <a:spcPts val="300"/>
              </a:spcBef>
            </a:pPr>
            <a:r>
              <a:rPr sz="1600" b="1">
                <a:solidFill>
                  <a:srgbClr val="0E2A47"/>
                </a:solidFill>
                <a:latin typeface="맑은 고딕"/>
              </a:rPr>
              <a:t>충전 부담</a:t>
            </a:r>
          </a:p>
          <a:p>
            <a:pPr algn="l">
              <a:lnSpc>
                <a:spcPct val="125000"/>
              </a:lnSpc>
              <a:spcBef>
                <a:spcPts val="600"/>
              </a:spcBef>
            </a:pPr>
            <a:r>
              <a:rPr sz="1100" b="0">
                <a:solidFill>
                  <a:srgbClr val="5E6B7A"/>
                </a:solidFill>
                <a:latin typeface="맑은 고딕"/>
              </a:rPr>
              <a:t>매일 충전해야 하는 단말은 정작 필요한 순간
꺼져 있을 확률이 높다.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60740" y="3611880"/>
            <a:ext cx="3564026" cy="1691640"/>
          </a:xfrm>
          <a:prstGeom prst="roundRect">
            <a:avLst>
              <a:gd name="adj" fmla="val 6000"/>
            </a:avLst>
          </a:prstGeom>
          <a:solidFill>
            <a:srgbClr val="EFF7F2"/>
          </a:solidFill>
          <a:ln w="12700">
            <a:solidFill>
              <a:srgbClr val="C9E2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61908" y="3767328"/>
            <a:ext cx="316169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>
                <a:solidFill>
                  <a:srgbClr val="1E7A4B"/>
                </a:solidFill>
                <a:latin typeface="맑은 고딕"/>
              </a:rPr>
              <a:t>해결 3</a:t>
            </a:r>
          </a:p>
          <a:p>
            <a:pPr algn="l">
              <a:lnSpc>
                <a:spcPct val="125000"/>
              </a:lnSpc>
              <a:spcBef>
                <a:spcPts val="300"/>
              </a:spcBef>
            </a:pPr>
            <a:r>
              <a:rPr sz="1600" b="1">
                <a:solidFill>
                  <a:srgbClr val="0E2A47"/>
                </a:solidFill>
                <a:latin typeface="맑은 고딕"/>
              </a:rPr>
              <a:t>실측 기반 전력 설계</a:t>
            </a:r>
          </a:p>
          <a:p>
            <a:pPr algn="l">
              <a:lnSpc>
                <a:spcPct val="125000"/>
              </a:lnSpc>
              <a:spcBef>
                <a:spcPts val="600"/>
              </a:spcBef>
            </a:pPr>
            <a:r>
              <a:rPr sz="1100" b="0">
                <a:solidFill>
                  <a:srgbClr val="5E6B7A"/>
                </a:solidFill>
                <a:latin typeface="맑은 고딕"/>
              </a:rPr>
              <a:t>단말별 소모 전류를 실측해 운용 주기를 정한다.
(부록 4에 실측치 수록)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5486400"/>
            <a:ext cx="11057839" cy="658368"/>
          </a:xfrm>
          <a:prstGeom prst="roundRect">
            <a:avLst>
              <a:gd name="adj" fmla="val 6000"/>
            </a:avLst>
          </a:prstGeom>
          <a:solidFill>
            <a:srgbClr val="E3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5528" y="5641848"/>
            <a:ext cx="106006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E2A47"/>
                </a:solidFill>
                <a:latin typeface="맑은 고딕"/>
              </a:rPr>
              <a:t>서울시 65세 이상 치매환자 166,167명 · 유병률 9.88%  (2023년 기준, 부록 3)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6473952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6B7A"/>
                </a:solidFill>
                <a:latin typeface="맑은 고딕"/>
              </a:rPr>
              <a:t>출처: 서울특별시 치매관련현황 (2023년) — 사용자 제공 원자료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155448"/>
            <a:ext cx="56692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0E7C86"/>
                </a:solidFill>
                <a:latin typeface="맑은 고딕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" y="146304"/>
            <a:ext cx="1055491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맑은 고딕"/>
              </a:rPr>
              <a:t>전체 시스템 아키텍처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" y="502920"/>
            <a:ext cx="1055491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AFC4D4"/>
                </a:solidFill>
                <a:latin typeface="맑은 고딕"/>
              </a:rPr>
              <a:t>4종 단말이 하나의 서버 프로토콜을 공유한다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188720"/>
            <a:ext cx="11057839" cy="1874519"/>
          </a:xfrm>
          <a:prstGeom prst="roundRect">
            <a:avLst>
              <a:gd name="adj" fmla="val 6000"/>
            </a:avLst>
          </a:prstGeom>
          <a:solidFill>
            <a:srgbClr val="F7FAFB"/>
          </a:solidFill>
          <a:ln w="12700">
            <a:solidFill>
              <a:srgbClr val="D4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30759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E7C86"/>
                </a:solidFill>
                <a:latin typeface="맑은 고딕"/>
              </a:rPr>
              <a:t>단말 계층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" y="1645920"/>
            <a:ext cx="2547289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23544" y="1755648"/>
            <a:ext cx="2291257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0E2A47"/>
                </a:solidFill>
                <a:latin typeface="맑은 고딕"/>
              </a:rPr>
              <a:t>SFC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950" b="0">
                <a:solidFill>
                  <a:srgbClr val="0E7C86"/>
                </a:solidFill>
                <a:latin typeface="맑은 고딕"/>
              </a:rPr>
              <a:t>보호자 폰 · com.sf.sfc</a:t>
            </a:r>
          </a:p>
          <a:p>
            <a:pPr algn="l">
              <a:lnSpc>
                <a:spcPct val="120000"/>
              </a:lnSpc>
              <a:spcBef>
                <a:spcPts val="500"/>
              </a:spcBef>
            </a:pPr>
            <a:r>
              <a:rPr sz="950" b="0">
                <a:solidFill>
                  <a:srgbClr val="5E6B7A"/>
                </a:solidFill>
                <a:latin typeface="맑은 고딕"/>
              </a:rPr>
              <a:t>BLE 온보딩 · 대시보드
· 폰 GPS 제공(:8765)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9977" y="1645920"/>
            <a:ext cx="2547289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07993" y="1755648"/>
            <a:ext cx="2291257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0E2A47"/>
                </a:solidFill>
                <a:latin typeface="맑은 고딕"/>
              </a:rPr>
              <a:t>SFD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950" b="0">
                <a:solidFill>
                  <a:srgbClr val="0E7C86"/>
                </a:solidFill>
                <a:latin typeface="맑은 고딕"/>
              </a:rPr>
              <a:t>태블릿 · com.sf.sfd</a:t>
            </a:r>
          </a:p>
          <a:p>
            <a:pPr algn="l">
              <a:lnSpc>
                <a:spcPct val="120000"/>
              </a:lnSpc>
              <a:spcBef>
                <a:spcPts val="500"/>
              </a:spcBef>
            </a:pPr>
            <a:r>
              <a:rPr sz="950" b="0">
                <a:solidFill>
                  <a:srgbClr val="5E6B7A"/>
                </a:solidFill>
                <a:latin typeface="맑은 고딕"/>
              </a:rPr>
              <a:t>안심존 판정 · 이탈 감지
· SMS 경보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64427" y="1645920"/>
            <a:ext cx="2547289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92443" y="1755648"/>
            <a:ext cx="2291257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0E2A47"/>
                </a:solidFill>
                <a:latin typeface="맑은 고딕"/>
              </a:rPr>
              <a:t>SFW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950" b="0">
                <a:solidFill>
                  <a:srgbClr val="0E7C86"/>
                </a:solidFill>
                <a:latin typeface="맑은 고딕"/>
              </a:rPr>
              <a:t>워치 · com.sf.sfw</a:t>
            </a:r>
          </a:p>
          <a:p>
            <a:pPr algn="l">
              <a:lnSpc>
                <a:spcPct val="120000"/>
              </a:lnSpc>
              <a:spcBef>
                <a:spcPts val="500"/>
              </a:spcBef>
            </a:pPr>
            <a:r>
              <a:rPr sz="950" b="0">
                <a:solidFill>
                  <a:srgbClr val="5E6B7A"/>
                </a:solidFill>
                <a:latin typeface="맑은 고딕"/>
              </a:rPr>
              <a:t>착용형 · 동일 판정 로직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48877" y="1645920"/>
            <a:ext cx="2547289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76893" y="1755648"/>
            <a:ext cx="2291257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0E2A47"/>
                </a:solidFill>
                <a:latin typeface="맑은 고딕"/>
              </a:rPr>
              <a:t>SFA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950" b="0">
                <a:solidFill>
                  <a:srgbClr val="0E7C86"/>
                </a:solidFill>
                <a:latin typeface="맑은 고딕"/>
              </a:rPr>
              <a:t>전용 단말 · ESP32-S3 + A7670E</a:t>
            </a:r>
          </a:p>
          <a:p>
            <a:pPr algn="l">
              <a:lnSpc>
                <a:spcPct val="120000"/>
              </a:lnSpc>
              <a:spcBef>
                <a:spcPts val="500"/>
              </a:spcBef>
            </a:pPr>
            <a:r>
              <a:rPr sz="950" b="0">
                <a:solidFill>
                  <a:srgbClr val="5E6B7A"/>
                </a:solidFill>
                <a:latin typeface="맑은 고딕"/>
              </a:rPr>
              <a:t>LTE · GNSS · SMS
(헤드리스)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3154680"/>
            <a:ext cx="1105783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0E7C86"/>
                </a:solidFill>
                <a:latin typeface="맑은 고딕"/>
              </a:rPr>
              <a:t>HTTPS (등록 · 텔레메트리 · 설정 동기화)          ↓↑          BLE (최초 온보딩)   ·   SMS (보호자 직통)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3566160"/>
            <a:ext cx="11057839" cy="1143000"/>
          </a:xfrm>
          <a:prstGeom prst="roundRect">
            <a:avLst>
              <a:gd name="adj" fmla="val 6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3703320"/>
            <a:ext cx="1050919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맑은 고딕"/>
              </a:rPr>
              <a:t>관제 서버   sf-api.ese-lab.com</a:t>
            </a:r>
          </a:p>
          <a:p>
            <a:pPr algn="l">
              <a:lnSpc>
                <a:spcPct val="100000"/>
              </a:lnSpc>
              <a:spcBef>
                <a:spcPts val="500"/>
              </a:spcBef>
            </a:pPr>
            <a:r>
              <a:rPr sz="1150" b="0">
                <a:solidFill>
                  <a:srgbClr val="AFC4D4"/>
                </a:solidFill>
                <a:latin typeface="맑은 고딕"/>
              </a:rPr>
              <a:t>기기 등록 · 텔레메트리 수집 · 안심존/보호자 CRUD · 웹 관제 화면(monitor · track · index)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892040"/>
            <a:ext cx="3564026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4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5010912"/>
            <a:ext cx="323484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>
                <a:solidFill>
                  <a:srgbClr val="0E7C86"/>
                </a:solidFill>
                <a:latin typeface="맑은 고딕"/>
              </a:rPr>
              <a:t>업링크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300" b="1">
                <a:solidFill>
                  <a:srgbClr val="0E2A47"/>
                </a:solidFill>
                <a:latin typeface="맑은 고딕"/>
              </a:rPr>
              <a:t>단말 → 서버</a:t>
            </a:r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sz="900" b="0">
                <a:solidFill>
                  <a:srgbClr val="5E6B7A"/>
                </a:solidFill>
                <a:latin typeface="맑은 고딕"/>
              </a:rPr>
              <a:t>deviceId, fwVersion, seq, timestamp, locationType(WIFI|GPS),
apName, bssid, inSafeZone, safeZoneId, battery, signal,
deviceStatus, eventType, verb, gyro, lat, lng, accuracy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13834" y="4892040"/>
            <a:ext cx="3564026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4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78426" y="5010912"/>
            <a:ext cx="323484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>
                <a:solidFill>
                  <a:srgbClr val="0E7C86"/>
                </a:solidFill>
                <a:latin typeface="맑은 고딕"/>
              </a:rPr>
              <a:t>다운링크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300" b="1">
                <a:solidFill>
                  <a:srgbClr val="0E2A47"/>
                </a:solidFill>
                <a:latin typeface="맑은 고딕"/>
              </a:rPr>
              <a:t>서버 → 단말</a:t>
            </a:r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sz="900" b="0">
                <a:solidFill>
                  <a:srgbClr val="5E6B7A"/>
                </a:solidFill>
                <a:latin typeface="맑은 고딕"/>
              </a:rPr>
              <a:t>안심존 목록(ssid/bssid/apType/enabled), configVersion,
elderId, 보호자 연락처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60740" y="4892040"/>
            <a:ext cx="3564026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4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5332" y="5010912"/>
            <a:ext cx="323484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>
                <a:solidFill>
                  <a:srgbClr val="0E7C86"/>
                </a:solidFill>
                <a:latin typeface="맑은 고딕"/>
              </a:rPr>
              <a:t>직통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300" b="1">
                <a:solidFill>
                  <a:srgbClr val="0E2A47"/>
                </a:solidFill>
                <a:latin typeface="맑은 고딕"/>
              </a:rPr>
              <a:t>단말 → 보호자</a:t>
            </a:r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sz="900" b="0">
                <a:solidFill>
                  <a:srgbClr val="5E6B7A"/>
                </a:solidFill>
                <a:latin typeface="맑은 고딕"/>
              </a:rPr>
              <a:t>WiFi 변경 · 이탈 · WARNING · SOS 문자
(서버를 거치지 않아 망 장애 시에도 도달)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473952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6B7A"/>
                </a:solidFill>
                <a:latin typeface="맑은 고딕"/>
              </a:rPr>
              <a:t>필드명은 실제 전송 페이로드 기준 (SFA/SFD/SFW 공통 스키마)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155448"/>
            <a:ext cx="56692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0E7C86"/>
                </a:solidFill>
                <a:latin typeface="맑은 고딕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" y="146304"/>
            <a:ext cx="1055491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맑은 고딕"/>
              </a:rPr>
              <a:t>보호자 앱(SFC) 기능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" y="502920"/>
            <a:ext cx="1055491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AFC4D4"/>
                </a:solidFill>
                <a:latin typeface="맑은 고딕"/>
              </a:rPr>
              <a:t>보호자가 실제로 보는 화면과 할 수 있는 일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170432"/>
            <a:ext cx="6492240" cy="8595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4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3232" y="1353312"/>
            <a:ext cx="384048" cy="384048"/>
          </a:xfrm>
          <a:prstGeom prst="roundRect">
            <a:avLst>
              <a:gd name="adj" fmla="val 6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417320"/>
            <a:ext cx="384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25296" y="1289304"/>
            <a:ext cx="56692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1">
                <a:solidFill>
                  <a:srgbClr val="0E2A47"/>
                </a:solidFill>
                <a:latin typeface="맑은 고딕"/>
              </a:rPr>
              <a:t>기기 온보딩</a:t>
            </a:r>
          </a:p>
          <a:p>
            <a:pPr algn="l">
              <a:lnSpc>
                <a:spcPct val="118000"/>
              </a:lnSpc>
              <a:spcBef>
                <a:spcPts val="300"/>
              </a:spcBef>
            </a:pPr>
            <a:r>
              <a:rPr sz="980" b="0">
                <a:solidFill>
                  <a:srgbClr val="5E6B7A"/>
                </a:solidFill>
                <a:latin typeface="맑은 고딕"/>
              </a:rPr>
              <a:t>BLE로 새 단말을 찾아 어르신 정보·보호자 연락처·안심존을 청크 단위로 전송한다.
단말이 스스로 서버에 등록하고, SFC는 등록 완료를 폴링으로 확인한다.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084832"/>
            <a:ext cx="6492240" cy="859536"/>
          </a:xfrm>
          <a:prstGeom prst="roundRect">
            <a:avLst>
              <a:gd name="adj" fmla="val 6000"/>
            </a:avLst>
          </a:prstGeom>
          <a:solidFill>
            <a:srgbClr val="F7FAFB"/>
          </a:solidFill>
          <a:ln w="12700">
            <a:solidFill>
              <a:srgbClr val="D4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13232" y="2267712"/>
            <a:ext cx="384048" cy="384048"/>
          </a:xfrm>
          <a:prstGeom prst="roundRect">
            <a:avLst>
              <a:gd name="adj" fmla="val 6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2331720"/>
            <a:ext cx="384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25296" y="2203704"/>
            <a:ext cx="56692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1">
                <a:solidFill>
                  <a:srgbClr val="0E2A47"/>
                </a:solidFill>
                <a:latin typeface="맑은 고딕"/>
              </a:rPr>
              <a:t>안심존 관리</a:t>
            </a:r>
          </a:p>
          <a:p>
            <a:pPr algn="l">
              <a:lnSpc>
                <a:spcPct val="118000"/>
              </a:lnSpc>
              <a:spcBef>
                <a:spcPts val="300"/>
              </a:spcBef>
            </a:pPr>
            <a:r>
              <a:rPr sz="980" b="0">
                <a:solidFill>
                  <a:srgbClr val="5E6B7A"/>
                </a:solidFill>
                <a:latin typeface="맑은 고딕"/>
              </a:rPr>
              <a:t>집(FIXED_AP)과 보호자 핫스팟(HOTSPOT)을 구분해 등록한다.
집 안심존은 GPS 중심좌표를 함께 저장해 지도에 🏠로 표시된다.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2999232"/>
            <a:ext cx="6492240" cy="8595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4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13232" y="3182112"/>
            <a:ext cx="384048" cy="384048"/>
          </a:xfrm>
          <a:prstGeom prst="roundRect">
            <a:avLst>
              <a:gd name="adj" fmla="val 6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3246120"/>
            <a:ext cx="384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25296" y="3118104"/>
            <a:ext cx="56692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1">
                <a:solidFill>
                  <a:srgbClr val="0E2A47"/>
                </a:solidFill>
                <a:latin typeface="맑은 고딕"/>
              </a:rPr>
              <a:t>위치 이력 · 지도</a:t>
            </a:r>
          </a:p>
          <a:p>
            <a:pPr algn="l">
              <a:lnSpc>
                <a:spcPct val="118000"/>
              </a:lnSpc>
              <a:spcBef>
                <a:spcPts val="300"/>
              </a:spcBef>
            </a:pPr>
            <a:r>
              <a:rPr sz="980" b="0">
                <a:solidFill>
                  <a:srgbClr val="5E6B7A"/>
                </a:solidFill>
                <a:latin typeface="맑은 고딕"/>
              </a:rPr>
              <a:t>날짜별 달력에서 하루를 선택하면 그날의 이동 경로가 지도에 그려진다.
좌표가 있는 모든 기록(hasLocation)을 표시해 WiFi 구간도 끊기지 않는다.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3913632"/>
            <a:ext cx="6492240" cy="859536"/>
          </a:xfrm>
          <a:prstGeom prst="roundRect">
            <a:avLst>
              <a:gd name="adj" fmla="val 6000"/>
            </a:avLst>
          </a:prstGeom>
          <a:solidFill>
            <a:srgbClr val="F7FAFB"/>
          </a:solidFill>
          <a:ln w="12700">
            <a:solidFill>
              <a:srgbClr val="D4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13232" y="4096512"/>
            <a:ext cx="384048" cy="384048"/>
          </a:xfrm>
          <a:prstGeom prst="roundRect">
            <a:avLst>
              <a:gd name="adj" fmla="val 6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" y="4160520"/>
            <a:ext cx="384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25296" y="4032504"/>
            <a:ext cx="56692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1">
                <a:solidFill>
                  <a:srgbClr val="0E2A47"/>
                </a:solidFill>
                <a:latin typeface="맑은 고딕"/>
              </a:rPr>
              <a:t>폰 GPS 제공</a:t>
            </a:r>
          </a:p>
          <a:p>
            <a:pPr algn="l">
              <a:lnSpc>
                <a:spcPct val="118000"/>
              </a:lnSpc>
              <a:spcBef>
                <a:spcPts val="300"/>
              </a:spcBef>
            </a:pPr>
            <a:r>
              <a:rPr sz="980" b="0">
                <a:solidFill>
                  <a:srgbClr val="5E6B7A"/>
                </a:solidFill>
                <a:latin typeface="맑은 고딕"/>
              </a:rPr>
              <a:t>보호자 폰이 핫스팟일 때 :8765 로 자기 GPS를 단말에 제공한다.
단말이 실내에서 위성을 못 잡아도 좌표가 유지되는 핵심 경로.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4828032"/>
            <a:ext cx="6492240" cy="8595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4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13232" y="5010912"/>
            <a:ext cx="384048" cy="384048"/>
          </a:xfrm>
          <a:prstGeom prst="roundRect">
            <a:avLst>
              <a:gd name="adj" fmla="val 6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" y="5074920"/>
            <a:ext cx="384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25296" y="4946904"/>
            <a:ext cx="56692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1">
                <a:solidFill>
                  <a:srgbClr val="0E2A47"/>
                </a:solidFill>
                <a:latin typeface="맑은 고딕"/>
              </a:rPr>
              <a:t>경보 수신</a:t>
            </a:r>
          </a:p>
          <a:p>
            <a:pPr algn="l">
              <a:lnSpc>
                <a:spcPct val="118000"/>
              </a:lnSpc>
              <a:spcBef>
                <a:spcPts val="300"/>
              </a:spcBef>
            </a:pPr>
            <a:r>
              <a:rPr sz="980" b="0">
                <a:solidFill>
                  <a:srgbClr val="5E6B7A"/>
                </a:solidFill>
                <a:latin typeface="맑은 고딕"/>
              </a:rPr>
              <a:t>이탈 · WARNING · SOS 문자를 단말에서 직접 받는다.
서버 장애나 데이터망 문제와 무관하게 도달한다.</a:t>
            </a:r>
          </a:p>
        </p:txBody>
      </p:sp>
      <p:pic>
        <p:nvPicPr>
          <p:cNvPr id="26" name="Picture 25" descr="sfc_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9208" y="1170432"/>
            <a:ext cx="2711690" cy="43434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379208" y="562356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5E6B7A"/>
                </a:solidFill>
                <a:latin typeface="맑은 고딕"/>
              </a:rPr>
              <a:t>SFC 메인 화면 — 어르신 상태 · 안심존 · 최근 위치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6473952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6B7A"/>
                </a:solidFill>
                <a:latin typeface="맑은 고딕"/>
              </a:rPr>
              <a:t>기능 설명은 SFC 소스(com.sf.sfc) 기준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155448"/>
            <a:ext cx="56692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0E7C86"/>
                </a:solidFill>
                <a:latin typeface="맑은 고딕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" y="146304"/>
            <a:ext cx="1055491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맑은 고딕"/>
              </a:rPr>
              <a:t>디바이스 구성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" y="502920"/>
            <a:ext cx="1055491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AFC4D4"/>
                </a:solidFill>
                <a:latin typeface="맑은 고딕"/>
              </a:rPr>
              <a:t>같은 프로토콜, 다른 폼팩터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188720"/>
            <a:ext cx="911986" cy="365760"/>
          </a:xfrm>
          <a:prstGeom prst="roundRect">
            <a:avLst>
              <a:gd name="adj" fmla="val 6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71016"/>
            <a:ext cx="76568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맑은 고딕"/>
              </a:rPr>
              <a:t>코드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78914" y="1188720"/>
            <a:ext cx="2963956" cy="365760"/>
          </a:xfrm>
          <a:prstGeom prst="roundRect">
            <a:avLst>
              <a:gd name="adj" fmla="val 6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52066" y="1271016"/>
            <a:ext cx="28176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맑은 고딕"/>
              </a:rPr>
              <a:t>하드웨어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42871" y="1188720"/>
            <a:ext cx="1367980" cy="365760"/>
          </a:xfrm>
          <a:prstGeom prst="roundRect">
            <a:avLst>
              <a:gd name="adj" fmla="val 6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16023" y="1271016"/>
            <a:ext cx="12216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맑은 고딕"/>
              </a:rPr>
              <a:t>플랫폼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10851" y="1188720"/>
            <a:ext cx="4103940" cy="365760"/>
          </a:xfrm>
          <a:prstGeom prst="roundRect">
            <a:avLst>
              <a:gd name="adj" fmla="val 6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84003" y="1271016"/>
            <a:ext cx="395763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맑은 고딕"/>
              </a:rPr>
              <a:t>역할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914791" y="1188720"/>
            <a:ext cx="1709975" cy="365760"/>
          </a:xfrm>
          <a:prstGeom prst="roundRect">
            <a:avLst>
              <a:gd name="adj" fmla="val 6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987943" y="1271016"/>
            <a:ext cx="156367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맑은 고딕"/>
              </a:rPr>
              <a:t>실측 사용시간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1618488"/>
            <a:ext cx="765682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C2430"/>
                </a:solidFill>
                <a:latin typeface="맑은 고딕"/>
              </a:rPr>
              <a:t>SFC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2066" y="1618488"/>
            <a:ext cx="2817652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1C2430"/>
                </a:solidFill>
                <a:latin typeface="맑은 고딕"/>
              </a:rPr>
              <a:t>보호자 폰 (Galaxy S24 Ultra)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16023" y="1618488"/>
            <a:ext cx="1221676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1C2430"/>
                </a:solidFill>
                <a:latin typeface="맑은 고딕"/>
              </a:rPr>
              <a:t>Android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84003" y="1618488"/>
            <a:ext cx="3957636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1C2430"/>
                </a:solidFill>
                <a:latin typeface="맑은 고딕"/>
              </a:rPr>
              <a:t>BLE 온보딩 · 대시보드 · GPS 서버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87943" y="1618488"/>
            <a:ext cx="1563671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1C2430"/>
                </a:solidFill>
                <a:latin typeface="맑은 고딕"/>
              </a:rPr>
              <a:t>충전 기반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1950466"/>
            <a:ext cx="11057839" cy="6350"/>
          </a:xfrm>
          <a:prstGeom prst="rect">
            <a:avLst/>
          </a:prstGeom>
          <a:solidFill>
            <a:srgbClr val="D4D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66928" y="1956816"/>
            <a:ext cx="11057839" cy="402336"/>
          </a:xfrm>
          <a:prstGeom prst="roundRect">
            <a:avLst>
              <a:gd name="adj" fmla="val 6000"/>
            </a:avLst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2020824"/>
            <a:ext cx="765682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C2430"/>
                </a:solidFill>
                <a:latin typeface="맑은 고딕"/>
              </a:rPr>
              <a:t>SFD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2066" y="2020824"/>
            <a:ext cx="2817652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1C2430"/>
                </a:solidFill>
                <a:latin typeface="맑은 고딕"/>
              </a:rPr>
              <a:t>태블릿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16023" y="2020824"/>
            <a:ext cx="1221676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1C2430"/>
                </a:solidFill>
                <a:latin typeface="맑은 고딕"/>
              </a:rPr>
              <a:t>Android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84003" y="2020824"/>
            <a:ext cx="3957636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1C2430"/>
                </a:solidFill>
                <a:latin typeface="맑은 고딕"/>
              </a:rPr>
              <a:t>안심존 판정 · 이탈/SOS · SMS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87943" y="2020824"/>
            <a:ext cx="1563671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1C2430"/>
                </a:solidFill>
                <a:latin typeface="맑은 고딕"/>
              </a:rPr>
              <a:t>약 40시간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6928" y="2352802"/>
            <a:ext cx="11057839" cy="6350"/>
          </a:xfrm>
          <a:prstGeom prst="rect">
            <a:avLst/>
          </a:prstGeom>
          <a:solidFill>
            <a:srgbClr val="D4D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2423160"/>
            <a:ext cx="765682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C2430"/>
                </a:solidFill>
                <a:latin typeface="맑은 고딕"/>
              </a:rPr>
              <a:t>SFW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52066" y="2423160"/>
            <a:ext cx="2817652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1C2430"/>
                </a:solidFill>
                <a:latin typeface="맑은 고딕"/>
              </a:rPr>
              <a:t>워치 (Wear OS)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16023" y="2423160"/>
            <a:ext cx="1221676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1C2430"/>
                </a:solidFill>
                <a:latin typeface="맑은 고딕"/>
              </a:rPr>
              <a:t>Android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84003" y="2423160"/>
            <a:ext cx="3957636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1C2430"/>
                </a:solidFill>
                <a:latin typeface="맑은 고딕"/>
              </a:rPr>
              <a:t>착용형 · 동일 판정 로직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87943" y="2423160"/>
            <a:ext cx="1563671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1C2430"/>
                </a:solidFill>
                <a:latin typeface="맑은 고딕"/>
              </a:rPr>
              <a:t>약 22시간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6928" y="2755138"/>
            <a:ext cx="11057839" cy="6350"/>
          </a:xfrm>
          <a:prstGeom prst="rect">
            <a:avLst/>
          </a:prstGeom>
          <a:solidFill>
            <a:srgbClr val="D4D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566928" y="2761488"/>
            <a:ext cx="11057839" cy="402336"/>
          </a:xfrm>
          <a:prstGeom prst="roundRect">
            <a:avLst>
              <a:gd name="adj" fmla="val 6000"/>
            </a:avLst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2825496"/>
            <a:ext cx="765682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C2430"/>
                </a:solidFill>
                <a:latin typeface="맑은 고딕"/>
              </a:rPr>
              <a:t>SFA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52066" y="2825496"/>
            <a:ext cx="2817652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1C2430"/>
                </a:solidFill>
                <a:latin typeface="맑은 고딕"/>
              </a:rPr>
              <a:t>LILYGO T-A7670E-S3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16023" y="2825496"/>
            <a:ext cx="1221676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1C2430"/>
                </a:solidFill>
                <a:latin typeface="맑은 고딕"/>
              </a:rPr>
              <a:t>ESP32-S3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84003" y="2825496"/>
            <a:ext cx="3957636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1C2430"/>
                </a:solidFill>
                <a:latin typeface="맑은 고딕"/>
              </a:rPr>
              <a:t>LTE · GNSS · SMS (헤드리스)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987943" y="2825496"/>
            <a:ext cx="1563671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1C2430"/>
                </a:solidFill>
                <a:latin typeface="맑은 고딕"/>
              </a:rPr>
              <a:t>미측정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66928" y="3157474"/>
            <a:ext cx="11057839" cy="6350"/>
          </a:xfrm>
          <a:prstGeom prst="rect">
            <a:avLst/>
          </a:prstGeom>
          <a:solidFill>
            <a:srgbClr val="D4D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566928" y="3438144"/>
            <a:ext cx="11057839" cy="1874519"/>
          </a:xfrm>
          <a:prstGeom prst="roundRect">
            <a:avLst>
              <a:gd name="adj" fmla="val 6000"/>
            </a:avLst>
          </a:prstGeom>
          <a:solidFill>
            <a:srgbClr val="F7FAFB"/>
          </a:solidFill>
          <a:ln w="12700">
            <a:solidFill>
              <a:srgbClr val="D4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2960" y="3575304"/>
            <a:ext cx="51206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0E2A47"/>
                </a:solidFill>
                <a:latin typeface="맑은 고딕"/>
              </a:rPr>
              <a:t>SFA 전용 단말 구성</a:t>
            </a:r>
          </a:p>
          <a:p>
            <a:pPr algn="l">
              <a:lnSpc>
                <a:spcPct val="125000"/>
              </a:lnSpc>
              <a:spcBef>
                <a:spcPts val="600"/>
              </a:spcBef>
            </a:pPr>
            <a:r>
              <a:rPr sz="1100" b="0">
                <a:solidFill>
                  <a:srgbClr val="1C2430"/>
                </a:solidFill>
                <a:latin typeface="맑은 고딕"/>
              </a:rPr>
              <a:t>• MCU: ESP32-S3 (Wi-Fi + BLE)</a:t>
            </a:r>
          </a:p>
          <a:p>
            <a:pPr algn="l">
              <a:lnSpc>
                <a:spcPct val="125000"/>
              </a:lnSpc>
              <a:spcBef>
                <a:spcPts val="200"/>
              </a:spcBef>
            </a:pPr>
            <a:r>
              <a:rPr sz="1100" b="0">
                <a:solidFill>
                  <a:srgbClr val="1C2430"/>
                </a:solidFill>
                <a:latin typeface="맑은 고딕"/>
              </a:rPr>
              <a:t>• 통신: A7670E LTE Cat.1  (APN: lte.ktfwing.com)</a:t>
            </a:r>
          </a:p>
          <a:p>
            <a:pPr algn="l">
              <a:lnSpc>
                <a:spcPct val="125000"/>
              </a:lnSpc>
              <a:spcBef>
                <a:spcPts val="200"/>
              </a:spcBef>
            </a:pPr>
            <a:r>
              <a:rPr sz="1100" b="0">
                <a:solidFill>
                  <a:srgbClr val="1C2430"/>
                </a:solidFill>
                <a:latin typeface="맑은 고딕"/>
              </a:rPr>
              <a:t>• 측위: A7670E 내장 GNSS + AGPS(AT+CAGPS)</a:t>
            </a:r>
          </a:p>
          <a:p>
            <a:pPr algn="l">
              <a:lnSpc>
                <a:spcPct val="125000"/>
              </a:lnSpc>
              <a:spcBef>
                <a:spcPts val="200"/>
              </a:spcBef>
            </a:pPr>
            <a:r>
              <a:rPr sz="1100" b="0">
                <a:solidFill>
                  <a:srgbClr val="1C2430"/>
                </a:solidFill>
                <a:latin typeface="맑은 고딕"/>
              </a:rPr>
              <a:t>• 경보: 모뎀 직접 SMS 발송 (UCS2 한글)</a:t>
            </a:r>
          </a:p>
          <a:p>
            <a:pPr algn="l">
              <a:lnSpc>
                <a:spcPct val="125000"/>
              </a:lnSpc>
              <a:spcBef>
                <a:spcPts val="200"/>
              </a:spcBef>
            </a:pPr>
            <a:r>
              <a:rPr sz="1100" b="0">
                <a:solidFill>
                  <a:srgbClr val="1C2430"/>
                </a:solidFill>
                <a:latin typeface="맑은 고딕"/>
              </a:rPr>
              <a:t>• 전원: 리튬 배터리 + ADC 분압 측정 (GPIO8)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36208" y="3575304"/>
            <a:ext cx="5114239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0E2A47"/>
                </a:solidFill>
                <a:latin typeface="맑은 고딕"/>
              </a:rPr>
              <a:t>측위 우선순위 (실측 반영)</a:t>
            </a:r>
          </a:p>
          <a:p>
            <a:pPr algn="l">
              <a:lnSpc>
                <a:spcPct val="125000"/>
              </a:lnSpc>
              <a:spcBef>
                <a:spcPts val="600"/>
              </a:spcBef>
            </a:pPr>
            <a:r>
              <a:rPr sz="1100" b="0">
                <a:solidFill>
                  <a:srgbClr val="1C2430"/>
                </a:solidFill>
                <a:latin typeface="맑은 고딕"/>
              </a:rPr>
              <a:t>1순위  자체 GNSS 측위        — 야외에서 수 m</a:t>
            </a:r>
          </a:p>
          <a:p>
            <a:pPr algn="l">
              <a:lnSpc>
                <a:spcPct val="125000"/>
              </a:lnSpc>
              <a:spcBef>
                <a:spcPts val="200"/>
              </a:spcBef>
            </a:pPr>
            <a:r>
              <a:rPr sz="1100" b="0">
                <a:solidFill>
                  <a:srgbClr val="1E7A4B"/>
                </a:solidFill>
                <a:latin typeface="맑은 고딕"/>
              </a:rPr>
              <a:t>2순위  보호자 폰 GPS 중계    — 실내 25.7 m 실측</a:t>
            </a:r>
          </a:p>
          <a:p>
            <a:pPr algn="l">
              <a:lnSpc>
                <a:spcPct val="125000"/>
              </a:lnSpc>
              <a:spcBef>
                <a:spcPts val="200"/>
              </a:spcBef>
            </a:pPr>
            <a:r>
              <a:rPr sz="1100" b="0">
                <a:solidFill>
                  <a:srgbClr val="5E6B7A"/>
                </a:solidFill>
                <a:latin typeface="맑은 고딕"/>
              </a:rPr>
              <a:t>3순위  좌표 없음 → AP 이름으로 위치 표기</a:t>
            </a:r>
          </a:p>
          <a:p>
            <a:pPr algn="l">
              <a:lnSpc>
                <a:spcPct val="125000"/>
              </a:lnSpc>
              <a:spcBef>
                <a:spcPts val="600"/>
              </a:spcBef>
            </a:pPr>
            <a:r>
              <a:rPr sz="1000" b="0">
                <a:solidFill>
                  <a:srgbClr val="B57A0B"/>
                </a:solidFill>
                <a:latin typeface="맑은 고딕"/>
              </a:rPr>
              <a:t>모뎀 셀 측위(AT+CLBS)는 통신사 응답 거부로 사용 불가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6928" y="6473952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6B7A"/>
                </a:solidFill>
                <a:latin typeface="맑은 고딕"/>
              </a:rPr>
              <a:t>사용시간은 서버 텔레메트리의 배터리 값에서 산출 (부록 4)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155448"/>
            <a:ext cx="56692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0E7C86"/>
                </a:solidFill>
                <a:latin typeface="맑은 고딕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" y="146304"/>
            <a:ext cx="1055491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맑은 고딕"/>
              </a:rPr>
              <a:t>시스템 사용의 장단점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" y="502920"/>
            <a:ext cx="1055491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AFC4D4"/>
                </a:solidFill>
                <a:latin typeface="맑은 고딕"/>
              </a:rPr>
              <a:t>장점과 한계를 같은 무게로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170432"/>
            <a:ext cx="5419191" cy="4709160"/>
          </a:xfrm>
          <a:prstGeom prst="roundRect">
            <a:avLst>
              <a:gd name="adj" fmla="val 6000"/>
            </a:avLst>
          </a:prstGeom>
          <a:solidFill>
            <a:srgbClr val="EFF7F2"/>
          </a:solidFill>
          <a:ln w="12700">
            <a:solidFill>
              <a:srgbClr val="C9E2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325880"/>
            <a:ext cx="498027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E7A4B"/>
                </a:solidFill>
                <a:latin typeface="맑은 고딕"/>
              </a:rPr>
              <a:t>장점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4961991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>
                <a:solidFill>
                  <a:srgbClr val="0E2A47"/>
                </a:solidFill>
                <a:latin typeface="맑은 고딕"/>
              </a:rPr>
              <a:t>▪ 이탈을 사전에 알린다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000" b="0">
                <a:solidFill>
                  <a:srgbClr val="5E6B7A"/>
                </a:solidFill>
                <a:latin typeface="맑은 고딕"/>
              </a:rPr>
              <a:t>   5분 WARNING / 30분 SOS 2단계. 완전 실종 전에 개입 시점이 생긴다.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606040"/>
            <a:ext cx="4961991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>
                <a:solidFill>
                  <a:srgbClr val="0E2A47"/>
                </a:solidFill>
                <a:latin typeface="맑은 고딕"/>
              </a:rPr>
              <a:t>▪ 신호가 끊겨도 위치가 남는다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000" b="0">
                <a:solidFill>
                  <a:srgbClr val="5E6B7A"/>
                </a:solidFill>
                <a:latin typeface="맑은 고딕"/>
              </a:rPr>
              <a:t>   WiFi AP 이름 → 보호자 폰 GPS → 자체 GNSS 순으로 교차 보완.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429000"/>
            <a:ext cx="4961991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>
                <a:solidFill>
                  <a:srgbClr val="0E2A47"/>
                </a:solidFill>
                <a:latin typeface="맑은 고딕"/>
              </a:rPr>
              <a:t>▪ 서버 없이도 경보가 간다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000" b="0">
                <a:solidFill>
                  <a:srgbClr val="5E6B7A"/>
                </a:solidFill>
                <a:latin typeface="맑은 고딕"/>
              </a:rPr>
              <a:t>   단말이 보호자 번호로 직접 SMS를 보낸다. 서버·데이터망 장애와 무관.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251960"/>
            <a:ext cx="4961991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>
                <a:solidFill>
                  <a:srgbClr val="0E2A47"/>
                </a:solidFill>
                <a:latin typeface="맑은 고딕"/>
              </a:rPr>
              <a:t>▪ 오탐을 구조적으로 억제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000" b="0">
                <a:solidFill>
                  <a:srgbClr val="5E6B7A"/>
                </a:solidFill>
                <a:latin typeface="맑은 고딕"/>
              </a:rPr>
              <a:t>   유예 시간, AP 재스캔, 단절 홀드, GPS 이탈 증거 요구를 단계로 쌓았다.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074920"/>
            <a:ext cx="4961991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>
                <a:solidFill>
                  <a:srgbClr val="0E2A47"/>
                </a:solidFill>
                <a:latin typeface="맑은 고딕"/>
              </a:rPr>
              <a:t>▪ 폼팩터 교체가 자유롭다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000" b="0">
                <a:solidFill>
                  <a:srgbClr val="5E6B7A"/>
                </a:solidFill>
                <a:latin typeface="맑은 고딕"/>
              </a:rPr>
              <a:t>   태블릿·워치·전용 단말이 같은 프로토콜을 쓴다.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5575" y="1170432"/>
            <a:ext cx="5419191" cy="4709160"/>
          </a:xfrm>
          <a:prstGeom prst="roundRect">
            <a:avLst>
              <a:gd name="adj" fmla="val 6000"/>
            </a:avLst>
          </a:prstGeom>
          <a:solidFill>
            <a:srgbClr val="FDF6EC"/>
          </a:solidFill>
          <a:ln w="12700">
            <a:solidFill>
              <a:srgbClr val="EBDA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1607" y="1325880"/>
            <a:ext cx="498027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B57A0B"/>
                </a:solidFill>
                <a:latin typeface="맑은 고딕"/>
              </a:rPr>
              <a:t>한계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1607" y="1783080"/>
            <a:ext cx="4961991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>
                <a:solidFill>
                  <a:srgbClr val="0E2A47"/>
                </a:solidFill>
                <a:latin typeface="맑은 고딕"/>
              </a:rPr>
              <a:t>▪ 실내 단독 상황은 여전히 공백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000" b="0">
                <a:solidFill>
                  <a:srgbClr val="5E6B7A"/>
                </a:solidFill>
                <a:latin typeface="맑은 고딕"/>
              </a:rPr>
              <a:t>   보호자가 곁에 없고 실내이면 위성이 안 잡혀 좌표가 없다. WiFi 측위 API 도입 전까지 남는 한계.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61607" y="2606040"/>
            <a:ext cx="4961991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>
                <a:solidFill>
                  <a:srgbClr val="0E2A47"/>
                </a:solidFill>
                <a:latin typeface="맑은 고딕"/>
              </a:rPr>
              <a:t>▪ 보호자 폰 의존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000" b="0">
                <a:solidFill>
                  <a:srgbClr val="5E6B7A"/>
                </a:solidFill>
                <a:latin typeface="맑은 고딕"/>
              </a:rPr>
              <a:t>   폰 GPS 중계는 보호자 핫스팟 범위 안에서만 동작하고, 폰 배터리를 쓴다.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61607" y="3429000"/>
            <a:ext cx="4961991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>
                <a:solidFill>
                  <a:srgbClr val="0E2A47"/>
                </a:solidFill>
                <a:latin typeface="맑은 고딕"/>
              </a:rPr>
              <a:t>▪ 워치 사용시간 약 22시간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000" b="0">
                <a:solidFill>
                  <a:srgbClr val="5E6B7A"/>
                </a:solidFill>
                <a:latin typeface="맑은 고딕"/>
              </a:rPr>
              <a:t>   실측 4.57%/h. 매일 충전이 필요하다.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1607" y="4251960"/>
            <a:ext cx="4961991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>
                <a:solidFill>
                  <a:srgbClr val="0E2A47"/>
                </a:solidFill>
                <a:latin typeface="맑은 고딕"/>
              </a:rPr>
              <a:t>▪ SMS 비용과 도달 지연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000" b="0">
                <a:solidFill>
                  <a:srgbClr val="5E6B7A"/>
                </a:solidFill>
                <a:latin typeface="맑은 고딕"/>
              </a:rPr>
              <a:t>   통신사 망 상태에 따라 수 초~수십 초 지연이 발생할 수 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1607" y="5074920"/>
            <a:ext cx="4961991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>
                <a:solidFill>
                  <a:srgbClr val="0E2A47"/>
                </a:solidFill>
                <a:latin typeface="맑은 고딕"/>
              </a:rPr>
              <a:t>▪ 모뎀 셀 측위 사용 불가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000" b="0">
                <a:solidFill>
                  <a:srgbClr val="5E6B7A"/>
                </a:solidFill>
                <a:latin typeface="맑은 고딕"/>
              </a:rPr>
              <a:t>   AT+CLBS가 코드 10으로 거부됨(5회 재현). 대체 수단이 필요.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473952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6B7A"/>
                </a:solidFill>
                <a:latin typeface="맑은 고딕"/>
              </a:rPr>
              <a:t>한계 항목은 모두 이번 실증에서 재현된 사실 기준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155448"/>
            <a:ext cx="56692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0E7C86"/>
                </a:solidFill>
                <a:latin typeface="맑은 고딕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" y="146304"/>
            <a:ext cx="1055491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맑은 고딕"/>
              </a:rPr>
              <a:t>실증 준비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" y="502920"/>
            <a:ext cx="1055491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AFC4D4"/>
                </a:solidFill>
                <a:latin typeface="맑은 고딕"/>
              </a:rPr>
              <a:t>무엇이 끝났고 무엇이 남았는가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170432"/>
            <a:ext cx="5419191" cy="3931920"/>
          </a:xfrm>
          <a:prstGeom prst="roundRect">
            <a:avLst>
              <a:gd name="adj" fmla="val 6000"/>
            </a:avLst>
          </a:prstGeom>
          <a:solidFill>
            <a:srgbClr val="EFF7F2"/>
          </a:solidFill>
          <a:ln w="12700">
            <a:solidFill>
              <a:srgbClr val="C9E2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325880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E7A4B"/>
                </a:solidFill>
                <a:latin typeface="맑은 고딕"/>
              </a:rPr>
              <a:t>완료 · 검증됨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10512"/>
            <a:ext cx="4961991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1C2430"/>
                </a:solidFill>
                <a:latin typeface="맑은 고딕"/>
              </a:rPr>
              <a:t>✓  4종 단말 ↔ 서버 등록·텔레메트리 정상 (서버 수신 200 확인)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22576"/>
            <a:ext cx="4961991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1C2430"/>
                </a:solidFill>
                <a:latin typeface="맑은 고딕"/>
              </a:rPr>
              <a:t>✓  이탈 → WARNING → SOS 2단계 경보 및 보호자 SMS 도달 확인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834640"/>
            <a:ext cx="4961991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1C2430"/>
                </a:solidFill>
                <a:latin typeface="맑은 고딕"/>
              </a:rPr>
              <a:t>✓  보호자 폰 GPS 중계 경로 동작 (실내 25.7 m, fixAge 10초)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346704"/>
            <a:ext cx="4961991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1C2430"/>
                </a:solidFill>
                <a:latin typeface="맑은 고딕"/>
              </a:rPr>
              <a:t>✓  AGPS 궤도력 다운로드 동작 (AT+CAGPS: OK)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858768"/>
            <a:ext cx="4961991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1C2430"/>
                </a:solidFill>
                <a:latin typeface="맑은 고딕"/>
              </a:rPr>
              <a:t>✓  오탐 이탈 억제 로직 적용 (유예·재스캔·홀드·GPS 증거)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370832"/>
            <a:ext cx="4961991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1C2430"/>
                </a:solidFill>
                <a:latin typeface="맑은 고딕"/>
              </a:rPr>
              <a:t>✓  배터리 소모 실측 확보 (태블릿·워치)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5575" y="1170432"/>
            <a:ext cx="5419191" cy="3931920"/>
          </a:xfrm>
          <a:prstGeom prst="roundRect">
            <a:avLst>
              <a:gd name="adj" fmla="val 6000"/>
            </a:avLst>
          </a:prstGeom>
          <a:solidFill>
            <a:srgbClr val="F4F7F9"/>
          </a:solidFill>
          <a:ln w="12700">
            <a:solidFill>
              <a:srgbClr val="D4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1607" y="1325880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E2A47"/>
                </a:solidFill>
                <a:latin typeface="맑은 고딕"/>
              </a:rPr>
              <a:t>남은 과제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61607" y="1810512"/>
            <a:ext cx="4961991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1C2430"/>
                </a:solidFill>
                <a:latin typeface="맑은 고딕"/>
              </a:rPr>
              <a:t>□  SFA 야외 GNSS 최초 측위 시간(TTFF) 실측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61607" y="2322576"/>
            <a:ext cx="4961991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1C2430"/>
                </a:solidFill>
                <a:latin typeface="맑은 고딕"/>
              </a:rPr>
              <a:t>□  SFA 배터리 실사용 시간 실측 (현재 USB 급전으로 미측정)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1607" y="2834640"/>
            <a:ext cx="4961991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1C2430"/>
                </a:solidFill>
                <a:latin typeface="맑은 고딕"/>
              </a:rPr>
              <a:t>□  실내 단독 상황 측위 대책 결정 (WiFi 측위 API 도입 여부)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1607" y="3346704"/>
            <a:ext cx="4961991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1C2430"/>
                </a:solidFill>
                <a:latin typeface="맑은 고딕"/>
              </a:rPr>
              <a:t>□  장시간 연속 운용 시험 (24시간 이상 무중단)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61607" y="3858768"/>
            <a:ext cx="4961991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1C2430"/>
                </a:solidFill>
                <a:latin typeface="맑은 고딕"/>
              </a:rPr>
              <a:t>□  다중 어르신·다중 보호자 동시 운용 시험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257800"/>
            <a:ext cx="11057839" cy="914400"/>
          </a:xfrm>
          <a:prstGeom prst="roundRect">
            <a:avLst>
              <a:gd name="adj" fmla="val 6000"/>
            </a:avLst>
          </a:prstGeom>
          <a:solidFill>
            <a:srgbClr val="E3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" y="5413248"/>
            <a:ext cx="1050919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>
                <a:solidFill>
                  <a:srgbClr val="0E7C86"/>
                </a:solidFill>
                <a:latin typeface="맑은 고딕"/>
              </a:rPr>
              <a:t>실증 즉시 가능 범위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1200" b="0">
                <a:solidFill>
                  <a:srgbClr val="0E2A47"/>
                </a:solidFill>
                <a:latin typeface="맑은 고딕"/>
              </a:rPr>
              <a:t>보호자가 동행하거나 안심존(집·핫스팟) 안에 있는 모든 시간대 — 위치·이탈·경보가 끊김 없이 동작한다.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473952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6B7A"/>
                </a:solidFill>
                <a:latin typeface="맑은 고딕"/>
              </a:rPr>
              <a:t>2026년 8월 실증 로그 기준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651760"/>
            <a:ext cx="1105783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>
                <a:solidFill>
                  <a:srgbClr val="FFFFFF"/>
                </a:solidFill>
                <a:latin typeface="맑은 고딕"/>
              </a:rPr>
              <a:t>Appendix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611880"/>
            <a:ext cx="11057839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D3E0EA"/>
                </a:solidFill>
                <a:latin typeface="맑은 고딕"/>
              </a:rPr>
              <a:t>1. 서버 링크 모음 및 구성 설명</a:t>
            </a:r>
          </a:p>
          <a:p>
            <a:pPr algn="l">
              <a:lnSpc>
                <a:spcPct val="120000"/>
              </a:lnSpc>
              <a:spcBef>
                <a:spcPts val="800"/>
              </a:spcBef>
            </a:pPr>
            <a:r>
              <a:rPr sz="1500" b="0">
                <a:solidFill>
                  <a:srgbClr val="7E94A6"/>
                </a:solidFill>
                <a:latin typeface="맑은 고딕"/>
              </a:rPr>
              <a:t>2. AI 상세 설명</a:t>
            </a:r>
          </a:p>
          <a:p>
            <a:pPr algn="l">
              <a:lnSpc>
                <a:spcPct val="120000"/>
              </a:lnSpc>
              <a:spcBef>
                <a:spcPts val="800"/>
              </a:spcBef>
            </a:pPr>
            <a:r>
              <a:rPr sz="1500" b="0">
                <a:solidFill>
                  <a:srgbClr val="D3E0EA"/>
                </a:solidFill>
                <a:latin typeface="맑은 고딕"/>
              </a:rPr>
              <a:t>3. 서울시 치매 노인 현황 (자치구별)</a:t>
            </a:r>
          </a:p>
          <a:p>
            <a:pPr algn="l">
              <a:lnSpc>
                <a:spcPct val="120000"/>
              </a:lnSpc>
              <a:spcBef>
                <a:spcPts val="800"/>
              </a:spcBef>
            </a:pPr>
            <a:r>
              <a:rPr sz="1500" b="0">
                <a:solidFill>
                  <a:srgbClr val="D3E0EA"/>
                </a:solidFill>
                <a:latin typeface="맑은 고딕"/>
              </a:rPr>
              <a:t>4. 디바이스 배터리 소요 표</a:t>
            </a:r>
          </a:p>
          <a:p>
            <a:pPr algn="l">
              <a:lnSpc>
                <a:spcPct val="120000"/>
              </a:lnSpc>
              <a:spcBef>
                <a:spcPts val="800"/>
              </a:spcBef>
            </a:pPr>
            <a:r>
              <a:rPr sz="1500" b="0">
                <a:solidFill>
                  <a:srgbClr val="D3E0EA"/>
                </a:solidFill>
                <a:latin typeface="맑은 고딕"/>
              </a:rPr>
              <a:t>5. 대표 이미지</a:t>
            </a:r>
          </a:p>
          <a:p>
            <a:pPr algn="l">
              <a:lnSpc>
                <a:spcPct val="120000"/>
              </a:lnSpc>
              <a:spcBef>
                <a:spcPts val="800"/>
              </a:spcBef>
            </a:pPr>
            <a:r>
              <a:rPr sz="1500" b="0">
                <a:solidFill>
                  <a:srgbClr val="D3E0EA"/>
                </a:solidFill>
                <a:latin typeface="맑은 고딕"/>
              </a:rPr>
              <a:t>6. 디바이스 구성표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155448"/>
            <a:ext cx="56692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0E7C86"/>
                </a:solidFill>
                <a:latin typeface="맑은 고딕"/>
              </a:rPr>
              <a:t>A1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" y="146304"/>
            <a:ext cx="1055491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맑은 고딕"/>
              </a:rPr>
              <a:t>서버 링크 모음 및 구성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" y="502920"/>
            <a:ext cx="1055491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AFC4D4"/>
                </a:solidFill>
                <a:latin typeface="맑은 고딕"/>
              </a:rPr>
              <a:t>실증에서 실제로 사용한 엔드포인트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188720"/>
            <a:ext cx="2010516" cy="365760"/>
          </a:xfrm>
          <a:prstGeom prst="roundRect">
            <a:avLst>
              <a:gd name="adj" fmla="val 6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71016"/>
            <a:ext cx="18642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맑은 고딕"/>
              </a:rPr>
              <a:t>구분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77444" y="1188720"/>
            <a:ext cx="5629445" cy="365760"/>
          </a:xfrm>
          <a:prstGeom prst="roundRect">
            <a:avLst>
              <a:gd name="adj" fmla="val 6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50596" y="1271016"/>
            <a:ext cx="548314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맑은 고딕"/>
              </a:rPr>
              <a:t>URL / 엔드포인트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06889" y="1188720"/>
            <a:ext cx="3417877" cy="365760"/>
          </a:xfrm>
          <a:prstGeom prst="roundRect">
            <a:avLst>
              <a:gd name="adj" fmla="val 6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80041" y="1271016"/>
            <a:ext cx="327157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맑은 고딕"/>
              </a:rPr>
              <a:t>설명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618488"/>
            <a:ext cx="1864212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C2430"/>
                </a:solidFill>
                <a:latin typeface="맑은 고딕"/>
              </a:rPr>
              <a:t>관제 대시보드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0596" y="1618488"/>
            <a:ext cx="5483141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1C2430"/>
                </a:solidFill>
                <a:latin typeface="맑은 고딕"/>
              </a:rPr>
              <a:t>https://sf-api.ese-lab.com/index.html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80041" y="1618488"/>
            <a:ext cx="3271573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1C2430"/>
                </a:solidFill>
                <a:latin typeface="맑은 고딕"/>
              </a:rPr>
              <a:t>전체 현황 진입점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1891030"/>
            <a:ext cx="11057839" cy="6350"/>
          </a:xfrm>
          <a:prstGeom prst="rect">
            <a:avLst/>
          </a:prstGeom>
          <a:solidFill>
            <a:srgbClr val="D4D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66928" y="1897380"/>
            <a:ext cx="11057839" cy="342900"/>
          </a:xfrm>
          <a:prstGeom prst="roundRect">
            <a:avLst>
              <a:gd name="adj" fmla="val 6000"/>
            </a:avLst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1961388"/>
            <a:ext cx="1864212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C2430"/>
                </a:solidFill>
                <a:latin typeface="맑은 고딕"/>
              </a:rPr>
              <a:t>실시간 모니터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50596" y="1961388"/>
            <a:ext cx="5483141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1C2430"/>
                </a:solidFill>
                <a:latin typeface="맑은 고딕"/>
              </a:rPr>
              <a:t>https://sf-api.ese-lab.com/monitor.html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80041" y="1961388"/>
            <a:ext cx="3271573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1C2430"/>
                </a:solidFill>
                <a:latin typeface="맑은 고딕"/>
              </a:rPr>
              <a:t>수신 로그 실시간 확인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2233930"/>
            <a:ext cx="11057839" cy="6350"/>
          </a:xfrm>
          <a:prstGeom prst="rect">
            <a:avLst/>
          </a:prstGeom>
          <a:solidFill>
            <a:srgbClr val="D4D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2304288"/>
            <a:ext cx="1864212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C2430"/>
                </a:solidFill>
                <a:latin typeface="맑은 고딕"/>
              </a:rPr>
              <a:t>위치 추적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50596" y="2304288"/>
            <a:ext cx="5483141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1C2430"/>
                </a:solidFill>
                <a:latin typeface="맑은 고딕"/>
              </a:rPr>
              <a:t>https://sf-api.ese-lab.com/track.html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80041" y="2304288"/>
            <a:ext cx="3271573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1C2430"/>
                </a:solidFill>
                <a:latin typeface="맑은 고딕"/>
              </a:rPr>
              <a:t>기기별 이동 경로 지도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2576830"/>
            <a:ext cx="11057839" cy="6350"/>
          </a:xfrm>
          <a:prstGeom prst="rect">
            <a:avLst/>
          </a:prstGeom>
          <a:solidFill>
            <a:srgbClr val="D4D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66928" y="2583180"/>
            <a:ext cx="11057839" cy="342900"/>
          </a:xfrm>
          <a:prstGeom prst="roundRect">
            <a:avLst>
              <a:gd name="adj" fmla="val 6000"/>
            </a:avLst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2647188"/>
            <a:ext cx="1864212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C2430"/>
                </a:solidFill>
                <a:latin typeface="맑은 고딕"/>
              </a:rPr>
              <a:t>API 명세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50596" y="2647188"/>
            <a:ext cx="5483141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1C2430"/>
                </a:solidFill>
                <a:latin typeface="맑은 고딕"/>
              </a:rPr>
              <a:t>https://sf-api.ese-lab.com/swagger-ui/index.html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80041" y="2647188"/>
            <a:ext cx="3271573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1C2430"/>
                </a:solidFill>
                <a:latin typeface="맑은 고딕"/>
              </a:rPr>
              <a:t>Swagger UI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" y="2919730"/>
            <a:ext cx="11057839" cy="6350"/>
          </a:xfrm>
          <a:prstGeom prst="rect">
            <a:avLst/>
          </a:prstGeom>
          <a:solidFill>
            <a:srgbClr val="D4D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2990088"/>
            <a:ext cx="1864212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C2430"/>
                </a:solidFill>
                <a:latin typeface="맑은 고딕"/>
              </a:rPr>
              <a:t>기기 등록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50596" y="2990088"/>
            <a:ext cx="5483141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1C2430"/>
                </a:solidFill>
                <a:latin typeface="맑은 고딕"/>
              </a:rPr>
              <a:t>POST /api/v1/devices/register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80041" y="2990088"/>
            <a:ext cx="3271573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1C2430"/>
                </a:solidFill>
                <a:latin typeface="맑은 고딕"/>
              </a:rPr>
              <a:t>deviceId·elderId·fwVersion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6928" y="3262630"/>
            <a:ext cx="11057839" cy="6350"/>
          </a:xfrm>
          <a:prstGeom prst="rect">
            <a:avLst/>
          </a:prstGeom>
          <a:solidFill>
            <a:srgbClr val="D4D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566928" y="3268980"/>
            <a:ext cx="11057839" cy="342900"/>
          </a:xfrm>
          <a:prstGeom prst="roundRect">
            <a:avLst>
              <a:gd name="adj" fmla="val 6000"/>
            </a:avLst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3332988"/>
            <a:ext cx="1864212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C2430"/>
                </a:solidFill>
                <a:latin typeface="맑은 고딕"/>
              </a:rPr>
              <a:t>텔레메트리 수신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650596" y="3332988"/>
            <a:ext cx="5483141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1C2430"/>
                </a:solidFill>
                <a:latin typeface="맑은 고딕"/>
              </a:rPr>
              <a:t>POST /api/v1/telemetry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80041" y="3332988"/>
            <a:ext cx="3271573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1C2430"/>
                </a:solidFill>
                <a:latin typeface="맑은 고딕"/>
              </a:rPr>
              <a:t>readings 배열 일괄 전송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66928" y="3605530"/>
            <a:ext cx="11057839" cy="6350"/>
          </a:xfrm>
          <a:prstGeom prst="rect">
            <a:avLst/>
          </a:prstGeom>
          <a:solidFill>
            <a:srgbClr val="D4D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" y="3675888"/>
            <a:ext cx="1864212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C2430"/>
                </a:solidFill>
                <a:latin typeface="맑은 고딕"/>
              </a:rPr>
              <a:t>기기 로그 조회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650596" y="3675888"/>
            <a:ext cx="5483141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1C2430"/>
                </a:solidFill>
                <a:latin typeface="맑은 고딕"/>
              </a:rPr>
              <a:t>GET /api/v1/devices/{id}/logs?date=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80041" y="3675888"/>
            <a:ext cx="3271573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1C2430"/>
                </a:solidFill>
                <a:latin typeface="맑은 고딕"/>
              </a:rPr>
              <a:t>날짜별 페이징 조회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6928" y="3948430"/>
            <a:ext cx="11057839" cy="6350"/>
          </a:xfrm>
          <a:prstGeom prst="rect">
            <a:avLst/>
          </a:prstGeom>
          <a:solidFill>
            <a:srgbClr val="D4D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566928" y="3954780"/>
            <a:ext cx="11057839" cy="342900"/>
          </a:xfrm>
          <a:prstGeom prst="roundRect">
            <a:avLst>
              <a:gd name="adj" fmla="val 6000"/>
            </a:avLst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" y="4018788"/>
            <a:ext cx="1864212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C2430"/>
                </a:solidFill>
                <a:latin typeface="맑은 고딕"/>
              </a:rPr>
              <a:t>로그 달력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650596" y="4018788"/>
            <a:ext cx="5483141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1C2430"/>
                </a:solidFill>
                <a:latin typeface="맑은 고딕"/>
              </a:rPr>
              <a:t>GET /api/v1/devices/{id}/logs/calendar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80041" y="4018788"/>
            <a:ext cx="3271573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1C2430"/>
                </a:solidFill>
                <a:latin typeface="맑은 고딕"/>
              </a:rPr>
              <a:t>월별 기록 유무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66928" y="4291330"/>
            <a:ext cx="11057839" cy="6350"/>
          </a:xfrm>
          <a:prstGeom prst="rect">
            <a:avLst/>
          </a:prstGeom>
          <a:solidFill>
            <a:srgbClr val="D4D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0080" y="4361688"/>
            <a:ext cx="1864212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C2430"/>
                </a:solidFill>
                <a:latin typeface="맑은 고딕"/>
              </a:rPr>
              <a:t>설정 동기화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650596" y="4361688"/>
            <a:ext cx="5483141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1C2430"/>
                </a:solidFill>
                <a:latin typeface="맑은 고딕"/>
              </a:rPr>
              <a:t>GET /api/v1/devices/{id}/config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80041" y="4361688"/>
            <a:ext cx="3271573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1C2430"/>
                </a:solidFill>
                <a:latin typeface="맑은 고딕"/>
              </a:rPr>
              <a:t>안심존 목록 · configVersion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66928" y="4634230"/>
            <a:ext cx="11057839" cy="6350"/>
          </a:xfrm>
          <a:prstGeom prst="rect">
            <a:avLst/>
          </a:prstGeom>
          <a:solidFill>
            <a:srgbClr val="D4D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566928" y="4640580"/>
            <a:ext cx="11057839" cy="342900"/>
          </a:xfrm>
          <a:prstGeom prst="roundRect">
            <a:avLst>
              <a:gd name="adj" fmla="val 6000"/>
            </a:avLst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0080" y="4704588"/>
            <a:ext cx="1864212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C2430"/>
                </a:solidFill>
                <a:latin typeface="맑은 고딕"/>
              </a:rPr>
              <a:t>보호자 조회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650596" y="4704588"/>
            <a:ext cx="5483141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1C2430"/>
                </a:solidFill>
                <a:latin typeface="맑은 고딕"/>
              </a:rPr>
              <a:t>GET /api/v1/elders/{id}/guardians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80041" y="4704588"/>
            <a:ext cx="3271573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1C2430"/>
                </a:solidFill>
                <a:latin typeface="맑은 고딕"/>
              </a:rPr>
              <a:t>보호자 연락처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66928" y="4977130"/>
            <a:ext cx="11057839" cy="6350"/>
          </a:xfrm>
          <a:prstGeom prst="rect">
            <a:avLst/>
          </a:prstGeom>
          <a:solidFill>
            <a:srgbClr val="D4D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566928" y="5212080"/>
            <a:ext cx="11057839" cy="914400"/>
          </a:xfrm>
          <a:prstGeom prst="roundRect">
            <a:avLst>
              <a:gd name="adj" fmla="val 6000"/>
            </a:avLst>
          </a:prstGeom>
          <a:solidFill>
            <a:srgbClr val="FDF6EC"/>
          </a:solidFill>
          <a:ln w="12700">
            <a:solidFill>
              <a:srgbClr val="EBDA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22960" y="5349240"/>
            <a:ext cx="1054577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>
                <a:solidFill>
                  <a:srgbClr val="0E2A47"/>
                </a:solidFill>
                <a:latin typeface="맑은 고딕"/>
              </a:rPr>
              <a:t>서버 내부 구성(호스팅·DB·프레임워크)과 AI 기능은 이 보고서 작성 범위 밖입니다.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1050" b="0">
                <a:solidFill>
                  <a:srgbClr val="5E6B7A"/>
                </a:solidFill>
                <a:latin typeface="맑은 고딕"/>
              </a:rPr>
              <a:t>위 목록은 단말 측에서 실제 호출·검증한 인터페이스만 기재했습니다.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66928" y="6473952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6B7A"/>
                </a:solidFill>
                <a:latin typeface="맑은 고딕"/>
              </a:rPr>
              <a:t>2026-08-15 실증 중 호출 확인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155448"/>
            <a:ext cx="56692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0E7C86"/>
                </a:solidFill>
                <a:latin typeface="맑은 고딕"/>
              </a:rPr>
              <a:t>A2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" y="146304"/>
            <a:ext cx="1055491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맑은 고딕"/>
              </a:rPr>
              <a:t>AI 상세 설명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" y="502920"/>
            <a:ext cx="1055491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AFC4D4"/>
                </a:solidFill>
                <a:latin typeface="맑은 고딕"/>
              </a:rPr>
              <a:t>작성 보류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011680"/>
            <a:ext cx="11057839" cy="2377440"/>
          </a:xfrm>
          <a:prstGeom prst="roundRect">
            <a:avLst>
              <a:gd name="adj" fmla="val 6000"/>
            </a:avLst>
          </a:prstGeom>
          <a:solidFill>
            <a:srgbClr val="F4F7F9"/>
          </a:solidFill>
          <a:ln w="12700">
            <a:solidFill>
              <a:srgbClr val="D4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2423160"/>
            <a:ext cx="10143439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>
                <a:solidFill>
                  <a:srgbClr val="0E2A47"/>
                </a:solidFill>
                <a:latin typeface="맑은 고딕"/>
              </a:rPr>
              <a:t>이 장은 비워 두었습니다.</a:t>
            </a:r>
          </a:p>
          <a:p>
            <a:pPr algn="l">
              <a:lnSpc>
                <a:spcPct val="130000"/>
              </a:lnSpc>
              <a:spcBef>
                <a:spcPts val="1000"/>
              </a:spcBef>
            </a:pPr>
            <a:r>
              <a:rPr sz="1300" b="0">
                <a:solidFill>
                  <a:srgbClr val="5E6B7A"/>
                </a:solidFill>
                <a:latin typeface="맑은 고딕"/>
              </a:rPr>
              <a:t>서버의 AI 기능에 대한 자료가 확인되지 않아, 추정으로 채우지 않았습니다.</a:t>
            </a:r>
          </a:p>
          <a:p>
            <a:pPr algn="l">
              <a:lnSpc>
                <a:spcPct val="130000"/>
              </a:lnSpc>
              <a:spcBef>
                <a:spcPts val="1000"/>
              </a:spcBef>
            </a:pPr>
            <a:r>
              <a:rPr sz="1200" b="0">
                <a:solidFill>
                  <a:srgbClr val="1C2430"/>
                </a:solidFill>
                <a:latin typeface="맑은 고딕"/>
              </a:rPr>
              <a:t>작성에 필요한 정보:  ① 어떤 모델/알고리즘인지  ② 입력 데이터와 출력  ③ 학습·추론 위치(서버/단말)  ④ 성능 지표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73952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6B7A"/>
                </a:solidFill>
                <a:latin typeface="맑은 고딕"/>
              </a:rPr>
              <a:t>자료 확보 후 본문 4~6장과 함께 작성 필요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155448"/>
            <a:ext cx="56692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0E7C86"/>
                </a:solidFill>
                <a:latin typeface="맑은 고딕"/>
              </a:rPr>
              <a:t>A3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" y="146304"/>
            <a:ext cx="1055491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맑은 고딕"/>
              </a:rPr>
              <a:t>서울시 치매 노인 현황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" y="502920"/>
            <a:ext cx="1055491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AFC4D4"/>
                </a:solidFill>
                <a:latin typeface="맑은 고딕"/>
              </a:rPr>
              <a:t>2023년 · 65세 이상 기준 · 총 166,167명 (유병률 9.88%)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11556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E2A47"/>
                </a:solidFill>
                <a:latin typeface="맑은 고딕"/>
              </a:rPr>
              <a:t>자치구별 환자수 (상위 12개구)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481328"/>
            <a:ext cx="868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C2430"/>
                </a:solidFill>
                <a:latin typeface="맑은 고딕"/>
              </a:rPr>
              <a:t>노원구</a:t>
            </a:r>
          </a:p>
        </p:txBody>
      </p:sp>
      <p:sp>
        <p:nvSpPr>
          <p:cNvPr id="8" name="Rectangle 7"/>
          <p:cNvSpPr/>
          <p:nvPr/>
        </p:nvSpPr>
        <p:spPr>
          <a:xfrm>
            <a:off x="1481328" y="1522476"/>
            <a:ext cx="3246120" cy="18288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73168" y="1481328"/>
            <a:ext cx="914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E2A47"/>
                </a:solidFill>
                <a:latin typeface="맑은 고딕"/>
              </a:rPr>
              <a:t>9,577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787652"/>
            <a:ext cx="868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C2430"/>
                </a:solidFill>
                <a:latin typeface="맑은 고딕"/>
              </a:rPr>
              <a:t>은평구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481328" y="1828800"/>
            <a:ext cx="3152908" cy="18288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79956" y="1787652"/>
            <a:ext cx="914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E2A47"/>
                </a:solidFill>
                <a:latin typeface="맑은 고딕"/>
              </a:rPr>
              <a:t>9,302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2093976"/>
            <a:ext cx="868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C2430"/>
                </a:solidFill>
                <a:latin typeface="맑은 고딕"/>
              </a:rPr>
              <a:t>송파구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81328" y="2135124"/>
            <a:ext cx="3137317" cy="18288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4365" y="2093976"/>
            <a:ext cx="914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E2A47"/>
                </a:solidFill>
                <a:latin typeface="맑은 고딕"/>
              </a:rPr>
              <a:t>9,256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2400300"/>
            <a:ext cx="868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C2430"/>
                </a:solidFill>
                <a:latin typeface="맑은 고딕"/>
              </a:rPr>
              <a:t>강서구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81328" y="2441448"/>
            <a:ext cx="3113590" cy="18288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40638" y="2400300"/>
            <a:ext cx="914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E2A47"/>
                </a:solidFill>
                <a:latin typeface="맑은 고딕"/>
              </a:rPr>
              <a:t>9,186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2706624"/>
            <a:ext cx="868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C2430"/>
                </a:solidFill>
                <a:latin typeface="맑은 고딕"/>
              </a:rPr>
              <a:t>성북구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81328" y="2747772"/>
            <a:ext cx="2782436" cy="18288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09484" y="2706624"/>
            <a:ext cx="914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E2A47"/>
                </a:solidFill>
                <a:latin typeface="맑은 고딕"/>
              </a:rPr>
              <a:t>8,209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3012948"/>
            <a:ext cx="868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C2430"/>
                </a:solidFill>
                <a:latin typeface="맑은 고딕"/>
              </a:rPr>
              <a:t>관악구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481328" y="3054096"/>
            <a:ext cx="2750914" cy="18288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77962" y="3012948"/>
            <a:ext cx="914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E2A47"/>
                </a:solidFill>
                <a:latin typeface="맑은 고딕"/>
              </a:rPr>
              <a:t>8,116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3319272"/>
            <a:ext cx="868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C2430"/>
                </a:solidFill>
                <a:latin typeface="맑은 고딕"/>
              </a:rPr>
              <a:t>강남구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481328" y="3360420"/>
            <a:ext cx="2628892" cy="18288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55940" y="3319272"/>
            <a:ext cx="914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E2A47"/>
                </a:solidFill>
                <a:latin typeface="맑은 고딕"/>
              </a:rPr>
              <a:t>7,756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3625596"/>
            <a:ext cx="868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C2430"/>
                </a:solidFill>
                <a:latin typeface="맑은 고딕"/>
              </a:rPr>
              <a:t>중랑구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481328" y="3666744"/>
            <a:ext cx="2461790" cy="18288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988838" y="3625596"/>
            <a:ext cx="914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E2A47"/>
                </a:solidFill>
                <a:latin typeface="맑은 고딕"/>
              </a:rPr>
              <a:t>7,263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3931920"/>
            <a:ext cx="868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C2430"/>
                </a:solidFill>
                <a:latin typeface="맑은 고딕"/>
              </a:rPr>
              <a:t>구로구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481328" y="3973068"/>
            <a:ext cx="2420438" cy="18288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947486" y="3931920"/>
            <a:ext cx="914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E2A47"/>
                </a:solidFill>
                <a:latin typeface="맑은 고딕"/>
              </a:rPr>
              <a:t>7,141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4238244"/>
            <a:ext cx="868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C2430"/>
                </a:solidFill>
                <a:latin typeface="맑은 고딕"/>
              </a:rPr>
              <a:t>동작구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481328" y="4279392"/>
            <a:ext cx="2358750" cy="18288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885798" y="4238244"/>
            <a:ext cx="914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E2A47"/>
                </a:solidFill>
                <a:latin typeface="맑은 고딕"/>
              </a:rPr>
              <a:t>6,959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" y="4544568"/>
            <a:ext cx="868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C2430"/>
                </a:solidFill>
                <a:latin typeface="맑은 고딕"/>
              </a:rPr>
              <a:t>강동구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481328" y="4585716"/>
            <a:ext cx="2357394" cy="18288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884442" y="4544568"/>
            <a:ext cx="914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E2A47"/>
                </a:solidFill>
                <a:latin typeface="맑은 고딕"/>
              </a:rPr>
              <a:t>6,955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" y="4850892"/>
            <a:ext cx="868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C2430"/>
                </a:solidFill>
                <a:latin typeface="맑은 고딕"/>
              </a:rPr>
              <a:t>강북구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481328" y="4892040"/>
            <a:ext cx="2351971" cy="18288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879019" y="4850892"/>
            <a:ext cx="914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E2A47"/>
                </a:solidFill>
                <a:latin typeface="맑은 고딕"/>
              </a:rPr>
              <a:t>6,939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19088" y="111556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E2A47"/>
                </a:solidFill>
                <a:latin typeface="맑은 고딕"/>
              </a:rPr>
              <a:t>유병률 상위 10개구 (%)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419088" y="1481328"/>
            <a:ext cx="1926771" cy="365760"/>
          </a:xfrm>
          <a:prstGeom prst="roundRect">
            <a:avLst>
              <a:gd name="adj" fmla="val 6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92240" y="1563624"/>
            <a:ext cx="178046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맑은 고딕"/>
              </a:rPr>
              <a:t>자치구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345859" y="1481328"/>
            <a:ext cx="1926771" cy="365760"/>
          </a:xfrm>
          <a:prstGeom prst="roundRect">
            <a:avLst>
              <a:gd name="adj" fmla="val 6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419011" y="1563624"/>
            <a:ext cx="178046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맑은 고딕"/>
              </a:rPr>
              <a:t>환자수(명)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272630" y="1481328"/>
            <a:ext cx="1541417" cy="365760"/>
          </a:xfrm>
          <a:prstGeom prst="roundRect">
            <a:avLst>
              <a:gd name="adj" fmla="val 6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345782" y="1563624"/>
            <a:ext cx="139511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맑은 고딕"/>
              </a:rPr>
              <a:t>유병률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92240" y="1911096"/>
            <a:ext cx="1780467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C2430"/>
                </a:solidFill>
                <a:latin typeface="맑은 고딕"/>
              </a:rPr>
              <a:t>종로구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19011" y="1911096"/>
            <a:ext cx="1780467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C2430"/>
                </a:solidFill>
                <a:latin typeface="맑은 고딕"/>
              </a:rPr>
              <a:t>3,127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345782" y="1911096"/>
            <a:ext cx="1395113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C2430"/>
                </a:solidFill>
                <a:latin typeface="맑은 고딕"/>
              </a:rPr>
              <a:t>11.31%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419088" y="2183638"/>
            <a:ext cx="5394960" cy="6350"/>
          </a:xfrm>
          <a:prstGeom prst="rect">
            <a:avLst/>
          </a:prstGeom>
          <a:solidFill>
            <a:srgbClr val="D4D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6419088" y="2189988"/>
            <a:ext cx="5394960" cy="342900"/>
          </a:xfrm>
          <a:prstGeom prst="roundRect">
            <a:avLst>
              <a:gd name="adj" fmla="val 6000"/>
            </a:avLst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92240" y="2253996"/>
            <a:ext cx="1780467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C2430"/>
                </a:solidFill>
                <a:latin typeface="맑은 고딕"/>
              </a:rPr>
              <a:t>용산구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419011" y="2253996"/>
            <a:ext cx="1780467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C2430"/>
                </a:solidFill>
                <a:latin typeface="맑은 고딕"/>
              </a:rPr>
              <a:t>4,249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345782" y="2253996"/>
            <a:ext cx="1395113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C2430"/>
                </a:solidFill>
                <a:latin typeface="맑은 고딕"/>
              </a:rPr>
              <a:t>11.17%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419088" y="2526538"/>
            <a:ext cx="5394960" cy="6350"/>
          </a:xfrm>
          <a:prstGeom prst="rect">
            <a:avLst/>
          </a:prstGeom>
          <a:solidFill>
            <a:srgbClr val="D4D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492240" y="2596896"/>
            <a:ext cx="1780467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C2430"/>
                </a:solidFill>
                <a:latin typeface="맑은 고딕"/>
              </a:rPr>
              <a:t>서대문구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419011" y="2596896"/>
            <a:ext cx="1780467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C2430"/>
                </a:solidFill>
                <a:latin typeface="맑은 고딕"/>
              </a:rPr>
              <a:t>6,187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345782" y="2596896"/>
            <a:ext cx="1395113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C2430"/>
                </a:solidFill>
                <a:latin typeface="맑은 고딕"/>
              </a:rPr>
              <a:t>11.03%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419088" y="2869438"/>
            <a:ext cx="5394960" cy="6350"/>
          </a:xfrm>
          <a:prstGeom prst="rect">
            <a:avLst/>
          </a:prstGeom>
          <a:solidFill>
            <a:srgbClr val="D4D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6419088" y="2875788"/>
            <a:ext cx="5394960" cy="342900"/>
          </a:xfrm>
          <a:prstGeom prst="roundRect">
            <a:avLst>
              <a:gd name="adj" fmla="val 6000"/>
            </a:avLst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492240" y="2939796"/>
            <a:ext cx="1780467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C2430"/>
                </a:solidFill>
                <a:latin typeface="맑은 고딕"/>
              </a:rPr>
              <a:t>마포구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419011" y="2939796"/>
            <a:ext cx="1780467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C2430"/>
                </a:solidFill>
                <a:latin typeface="맑은 고딕"/>
              </a:rPr>
              <a:t>6,114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345782" y="2939796"/>
            <a:ext cx="1395113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C2430"/>
                </a:solidFill>
                <a:latin typeface="맑은 고딕"/>
              </a:rPr>
              <a:t>10.93%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419088" y="3212338"/>
            <a:ext cx="5394960" cy="6350"/>
          </a:xfrm>
          <a:prstGeom prst="rect">
            <a:avLst/>
          </a:prstGeom>
          <a:solidFill>
            <a:srgbClr val="D4D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492240" y="3282696"/>
            <a:ext cx="1780467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C2430"/>
                </a:solidFill>
                <a:latin typeface="맑은 고딕"/>
              </a:rPr>
              <a:t>중구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419011" y="3282696"/>
            <a:ext cx="1780467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C2430"/>
                </a:solidFill>
                <a:latin typeface="맑은 고딕"/>
              </a:rPr>
              <a:t>2,662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345782" y="3282696"/>
            <a:ext cx="1395113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C2430"/>
                </a:solidFill>
                <a:latin typeface="맑은 고딕"/>
              </a:rPr>
              <a:t>10.77%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419088" y="3555238"/>
            <a:ext cx="5394960" cy="6350"/>
          </a:xfrm>
          <a:prstGeom prst="rect">
            <a:avLst/>
          </a:prstGeom>
          <a:solidFill>
            <a:srgbClr val="D4D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6419088" y="3561588"/>
            <a:ext cx="5394960" cy="342900"/>
          </a:xfrm>
          <a:prstGeom prst="roundRect">
            <a:avLst>
              <a:gd name="adj" fmla="val 6000"/>
            </a:avLst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492240" y="3625596"/>
            <a:ext cx="1780467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C2430"/>
                </a:solidFill>
                <a:latin typeface="맑은 고딕"/>
              </a:rPr>
              <a:t>성북구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419011" y="3625596"/>
            <a:ext cx="1780467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C2430"/>
                </a:solidFill>
                <a:latin typeface="맑은 고딕"/>
              </a:rPr>
              <a:t>8,209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345782" y="3625596"/>
            <a:ext cx="1395113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C2430"/>
                </a:solidFill>
                <a:latin typeface="맑은 고딕"/>
              </a:rPr>
              <a:t>10.49%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419088" y="3898138"/>
            <a:ext cx="5394960" cy="6350"/>
          </a:xfrm>
          <a:prstGeom prst="rect">
            <a:avLst/>
          </a:prstGeom>
          <a:solidFill>
            <a:srgbClr val="D4D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492240" y="3968496"/>
            <a:ext cx="1780467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C2430"/>
                </a:solidFill>
                <a:latin typeface="맑은 고딕"/>
              </a:rPr>
              <a:t>강북구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419011" y="3968496"/>
            <a:ext cx="1780467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C2430"/>
                </a:solidFill>
                <a:latin typeface="맑은 고딕"/>
              </a:rPr>
              <a:t>6,939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345782" y="3968496"/>
            <a:ext cx="1395113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C2430"/>
                </a:solidFill>
                <a:latin typeface="맑은 고딕"/>
              </a:rPr>
              <a:t>10.35%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419088" y="4241038"/>
            <a:ext cx="5394960" cy="6350"/>
          </a:xfrm>
          <a:prstGeom prst="rect">
            <a:avLst/>
          </a:prstGeom>
          <a:solidFill>
            <a:srgbClr val="D4D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ounded Rectangle 80"/>
          <p:cNvSpPr/>
          <p:nvPr/>
        </p:nvSpPr>
        <p:spPr>
          <a:xfrm>
            <a:off x="6419088" y="4247388"/>
            <a:ext cx="5394960" cy="342900"/>
          </a:xfrm>
          <a:prstGeom prst="roundRect">
            <a:avLst>
              <a:gd name="adj" fmla="val 6000"/>
            </a:avLst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492240" y="4311396"/>
            <a:ext cx="1780467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C2430"/>
                </a:solidFill>
                <a:latin typeface="맑은 고딕"/>
              </a:rPr>
              <a:t>은평구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419011" y="4311396"/>
            <a:ext cx="1780467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C2430"/>
                </a:solidFill>
                <a:latin typeface="맑은 고딕"/>
              </a:rPr>
              <a:t>9,302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0345782" y="4311396"/>
            <a:ext cx="1395113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C2430"/>
                </a:solidFill>
                <a:latin typeface="맑은 고딕"/>
              </a:rPr>
              <a:t>10.24%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419088" y="4583938"/>
            <a:ext cx="5394960" cy="6350"/>
          </a:xfrm>
          <a:prstGeom prst="rect">
            <a:avLst/>
          </a:prstGeom>
          <a:solidFill>
            <a:srgbClr val="D4D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492240" y="4654296"/>
            <a:ext cx="1780467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C2430"/>
                </a:solidFill>
                <a:latin typeface="맑은 고딕"/>
              </a:rPr>
              <a:t>동대문구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419011" y="4654296"/>
            <a:ext cx="1780467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C2430"/>
                </a:solidFill>
                <a:latin typeface="맑은 고딕"/>
              </a:rPr>
              <a:t>6,670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345782" y="4654296"/>
            <a:ext cx="1395113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C2430"/>
                </a:solidFill>
                <a:latin typeface="맑은 고딕"/>
              </a:rPr>
              <a:t>10.24%</a:t>
            </a:r>
          </a:p>
        </p:txBody>
      </p:sp>
      <p:sp>
        <p:nvSpPr>
          <p:cNvPr id="89" name="Rectangle 88"/>
          <p:cNvSpPr/>
          <p:nvPr/>
        </p:nvSpPr>
        <p:spPr>
          <a:xfrm>
            <a:off x="6419088" y="4926838"/>
            <a:ext cx="5394960" cy="6350"/>
          </a:xfrm>
          <a:prstGeom prst="rect">
            <a:avLst/>
          </a:prstGeom>
          <a:solidFill>
            <a:srgbClr val="D4D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ounded Rectangle 89"/>
          <p:cNvSpPr/>
          <p:nvPr/>
        </p:nvSpPr>
        <p:spPr>
          <a:xfrm>
            <a:off x="6419088" y="4933188"/>
            <a:ext cx="5394960" cy="342900"/>
          </a:xfrm>
          <a:prstGeom prst="roundRect">
            <a:avLst>
              <a:gd name="adj" fmla="val 6000"/>
            </a:avLst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492240" y="4997196"/>
            <a:ext cx="1780467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C2430"/>
                </a:solidFill>
                <a:latin typeface="맑은 고딕"/>
              </a:rPr>
              <a:t>영등포구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419011" y="4997196"/>
            <a:ext cx="1780467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C2430"/>
                </a:solidFill>
                <a:latin typeface="맑은 고딕"/>
              </a:rPr>
              <a:t>6,552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0345782" y="4997196"/>
            <a:ext cx="1395113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C2430"/>
                </a:solidFill>
                <a:latin typeface="맑은 고딕"/>
              </a:rPr>
              <a:t>10.24%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419088" y="5269738"/>
            <a:ext cx="5394960" cy="6350"/>
          </a:xfrm>
          <a:prstGeom prst="rect">
            <a:avLst/>
          </a:prstGeom>
          <a:solidFill>
            <a:srgbClr val="D4D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ounded Rectangle 94"/>
          <p:cNvSpPr/>
          <p:nvPr/>
        </p:nvSpPr>
        <p:spPr>
          <a:xfrm>
            <a:off x="566928" y="5257800"/>
            <a:ext cx="11057839" cy="896112"/>
          </a:xfrm>
          <a:prstGeom prst="roundRect">
            <a:avLst>
              <a:gd name="adj" fmla="val 6000"/>
            </a:avLst>
          </a:prstGeom>
          <a:solidFill>
            <a:srgbClr val="E3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841248" y="5413248"/>
            <a:ext cx="1050919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>
                <a:solidFill>
                  <a:srgbClr val="0E2A47"/>
                </a:solidFill>
                <a:latin typeface="맑은 고딕"/>
              </a:rPr>
              <a:t>환자수는 인구가 많은 강서·노원·송파구가, 유병률은 종로·용산·서대문구가 높다.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1150" b="0">
                <a:solidFill>
                  <a:srgbClr val="5E6B7A"/>
                </a:solidFill>
                <a:latin typeface="맑은 고딕"/>
              </a:rPr>
              <a:t>→ 절대 규모 대응과 고밀도 지역 집중 대응을 나누어 설계할 근거가 된다.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566928" y="6473952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6B7A"/>
                </a:solidFill>
                <a:latin typeface="맑은 고딕"/>
              </a:rPr>
              <a:t>출처: 서울특별시 치매관련현황 (2023년, 25개 자치구 전수) — 사용자 제공 원자료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155448"/>
            <a:ext cx="56692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0E7C86"/>
                </a:solidFill>
                <a:latin typeface="맑은 고딕"/>
              </a:rPr>
              <a:t>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" y="146304"/>
            <a:ext cx="1055491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맑은 고딕"/>
              </a:rPr>
              <a:t>디바이스 배터리 소요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" y="502920"/>
            <a:ext cx="1055491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AFC4D4"/>
                </a:solidFill>
                <a:latin typeface="맑은 고딕"/>
              </a:rPr>
              <a:t>서버에 쌓인 실제 텔레메트리에서 산출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188720"/>
            <a:ext cx="2106255" cy="365760"/>
          </a:xfrm>
          <a:prstGeom prst="roundRect">
            <a:avLst>
              <a:gd name="adj" fmla="val 6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71016"/>
            <a:ext cx="195995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맑은 고딕"/>
              </a:rPr>
              <a:t>기기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73183" y="1188720"/>
            <a:ext cx="2211567" cy="365760"/>
          </a:xfrm>
          <a:prstGeom prst="roundRect">
            <a:avLst>
              <a:gd name="adj" fmla="val 6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6335" y="1271016"/>
            <a:ext cx="20652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맑은 고딕"/>
              </a:rPr>
              <a:t>deviceId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84750" y="1188720"/>
            <a:ext cx="2106255" cy="365760"/>
          </a:xfrm>
          <a:prstGeom prst="roundRect">
            <a:avLst>
              <a:gd name="adj" fmla="val 6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57902" y="1271016"/>
            <a:ext cx="195995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맑은 고딕"/>
              </a:rPr>
              <a:t>관측 구간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91005" y="1188720"/>
            <a:ext cx="1263753" cy="365760"/>
          </a:xfrm>
          <a:prstGeom prst="roundRect">
            <a:avLst>
              <a:gd name="adj" fmla="val 6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64157" y="1271016"/>
            <a:ext cx="111744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맑은 고딕"/>
              </a:rPr>
              <a:t>경과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54758" y="1188720"/>
            <a:ext cx="1474378" cy="365760"/>
          </a:xfrm>
          <a:prstGeom prst="roundRect">
            <a:avLst>
              <a:gd name="adj" fmla="val 6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7910" y="1271016"/>
            <a:ext cx="132807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맑은 고딕"/>
              </a:rPr>
              <a:t>소모율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729137" y="1188720"/>
            <a:ext cx="1895629" cy="365760"/>
          </a:xfrm>
          <a:prstGeom prst="roundRect">
            <a:avLst>
              <a:gd name="adj" fmla="val 6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02289" y="1271016"/>
            <a:ext cx="174932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맑은 고딕"/>
              </a:rPr>
              <a:t>완충 시 예상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1618488"/>
            <a:ext cx="1959951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C2430"/>
                </a:solidFill>
                <a:latin typeface="맑은 고딕"/>
              </a:rPr>
              <a:t>SFD 태블릿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6335" y="1618488"/>
            <a:ext cx="2065263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1C2430"/>
                </a:solidFill>
                <a:latin typeface="맑은 고딕"/>
              </a:rPr>
              <a:t>SF-26420C21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57902" y="1618488"/>
            <a:ext cx="1959951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1C2430"/>
                </a:solidFill>
                <a:latin typeface="맑은 고딕"/>
              </a:rPr>
              <a:t>100% → 40%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64157" y="1618488"/>
            <a:ext cx="1117449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1C2430"/>
                </a:solidFill>
                <a:latin typeface="맑은 고딕"/>
              </a:rPr>
              <a:t>23.9 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7910" y="1618488"/>
            <a:ext cx="1328074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1C2430"/>
                </a:solidFill>
                <a:latin typeface="맑은 고딕"/>
              </a:rPr>
              <a:t>2.51 %/h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02289" y="1618488"/>
            <a:ext cx="1749325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1C2430"/>
                </a:solidFill>
                <a:latin typeface="맑은 고딕"/>
              </a:rPr>
              <a:t>약 40 시간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1968754"/>
            <a:ext cx="11057839" cy="6350"/>
          </a:xfrm>
          <a:prstGeom prst="rect">
            <a:avLst/>
          </a:prstGeom>
          <a:solidFill>
            <a:srgbClr val="D4D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66928" y="1975104"/>
            <a:ext cx="11057839" cy="420624"/>
          </a:xfrm>
          <a:prstGeom prst="roundRect">
            <a:avLst>
              <a:gd name="adj" fmla="val 6000"/>
            </a:avLst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2039112"/>
            <a:ext cx="1959951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C2430"/>
                </a:solidFill>
                <a:latin typeface="맑은 고딕"/>
              </a:rPr>
              <a:t>SFW 워치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6335" y="2039112"/>
            <a:ext cx="2065263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1C2430"/>
                </a:solidFill>
                <a:latin typeface="맑은 고딕"/>
              </a:rPr>
              <a:t>SF-753A1FE0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57902" y="2039112"/>
            <a:ext cx="1959951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1C2430"/>
                </a:solidFill>
                <a:latin typeface="맑은 고딕"/>
              </a:rPr>
              <a:t>100% → 3%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64157" y="2039112"/>
            <a:ext cx="1117449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1C2430"/>
                </a:solidFill>
                <a:latin typeface="맑은 고딕"/>
              </a:rPr>
              <a:t>21.2 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7910" y="2039112"/>
            <a:ext cx="1328074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1C2430"/>
                </a:solidFill>
                <a:latin typeface="맑은 고딕"/>
              </a:rPr>
              <a:t>4.57 %/h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02289" y="2039112"/>
            <a:ext cx="1749325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1C2430"/>
                </a:solidFill>
                <a:latin typeface="맑은 고딕"/>
              </a:rPr>
              <a:t>약 22 시간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2389378"/>
            <a:ext cx="11057839" cy="6350"/>
          </a:xfrm>
          <a:prstGeom prst="rect">
            <a:avLst/>
          </a:prstGeom>
          <a:solidFill>
            <a:srgbClr val="D4D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2459736"/>
            <a:ext cx="1959951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C2430"/>
                </a:solidFill>
                <a:latin typeface="맑은 고딕"/>
              </a:rPr>
              <a:t>SFA 전용 단말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46335" y="2459736"/>
            <a:ext cx="2065263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1C2430"/>
                </a:solidFill>
                <a:latin typeface="맑은 고딕"/>
              </a:rPr>
              <a:t>SF-ACAC14EC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57902" y="2459736"/>
            <a:ext cx="1959951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1C2430"/>
                </a:solidFill>
                <a:latin typeface="맑은 고딕"/>
              </a:rPr>
              <a:t>—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64157" y="2459736"/>
            <a:ext cx="1117449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1C2430"/>
                </a:solidFill>
                <a:latin typeface="맑은 고딕"/>
              </a:rPr>
              <a:t>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27910" y="2459736"/>
            <a:ext cx="1328074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1C2430"/>
                </a:solidFill>
                <a:latin typeface="맑은 고딕"/>
              </a:rPr>
              <a:t>—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802289" y="2459736"/>
            <a:ext cx="1749325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B57A0B"/>
                </a:solidFill>
                <a:latin typeface="맑은 고딕"/>
              </a:rPr>
              <a:t>미측정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66928" y="2810002"/>
            <a:ext cx="11057839" cy="6350"/>
          </a:xfrm>
          <a:prstGeom prst="rect">
            <a:avLst/>
          </a:prstGeom>
          <a:solidFill>
            <a:srgbClr val="D4D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566928" y="3136392"/>
            <a:ext cx="11057839" cy="1371600"/>
          </a:xfrm>
          <a:prstGeom prst="roundRect">
            <a:avLst>
              <a:gd name="adj" fmla="val 6000"/>
            </a:avLst>
          </a:prstGeom>
          <a:solidFill>
            <a:srgbClr val="FDF6EC"/>
          </a:solidFill>
          <a:ln w="12700">
            <a:solidFill>
              <a:srgbClr val="EBDA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41248" y="3273552"/>
            <a:ext cx="10509199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0E2A47"/>
                </a:solidFill>
                <a:latin typeface="맑은 고딕"/>
              </a:rPr>
              <a:t>SFA는 왜 미측정인가</a:t>
            </a:r>
          </a:p>
          <a:p>
            <a:pPr algn="l">
              <a:lnSpc>
                <a:spcPct val="125000"/>
              </a:lnSpc>
              <a:spcBef>
                <a:spcPts val="500"/>
              </a:spcBef>
            </a:pPr>
            <a:r>
              <a:rPr sz="1100" b="0">
                <a:solidFill>
                  <a:srgbClr val="1C2430"/>
                </a:solidFill>
                <a:latin typeface="맑은 고딕"/>
              </a:rPr>
              <a:t>SFA의 배터리 값은 ADC 분압을 3.3~4.2 V 선형으로 환산한 추정치이고, 실증 기간 대부분 USB로 급전된 상태였습니다. 서버에는 74%→0% 같은 급락 구간이 남아 있지만 이는 방전 곡선이 아니라 급전 중 ADC 값이므로, 사용시간 근거로 쓰지 않았습니다.</a:t>
            </a:r>
          </a:p>
          <a:p>
            <a:pPr algn="l">
              <a:lnSpc>
                <a:spcPct val="125000"/>
              </a:lnSpc>
              <a:spcBef>
                <a:spcPts val="500"/>
              </a:spcBef>
            </a:pPr>
            <a:r>
              <a:rPr sz="1100" b="1">
                <a:solidFill>
                  <a:srgbClr val="B57A0B"/>
                </a:solidFill>
                <a:latin typeface="맑은 고딕"/>
              </a:rPr>
              <a:t>→ 배터리만으로 구동한 상태에서 별도 실측이 필요합니다. (실증 잔여 과제)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66928" y="4690871"/>
            <a:ext cx="11057839" cy="658368"/>
          </a:xfrm>
          <a:prstGeom prst="roundRect">
            <a:avLst>
              <a:gd name="adj" fmla="val 6000"/>
            </a:avLst>
          </a:prstGeom>
          <a:solidFill>
            <a:srgbClr val="F4F7F9"/>
          </a:solidFill>
          <a:ln w="12700">
            <a:solidFill>
              <a:srgbClr val="D4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41248" y="4828032"/>
            <a:ext cx="1050919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5E6B7A"/>
                </a:solidFill>
                <a:latin typeface="맑은 고딕"/>
              </a:rPr>
              <a:t>산출 방법: 기기별 전체 배터리 시계열에서 충전(값 상승) 구간을 잘라내고, 가장 긴 연속 방전 구간의 기울기를 사용했습니다.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6928" y="6473952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6B7A"/>
                </a:solidFill>
                <a:latin typeface="맑은 고딕"/>
              </a:rPr>
              <a:t>원자료: /api/v1/devices/{id}/logs — 2026-08-13 ~ 08-15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155448"/>
            <a:ext cx="56692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0E7C86"/>
                </a:solidFill>
                <a:latin typeface="맑은 고딕"/>
              </a:rPr>
              <a:t>A5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" y="146304"/>
            <a:ext cx="1055491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맑은 고딕"/>
              </a:rPr>
              <a:t>대표 이미지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" y="502920"/>
            <a:ext cx="1055491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AFC4D4"/>
                </a:solidFill>
                <a:latin typeface="맑은 고딕"/>
              </a:rPr>
              <a:t>실증에 사용된 화면과 하드웨어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188720"/>
            <a:ext cx="3533546" cy="4480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4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fc_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305" y="1325880"/>
            <a:ext cx="2454792" cy="3931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04088" y="5349240"/>
            <a:ext cx="325922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E2A47"/>
                </a:solidFill>
                <a:latin typeface="맑은 고딕"/>
              </a:rPr>
              <a:t>SFC — 보호자 앱 메인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9074" y="1188720"/>
            <a:ext cx="3533546" cy="4480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4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fd_m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8481" y="1325880"/>
            <a:ext cx="1814732" cy="3931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466234" y="5349240"/>
            <a:ext cx="325922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E2A47"/>
                </a:solidFill>
                <a:latin typeface="맑은 고딕"/>
              </a:rPr>
              <a:t>SFD — 추적 단말 화면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1220" y="1188720"/>
            <a:ext cx="3533546" cy="4480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4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esp32c5_lte_gps_wir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8380" y="1325880"/>
            <a:ext cx="3259226" cy="197881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228380" y="5349240"/>
            <a:ext cx="325922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E2A47"/>
                </a:solidFill>
                <a:latin typeface="맑은 고딕"/>
              </a:rPr>
              <a:t>SFA — LTE/GNSS 결선도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6473952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6B7A"/>
                </a:solidFill>
                <a:latin typeface="맑은 고딕"/>
              </a:rPr>
              <a:t>동영상 자료는 별도 첨부 예정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155448"/>
            <a:ext cx="56692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0E7C86"/>
                </a:solidFill>
                <a:latin typeface="맑은 고딕"/>
              </a:rPr>
              <a:t>A6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" y="146304"/>
            <a:ext cx="1055491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맑은 고딕"/>
              </a:rPr>
              <a:t>디바이스 구성표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" y="502920"/>
            <a:ext cx="1055491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AFC4D4"/>
                </a:solidFill>
                <a:latin typeface="맑은 고딕"/>
              </a:rPr>
              <a:t>소스 코드 기준 상세 사양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188720"/>
            <a:ext cx="762609" cy="365760"/>
          </a:xfrm>
          <a:prstGeom prst="roundRect">
            <a:avLst>
              <a:gd name="adj" fmla="val 6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71016"/>
            <a:ext cx="61630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맑은 고딕"/>
              </a:rPr>
              <a:t>코드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29537" y="1188720"/>
            <a:ext cx="2383154" cy="365760"/>
          </a:xfrm>
          <a:prstGeom prst="roundRect">
            <a:avLst>
              <a:gd name="adj" fmla="val 6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02689" y="1271016"/>
            <a:ext cx="223685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맑은 고딕"/>
              </a:rPr>
              <a:t>하드웨어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12692" y="1188720"/>
            <a:ext cx="1239240" cy="365760"/>
          </a:xfrm>
          <a:prstGeom prst="roundRect">
            <a:avLst>
              <a:gd name="adj" fmla="val 6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85844" y="1271016"/>
            <a:ext cx="109293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맑은 고딕"/>
              </a:rPr>
              <a:t>MCU/OS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51933" y="1188720"/>
            <a:ext cx="1906523" cy="365760"/>
          </a:xfrm>
          <a:prstGeom prst="roundRect">
            <a:avLst>
              <a:gd name="adj" fmla="val 6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5085" y="1271016"/>
            <a:ext cx="176021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맑은 고딕"/>
              </a:rPr>
              <a:t>식별자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457" y="1188720"/>
            <a:ext cx="4766309" cy="365760"/>
          </a:xfrm>
          <a:prstGeom prst="roundRect">
            <a:avLst>
              <a:gd name="adj" fmla="val 6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31609" y="1271016"/>
            <a:ext cx="462000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맑은 고딕"/>
              </a:rPr>
              <a:t>탑재 기능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1618488"/>
            <a:ext cx="616305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C2430"/>
                </a:solidFill>
                <a:latin typeface="맑은 고딕"/>
              </a:rPr>
              <a:t>SFC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02689" y="1618488"/>
            <a:ext cx="223685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C2430"/>
                </a:solidFill>
                <a:latin typeface="맑은 고딕"/>
              </a:rPr>
              <a:t>Galaxy S24 Ultra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85844" y="1618488"/>
            <a:ext cx="1092936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C2430"/>
                </a:solidFill>
                <a:latin typeface="맑은 고딕"/>
              </a:rPr>
              <a:t>Android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5085" y="1618488"/>
            <a:ext cx="1760219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C2430"/>
                </a:solidFill>
                <a:latin typeface="맑은 고딕"/>
              </a:rPr>
              <a:t>com.sf.sfc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31609" y="1618488"/>
            <a:ext cx="4620005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C2430"/>
                </a:solidFill>
                <a:latin typeface="맑은 고딕"/>
              </a:rPr>
              <a:t>BLE Central · GPS HTTP 서버(:8765) · 대시보드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1968754"/>
            <a:ext cx="11057839" cy="6350"/>
          </a:xfrm>
          <a:prstGeom prst="rect">
            <a:avLst/>
          </a:prstGeom>
          <a:solidFill>
            <a:srgbClr val="D4D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66928" y="1975104"/>
            <a:ext cx="11057839" cy="420624"/>
          </a:xfrm>
          <a:prstGeom prst="roundRect">
            <a:avLst>
              <a:gd name="adj" fmla="val 6000"/>
            </a:avLst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2039112"/>
            <a:ext cx="616305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C2430"/>
                </a:solidFill>
                <a:latin typeface="맑은 고딕"/>
              </a:rPr>
              <a:t>SFD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02689" y="2039112"/>
            <a:ext cx="223685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C2430"/>
                </a:solidFill>
                <a:latin typeface="맑은 고딕"/>
              </a:rPr>
              <a:t>Android 태블릿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85844" y="2039112"/>
            <a:ext cx="1092936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C2430"/>
                </a:solidFill>
                <a:latin typeface="맑은 고딕"/>
              </a:rPr>
              <a:t>Android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5085" y="2039112"/>
            <a:ext cx="1760219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C2430"/>
                </a:solidFill>
                <a:latin typeface="맑은 고딕"/>
              </a:rPr>
              <a:t>com.sf.sfd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31609" y="2039112"/>
            <a:ext cx="4620005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C2430"/>
                </a:solidFill>
                <a:latin typeface="맑은 고딕"/>
              </a:rPr>
              <a:t>BLE Peripheral · WiFi/GPS 판정 · 자이로 · SMS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6928" y="2389378"/>
            <a:ext cx="11057839" cy="6350"/>
          </a:xfrm>
          <a:prstGeom prst="rect">
            <a:avLst/>
          </a:prstGeom>
          <a:solidFill>
            <a:srgbClr val="D4D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2459736"/>
            <a:ext cx="616305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C2430"/>
                </a:solidFill>
                <a:latin typeface="맑은 고딕"/>
              </a:rPr>
              <a:t>SFW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02689" y="2459736"/>
            <a:ext cx="223685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C2430"/>
                </a:solidFill>
                <a:latin typeface="맑은 고딕"/>
              </a:rPr>
              <a:t>Wear OS 워치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85844" y="2459736"/>
            <a:ext cx="1092936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C2430"/>
                </a:solidFill>
                <a:latin typeface="맑은 고딕"/>
              </a:rPr>
              <a:t>Android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5085" y="2459736"/>
            <a:ext cx="1760219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C2430"/>
                </a:solidFill>
                <a:latin typeface="맑은 고딕"/>
              </a:rPr>
              <a:t>com.sf.sfw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31609" y="2459736"/>
            <a:ext cx="4620005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C2430"/>
                </a:solidFill>
                <a:latin typeface="맑은 고딕"/>
              </a:rPr>
              <a:t>BLE Peripheral · 동일 판정 로직 · SMS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6928" y="2810002"/>
            <a:ext cx="11057839" cy="6350"/>
          </a:xfrm>
          <a:prstGeom prst="rect">
            <a:avLst/>
          </a:prstGeom>
          <a:solidFill>
            <a:srgbClr val="D4D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566928" y="2816352"/>
            <a:ext cx="11057839" cy="420624"/>
          </a:xfrm>
          <a:prstGeom prst="roundRect">
            <a:avLst>
              <a:gd name="adj" fmla="val 6000"/>
            </a:avLst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2880360"/>
            <a:ext cx="616305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C2430"/>
                </a:solidFill>
                <a:latin typeface="맑은 고딕"/>
              </a:rPr>
              <a:t>SFA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02689" y="2880360"/>
            <a:ext cx="223685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C2430"/>
                </a:solidFill>
                <a:latin typeface="맑은 고딕"/>
              </a:rPr>
              <a:t>LILYGO T-A7670E-S3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85844" y="2880360"/>
            <a:ext cx="1092936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C2430"/>
                </a:solidFill>
                <a:latin typeface="맑은 고딕"/>
              </a:rPr>
              <a:t>ESP32-S3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5085" y="2880360"/>
            <a:ext cx="1760219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C2430"/>
                </a:solidFill>
                <a:latin typeface="맑은 고딕"/>
              </a:rPr>
              <a:t>펌웨어 0.9.0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31609" y="2880360"/>
            <a:ext cx="4620005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C2430"/>
                </a:solidFill>
                <a:latin typeface="맑은 고딕"/>
              </a:rPr>
              <a:t>LTE Cat.1 · GNSS · UCS2 SMS · BLE GATT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66928" y="3230626"/>
            <a:ext cx="11057839" cy="6350"/>
          </a:xfrm>
          <a:prstGeom prst="rect">
            <a:avLst/>
          </a:prstGeom>
          <a:solidFill>
            <a:srgbClr val="D4D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566928" y="3557016"/>
            <a:ext cx="11057839" cy="384048"/>
          </a:xfrm>
          <a:prstGeom prst="roundRect">
            <a:avLst>
              <a:gd name="adj" fmla="val 6000"/>
            </a:avLst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68096" y="3648456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E2A47"/>
                </a:solidFill>
                <a:latin typeface="맑은 고딕"/>
              </a:rPr>
              <a:t>공통 프로토콜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10128" y="3648456"/>
            <a:ext cx="80403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C2430"/>
                </a:solidFill>
                <a:latin typeface="맑은 고딕"/>
              </a:rPr>
              <a:t>HTTPS 텔레메트리 · BLE GATT 온보딩(동일 UUID) · 직통 SMS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8096" y="4050792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E2A47"/>
                </a:solidFill>
                <a:latin typeface="맑은 고딕"/>
              </a:rPr>
              <a:t>텔레메트리 주기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310128" y="4050792"/>
            <a:ext cx="80403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C2430"/>
                </a:solidFill>
                <a:latin typeface="맑은 고딕"/>
              </a:rPr>
              <a:t>안심존 내 10분 / 안심존 밖 1분 / SOS 시 1분 반복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66928" y="4361688"/>
            <a:ext cx="11057839" cy="384048"/>
          </a:xfrm>
          <a:prstGeom prst="roundRect">
            <a:avLst>
              <a:gd name="adj" fmla="val 6000"/>
            </a:avLst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68096" y="4453128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E2A47"/>
                </a:solidFill>
                <a:latin typeface="맑은 고딕"/>
              </a:rPr>
              <a:t>경보 임계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310128" y="4453128"/>
            <a:ext cx="80403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C2430"/>
                </a:solidFill>
                <a:latin typeface="맑은 고딕"/>
              </a:rPr>
              <a:t>이탈 5분 → WARNING,  30분 → SOS  (문자는 단계별 1회)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68096" y="4855464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E2A47"/>
                </a:solidFill>
                <a:latin typeface="맑은 고딕"/>
              </a:rPr>
              <a:t>안심존 종류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10128" y="4855464"/>
            <a:ext cx="80403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C2430"/>
                </a:solidFill>
                <a:latin typeface="맑은 고딕"/>
              </a:rPr>
              <a:t>FIXED_AP(집) · SUSPECTED_HOTSPOT(보호자 폰) · REGISTERED_HOTSPOT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66928" y="5166360"/>
            <a:ext cx="11057839" cy="384048"/>
          </a:xfrm>
          <a:prstGeom prst="roundRect">
            <a:avLst>
              <a:gd name="adj" fmla="val 6000"/>
            </a:avLst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68096" y="5257800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E2A47"/>
                </a:solidFill>
                <a:latin typeface="맑은 고딕"/>
              </a:rPr>
              <a:t>측위 수단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310128" y="5257800"/>
            <a:ext cx="80403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C2430"/>
                </a:solidFill>
                <a:latin typeface="맑은 고딕"/>
              </a:rPr>
              <a:t>WiFi AP 식별 · GNSS · 보호자 폰 GPS 중계 · (셀 측위 불가)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68096" y="5660136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E2A47"/>
                </a:solidFill>
                <a:latin typeface="맑은 고딕"/>
              </a:rPr>
              <a:t>저전력 표기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310128" y="5660136"/>
            <a:ext cx="80403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C2430"/>
                </a:solidFill>
                <a:latin typeface="맑은 고딕"/>
              </a:rPr>
              <a:t>배터리 10% 이하 → deviceStatus/eventType = LOW_BATTERY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66928" y="6473952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6B7A"/>
                </a:solidFill>
                <a:latin typeface="맑은 고딕"/>
              </a:rPr>
              <a:t>SFA/SFD/SFW/SFC 소스 및 sfa_config.h 기준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155448"/>
            <a:ext cx="56692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0E7C86"/>
                </a:solidFill>
                <a:latin typeface="맑은 고딕"/>
              </a:rPr>
              <a:t>A7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" y="146304"/>
            <a:ext cx="1055491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맑은 고딕"/>
              </a:rPr>
              <a:t>전력 소모 계산 — 1000 mAh 기준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" y="502920"/>
            <a:ext cx="1055491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AFC4D4"/>
                </a:solidFill>
                <a:latin typeface="맑은 고딕"/>
              </a:rPr>
              <a:t>전류값은 데이터시트 전형값(추정), 동작 주기는 실제 펌웨어 설정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097280"/>
            <a:ext cx="5577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E2A47"/>
                </a:solidFill>
                <a:latin typeface="맑은 고딕"/>
              </a:rPr>
              <a:t>계산 전제 — 상시 소비 전류 (mA)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417320"/>
            <a:ext cx="3160776" cy="310896"/>
          </a:xfrm>
          <a:prstGeom prst="roundRect">
            <a:avLst>
              <a:gd name="adj" fmla="val 6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99616"/>
            <a:ext cx="30144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맑은 고딕"/>
              </a:rPr>
              <a:t>항목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27704" y="1417320"/>
            <a:ext cx="790194" cy="310896"/>
          </a:xfrm>
          <a:prstGeom prst="roundRect">
            <a:avLst>
              <a:gd name="adj" fmla="val 6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00856" y="1499616"/>
            <a:ext cx="64389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맑은 고딕"/>
              </a:rPr>
              <a:t>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17898" y="1417320"/>
            <a:ext cx="836676" cy="310896"/>
          </a:xfrm>
          <a:prstGeom prst="roundRect">
            <a:avLst>
              <a:gd name="adj" fmla="val 6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1050" y="1499616"/>
            <a:ext cx="6903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맑은 고딕"/>
              </a:rPr>
              <a:t>전형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54574" y="1417320"/>
            <a:ext cx="790194" cy="310896"/>
          </a:xfrm>
          <a:prstGeom prst="roundRect">
            <a:avLst>
              <a:gd name="adj" fmla="val 6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27726" y="1499616"/>
            <a:ext cx="64389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맑은 고딕"/>
              </a:rPr>
              <a:t>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1792224"/>
            <a:ext cx="30144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C2430"/>
                </a:solidFill>
                <a:latin typeface="맑은 고딕"/>
              </a:rPr>
              <a:t>보드 상시 (레귤레이터·LED)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00856" y="1792224"/>
            <a:ext cx="64389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1C2430"/>
                </a:solidFill>
                <a:latin typeface="맑은 고딕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1050" y="1792224"/>
            <a:ext cx="6903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1C2430"/>
                </a:solidFill>
                <a:latin typeface="맑은 고딕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27726" y="1792224"/>
            <a:ext cx="64389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1C2430"/>
                </a:solidFill>
                <a:latin typeface="맑은 고딕"/>
              </a:rPr>
              <a:t>8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2014474"/>
            <a:ext cx="5577840" cy="6350"/>
          </a:xfrm>
          <a:prstGeom prst="rect">
            <a:avLst/>
          </a:prstGeom>
          <a:solidFill>
            <a:srgbClr val="D4D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66928" y="2020824"/>
            <a:ext cx="5577840" cy="292608"/>
          </a:xfrm>
          <a:prstGeom prst="roundRect">
            <a:avLst>
              <a:gd name="adj" fmla="val 6000"/>
            </a:avLst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2084832"/>
            <a:ext cx="30144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C2430"/>
                </a:solidFill>
                <a:latin typeface="맑은 고딕"/>
              </a:rPr>
              <a:t>ESP32-S3 BLE 광고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0856" y="2084832"/>
            <a:ext cx="64389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1C2430"/>
                </a:solidFill>
                <a:latin typeface="맑은 고딕"/>
              </a:rPr>
              <a:t>12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91050" y="2084832"/>
            <a:ext cx="6903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1C2430"/>
                </a:solidFill>
                <a:latin typeface="맑은 고딕"/>
              </a:rPr>
              <a:t>20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27726" y="2084832"/>
            <a:ext cx="64389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1C2430"/>
                </a:solidFill>
                <a:latin typeface="맑은 고딕"/>
              </a:rPr>
              <a:t>30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2307082"/>
            <a:ext cx="5577840" cy="6350"/>
          </a:xfrm>
          <a:prstGeom prst="rect">
            <a:avLst/>
          </a:prstGeom>
          <a:solidFill>
            <a:srgbClr val="D4D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2377440"/>
            <a:ext cx="30144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C2430"/>
                </a:solidFill>
                <a:latin typeface="맑은 고딕"/>
              </a:rPr>
              <a:t>ESP32-S3 Wi-Fi 연결 유지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00856" y="2377440"/>
            <a:ext cx="64389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1C2430"/>
                </a:solidFill>
                <a:latin typeface="맑은 고딕"/>
              </a:rPr>
              <a:t>18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91050" y="2377440"/>
            <a:ext cx="6903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1C2430"/>
                </a:solidFill>
                <a:latin typeface="맑은 고딕"/>
              </a:rPr>
              <a:t>25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27726" y="2377440"/>
            <a:ext cx="64389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1C2430"/>
                </a:solidFill>
                <a:latin typeface="맑은 고딕"/>
              </a:rPr>
              <a:t>40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2599690"/>
            <a:ext cx="5577840" cy="6350"/>
          </a:xfrm>
          <a:prstGeom prst="rect">
            <a:avLst/>
          </a:prstGeom>
          <a:solidFill>
            <a:srgbClr val="D4D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66928" y="2606040"/>
            <a:ext cx="5577840" cy="292608"/>
          </a:xfrm>
          <a:prstGeom prst="roundRect">
            <a:avLst>
              <a:gd name="adj" fmla="val 6000"/>
            </a:avLst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2670048"/>
            <a:ext cx="30144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C2430"/>
                </a:solidFill>
                <a:latin typeface="맑은 고딕"/>
              </a:rPr>
              <a:t>ESP32-S3 무선 없이 동작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00856" y="2670048"/>
            <a:ext cx="64389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1C2430"/>
                </a:solidFill>
                <a:latin typeface="맑은 고딕"/>
              </a:rPr>
              <a:t>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91050" y="2670048"/>
            <a:ext cx="6903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1C2430"/>
                </a:solidFill>
                <a:latin typeface="맑은 고딕"/>
              </a:rPr>
              <a:t>20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27726" y="2670048"/>
            <a:ext cx="64389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1C2430"/>
                </a:solidFill>
                <a:latin typeface="맑은 고딕"/>
              </a:rPr>
              <a:t>30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2892298"/>
            <a:ext cx="5577840" cy="6350"/>
          </a:xfrm>
          <a:prstGeom prst="rect">
            <a:avLst/>
          </a:prstGeom>
          <a:solidFill>
            <a:srgbClr val="D4D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" y="2962656"/>
            <a:ext cx="30144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C2430"/>
                </a:solidFill>
                <a:latin typeface="맑은 고딕"/>
              </a:rPr>
              <a:t>A7670E 등록 유지 (PSM 미사용)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00856" y="2962656"/>
            <a:ext cx="64389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1C2430"/>
                </a:solidFill>
                <a:latin typeface="맑은 고딕"/>
              </a:rPr>
              <a:t>10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91050" y="2962656"/>
            <a:ext cx="6903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1C2430"/>
                </a:solidFill>
                <a:latin typeface="맑은 고딕"/>
              </a:rPr>
              <a:t>15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27726" y="2962656"/>
            <a:ext cx="64389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1C2430"/>
                </a:solidFill>
                <a:latin typeface="맑은 고딕"/>
              </a:rPr>
              <a:t>25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66928" y="3184906"/>
            <a:ext cx="5577840" cy="6350"/>
          </a:xfrm>
          <a:prstGeom prst="rect">
            <a:avLst/>
          </a:prstGeom>
          <a:solidFill>
            <a:srgbClr val="D4D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566928" y="3191256"/>
            <a:ext cx="5577840" cy="292608"/>
          </a:xfrm>
          <a:prstGeom prst="roundRect">
            <a:avLst>
              <a:gd name="adj" fmla="val 6000"/>
            </a:avLst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" y="3255264"/>
            <a:ext cx="30144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C2430"/>
                </a:solidFill>
                <a:latin typeface="맑은 고딕"/>
              </a:rPr>
              <a:t>A7670E GNSS 수신 상시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800856" y="3255264"/>
            <a:ext cx="64389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1C2430"/>
                </a:solidFill>
                <a:latin typeface="맑은 고딕"/>
              </a:rPr>
              <a:t>25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91050" y="3255264"/>
            <a:ext cx="6903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1C2430"/>
                </a:solidFill>
                <a:latin typeface="맑은 고딕"/>
              </a:rPr>
              <a:t>35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27726" y="3255264"/>
            <a:ext cx="64389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1C2430"/>
                </a:solidFill>
                <a:latin typeface="맑은 고딕"/>
              </a:rPr>
              <a:t>50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66928" y="3477514"/>
            <a:ext cx="5577840" cy="6350"/>
          </a:xfrm>
          <a:prstGeom prst="rect">
            <a:avLst/>
          </a:prstGeom>
          <a:solidFill>
            <a:srgbClr val="D4D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66928" y="3703320"/>
            <a:ext cx="5577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E2A47"/>
                </a:solidFill>
                <a:latin typeface="맑은 고딕"/>
              </a:rPr>
              <a:t>1회 전송 소비 (버스트)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66928" y="4023360"/>
            <a:ext cx="2651760" cy="310896"/>
          </a:xfrm>
          <a:prstGeom prst="roundRect">
            <a:avLst>
              <a:gd name="adj" fmla="val 6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0080" y="4105656"/>
            <a:ext cx="250545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맑은 고딕"/>
              </a:rPr>
              <a:t>동작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218688" y="4023360"/>
            <a:ext cx="1737360" cy="310896"/>
          </a:xfrm>
          <a:prstGeom prst="roundRect">
            <a:avLst>
              <a:gd name="adj" fmla="val 6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291840" y="4105656"/>
            <a:ext cx="159105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맑은 고딕"/>
              </a:rPr>
              <a:t>가정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956048" y="4023360"/>
            <a:ext cx="1188720" cy="310896"/>
          </a:xfrm>
          <a:prstGeom prst="roundRect">
            <a:avLst>
              <a:gd name="adj" fmla="val 6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029200" y="4105656"/>
            <a:ext cx="104241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맑은 고딕"/>
              </a:rPr>
              <a:t>1회 소비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0080" y="4398264"/>
            <a:ext cx="250545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C2430"/>
                </a:solidFill>
                <a:latin typeface="맑은 고딕"/>
              </a:rPr>
              <a:t>Wi-Fi HTTPS 텔레메트리 1회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291840" y="4398264"/>
            <a:ext cx="159105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1C2430"/>
                </a:solidFill>
                <a:latin typeface="맑은 고딕"/>
              </a:rPr>
              <a:t>200 mA × 2 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029200" y="4398264"/>
            <a:ext cx="104241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1C2430"/>
                </a:solidFill>
                <a:latin typeface="맑은 고딕"/>
              </a:rPr>
              <a:t>0.111 mAh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66928" y="4620514"/>
            <a:ext cx="5577840" cy="6350"/>
          </a:xfrm>
          <a:prstGeom prst="rect">
            <a:avLst/>
          </a:prstGeom>
          <a:solidFill>
            <a:srgbClr val="D4D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566928" y="4626864"/>
            <a:ext cx="5577840" cy="292608"/>
          </a:xfrm>
          <a:prstGeom prst="roundRect">
            <a:avLst>
              <a:gd name="adj" fmla="val 6000"/>
            </a:avLst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40080" y="4690872"/>
            <a:ext cx="250545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C2430"/>
                </a:solidFill>
                <a:latin typeface="맑은 고딕"/>
              </a:rPr>
              <a:t>LTE HTTPS 텔레메트리 1회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291840" y="4690872"/>
            <a:ext cx="159105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1C2430"/>
                </a:solidFill>
                <a:latin typeface="맑은 고딕"/>
              </a:rPr>
              <a:t>150 mA × 5 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029200" y="4690872"/>
            <a:ext cx="104241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1C2430"/>
                </a:solidFill>
                <a:latin typeface="맑은 고딕"/>
              </a:rPr>
              <a:t>0.208 mAh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66928" y="4913122"/>
            <a:ext cx="5577840" cy="6350"/>
          </a:xfrm>
          <a:prstGeom prst="rect">
            <a:avLst/>
          </a:prstGeom>
          <a:solidFill>
            <a:srgbClr val="D4D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40080" y="4983480"/>
            <a:ext cx="250545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C2430"/>
                </a:solidFill>
                <a:latin typeface="맑은 고딕"/>
              </a:rPr>
              <a:t>SMS 1통 발송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291840" y="4983480"/>
            <a:ext cx="159105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1C2430"/>
                </a:solidFill>
                <a:latin typeface="맑은 고딕"/>
              </a:rPr>
              <a:t>150 mA × 5 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029200" y="4983480"/>
            <a:ext cx="104241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1C2430"/>
                </a:solidFill>
                <a:latin typeface="맑은 고딕"/>
              </a:rPr>
              <a:t>0.208 mAh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66928" y="5205730"/>
            <a:ext cx="5577840" cy="6350"/>
          </a:xfrm>
          <a:prstGeom prst="rect">
            <a:avLst/>
          </a:prstGeom>
          <a:solidFill>
            <a:srgbClr val="D4D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464808" y="1097280"/>
            <a:ext cx="5159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E2A47"/>
                </a:solidFill>
                <a:latin typeface="맑은 고딕"/>
              </a:rPr>
              <a:t>시나리오별 결과 (전형값 기준)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6464808" y="1417320"/>
            <a:ext cx="2263139" cy="310896"/>
          </a:xfrm>
          <a:prstGeom prst="roundRect">
            <a:avLst>
              <a:gd name="adj" fmla="val 6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537960" y="1499616"/>
            <a:ext cx="211683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맑은 고딕"/>
              </a:rPr>
              <a:t>시나리오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8727947" y="1417320"/>
            <a:ext cx="905255" cy="310896"/>
          </a:xfrm>
          <a:prstGeom prst="roundRect">
            <a:avLst>
              <a:gd name="adj" fmla="val 6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801099" y="1499616"/>
            <a:ext cx="758951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맑은 고딕"/>
              </a:rPr>
              <a:t>평균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9633203" y="1417320"/>
            <a:ext cx="995781" cy="310896"/>
          </a:xfrm>
          <a:prstGeom prst="roundRect">
            <a:avLst>
              <a:gd name="adj" fmla="val 6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9706355" y="1499616"/>
            <a:ext cx="84947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맑은 고딕"/>
              </a:rPr>
              <a:t>24h 소요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10628985" y="1417320"/>
            <a:ext cx="995781" cy="310896"/>
          </a:xfrm>
          <a:prstGeom prst="roundRect">
            <a:avLst>
              <a:gd name="adj" fmla="val 6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0702137" y="1499616"/>
            <a:ext cx="84947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맑은 고딕"/>
              </a:rPr>
              <a:t>지속시간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537960" y="1792224"/>
            <a:ext cx="2116835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C2430"/>
                </a:solidFill>
                <a:latin typeface="맑은 고딕"/>
              </a:rPr>
              <a:t>① BLE 광고만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801099" y="1792224"/>
            <a:ext cx="758951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1C2430"/>
                </a:solidFill>
                <a:latin typeface="맑은 고딕"/>
              </a:rPr>
              <a:t>25.0 mA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706355" y="1792224"/>
            <a:ext cx="849477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1C2430"/>
                </a:solidFill>
                <a:latin typeface="맑은 고딕"/>
              </a:rPr>
              <a:t>600 mAh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702137" y="1792224"/>
            <a:ext cx="849477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1E7A4B"/>
                </a:solidFill>
                <a:latin typeface="맑은 고딕"/>
              </a:rPr>
              <a:t>40.0 h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464808" y="2197354"/>
            <a:ext cx="5159959" cy="6350"/>
          </a:xfrm>
          <a:prstGeom prst="rect">
            <a:avLst/>
          </a:prstGeom>
          <a:solidFill>
            <a:srgbClr val="D4D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ounded Rectangle 81"/>
          <p:cNvSpPr/>
          <p:nvPr/>
        </p:nvSpPr>
        <p:spPr>
          <a:xfrm>
            <a:off x="6464808" y="2203704"/>
            <a:ext cx="5159959" cy="475488"/>
          </a:xfrm>
          <a:prstGeom prst="roundRect">
            <a:avLst>
              <a:gd name="adj" fmla="val 6000"/>
            </a:avLst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537960" y="2267712"/>
            <a:ext cx="2116835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C2430"/>
                </a:solidFill>
                <a:latin typeface="맑은 고딕"/>
              </a:rPr>
              <a:t>② Wi-Fi 상시 + 10분 보고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801099" y="2267712"/>
            <a:ext cx="758951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1C2430"/>
                </a:solidFill>
                <a:latin typeface="맑은 고딕"/>
              </a:rPr>
              <a:t>30.7 mA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706355" y="2267712"/>
            <a:ext cx="849477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1C2430"/>
                </a:solidFill>
                <a:latin typeface="맑은 고딕"/>
              </a:rPr>
              <a:t>736 mAh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0702137" y="2267712"/>
            <a:ext cx="849477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1E7A4B"/>
                </a:solidFill>
                <a:latin typeface="맑은 고딕"/>
              </a:rPr>
              <a:t>32.6 h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464808" y="2672842"/>
            <a:ext cx="5159959" cy="6350"/>
          </a:xfrm>
          <a:prstGeom prst="rect">
            <a:avLst/>
          </a:prstGeom>
          <a:solidFill>
            <a:srgbClr val="D4D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537960" y="2743200"/>
            <a:ext cx="2116835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C2430"/>
                </a:solidFill>
                <a:latin typeface="맑은 고딕"/>
              </a:rPr>
              <a:t>③ 현재 펌웨어 (안심존 내)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801099" y="2743200"/>
            <a:ext cx="758951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1C2430"/>
                </a:solidFill>
                <a:latin typeface="맑은 고딕"/>
              </a:rPr>
              <a:t>80.7 mA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9706355" y="2743200"/>
            <a:ext cx="849477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1C2430"/>
                </a:solidFill>
                <a:latin typeface="맑은 고딕"/>
              </a:rPr>
              <a:t>1936 mAh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0702137" y="2743200"/>
            <a:ext cx="849477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B32D2D"/>
                </a:solidFill>
                <a:latin typeface="맑은 고딕"/>
              </a:rPr>
              <a:t>12.4 h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464808" y="3148330"/>
            <a:ext cx="5159959" cy="6350"/>
          </a:xfrm>
          <a:prstGeom prst="rect">
            <a:avLst/>
          </a:prstGeom>
          <a:solidFill>
            <a:srgbClr val="D4D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ounded Rectangle 92"/>
          <p:cNvSpPr/>
          <p:nvPr/>
        </p:nvSpPr>
        <p:spPr>
          <a:xfrm>
            <a:off x="6464808" y="3154680"/>
            <a:ext cx="5159959" cy="475488"/>
          </a:xfrm>
          <a:prstGeom prst="roundRect">
            <a:avLst>
              <a:gd name="adj" fmla="val 6000"/>
            </a:avLst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6537960" y="3218688"/>
            <a:ext cx="2116835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C2430"/>
                </a:solidFill>
                <a:latin typeface="맑은 고딕"/>
              </a:rPr>
              <a:t>④ 현재 펌웨어 (밖·LTE)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801099" y="3218688"/>
            <a:ext cx="758951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1C2430"/>
                </a:solidFill>
                <a:latin typeface="맑은 고딕"/>
              </a:rPr>
              <a:t>87.5 mA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9706355" y="3218688"/>
            <a:ext cx="849477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1C2430"/>
                </a:solidFill>
                <a:latin typeface="맑은 고딕"/>
              </a:rPr>
              <a:t>2100 mAh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0702137" y="3218688"/>
            <a:ext cx="849477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B32D2D"/>
                </a:solidFill>
                <a:latin typeface="맑은 고딕"/>
              </a:rPr>
              <a:t>11.4 h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464808" y="3623818"/>
            <a:ext cx="5159959" cy="6350"/>
          </a:xfrm>
          <a:prstGeom prst="rect">
            <a:avLst/>
          </a:prstGeom>
          <a:solidFill>
            <a:srgbClr val="D4D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556248" y="3813048"/>
            <a:ext cx="4977079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5E6B7A"/>
                </a:solidFill>
                <a:latin typeface="맑은 고딕"/>
              </a:rPr>
              <a:t>① 모뎀·GNSS·Wi-Fi 모두 꺼짐. 온보딩 대기 상태.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556248" y="4197096"/>
            <a:ext cx="4977079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5E6B7A"/>
                </a:solidFill>
                <a:latin typeface="맑은 고딕"/>
              </a:rPr>
              <a:t>② 안심존 안. 모뎀·GNSS 꺼짐. 현재 코드의 10분 주기.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556248" y="4581144"/>
            <a:ext cx="4977079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5E6B7A"/>
                </a:solidFill>
                <a:latin typeface="맑은 고딕"/>
              </a:rPr>
              <a:t>③ 모뎀과 GNSS를 부팅 후 끄지 않는 현재 구성.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556248" y="4965192"/>
            <a:ext cx="4977079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5E6B7A"/>
                </a:solidFill>
                <a:latin typeface="맑은 고딕"/>
              </a:rPr>
              <a:t>④ 안심존 밖 1분 주기 보고. Wi-Fi 없음.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6464808" y="4023360"/>
            <a:ext cx="5159959" cy="1371600"/>
          </a:xfrm>
          <a:prstGeom prst="roundRect">
            <a:avLst>
              <a:gd name="adj" fmla="val 6000"/>
            </a:avLst>
          </a:prstGeom>
          <a:solidFill>
            <a:srgbClr val="FDF6EC"/>
          </a:solidFill>
          <a:ln w="12700">
            <a:solidFill>
              <a:srgbClr val="EBDA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6693408" y="4160520"/>
            <a:ext cx="4702759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>
                <a:solidFill>
                  <a:srgbClr val="0E2A47"/>
                </a:solidFill>
                <a:latin typeface="맑은 고딕"/>
              </a:rPr>
              <a:t>24시간을 채우려면 평균 41.7 mA 이하</a:t>
            </a:r>
          </a:p>
          <a:p>
            <a:pPr algn="l">
              <a:lnSpc>
                <a:spcPct val="125000"/>
              </a:lnSpc>
              <a:spcBef>
                <a:spcPts val="600"/>
              </a:spcBef>
            </a:pPr>
            <a:r>
              <a:rPr sz="1050" b="0">
                <a:solidFill>
                  <a:srgbClr val="1C2430"/>
                </a:solidFill>
                <a:latin typeface="맑은 고딕"/>
              </a:rPr>
              <a:t>①②는 통과하지만 ③④는 통과하지 못합니다. 차이를 만드는 것은 전송 횟수가 아니라 모뎀과 GNSS를 끄지 않는 설계입니다 — 두 항목만 합쳐도 전형값 50 mA로 이미 예산을 넘습니다.</a:t>
            </a:r>
          </a:p>
          <a:p>
            <a:pPr algn="l">
              <a:lnSpc>
                <a:spcPct val="125000"/>
              </a:lnSpc>
              <a:spcBef>
                <a:spcPts val="400"/>
              </a:spcBef>
            </a:pPr>
            <a:r>
              <a:rPr sz="1050" b="0">
                <a:solidFill>
                  <a:srgbClr val="5E6B7A"/>
                </a:solidFill>
                <a:latin typeface="맑은 고딕"/>
              </a:rPr>
              <a:t>전송 버스트는 ④에서도 하루 12.5 mA 상당으로, 상시 소비에 비하면 작습니다.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566928" y="6473952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6B7A"/>
                </a:solidFill>
                <a:latin typeface="맑은 고딕"/>
              </a:rPr>
              <a:t>전류는 ESP32-S3 / A7670E 데이터시트 전형값 — 이 보드 실측이 아님. 주기는 sfa_config.h 실제 값.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155448"/>
            <a:ext cx="56692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0E7C86"/>
                </a:solidFill>
                <a:latin typeface="맑은 고딕"/>
              </a:rPr>
              <a:t>A8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" y="146304"/>
            <a:ext cx="1055491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맑은 고딕"/>
              </a:rPr>
              <a:t>LTE 전송 가능 횟수 — 1000 mAh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" y="502920"/>
            <a:ext cx="1055491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AFC4D4"/>
                </a:solidFill>
                <a:latin typeface="맑은 고딕"/>
              </a:rPr>
              <a:t>무엇이 횟수를 제한하는가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188720"/>
            <a:ext cx="3827713" cy="365760"/>
          </a:xfrm>
          <a:prstGeom prst="roundRect">
            <a:avLst>
              <a:gd name="adj" fmla="val 6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71016"/>
            <a:ext cx="368140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맑은 고딕"/>
              </a:rPr>
              <a:t>조건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94641" y="1188720"/>
            <a:ext cx="1594880" cy="365760"/>
          </a:xfrm>
          <a:prstGeom prst="roundRect">
            <a:avLst>
              <a:gd name="adj" fmla="val 6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67793" y="1271016"/>
            <a:ext cx="14485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맑은 고딕"/>
              </a:rPr>
              <a:t>상시 소비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89522" y="1188720"/>
            <a:ext cx="2126507" cy="365760"/>
          </a:xfrm>
          <a:prstGeom prst="roundRect">
            <a:avLst>
              <a:gd name="adj" fmla="val 6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62674" y="1271016"/>
            <a:ext cx="198020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맑은 고딕"/>
              </a:rPr>
              <a:t>전송 가능 횟수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16029" y="1188720"/>
            <a:ext cx="1594880" cy="365760"/>
          </a:xfrm>
          <a:prstGeom prst="roundRect">
            <a:avLst>
              <a:gd name="adj" fmla="val 6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89181" y="1271016"/>
            <a:ext cx="14485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맑은 고딕"/>
              </a:rPr>
              <a:t>지속시간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710910" y="1188720"/>
            <a:ext cx="1913856" cy="365760"/>
          </a:xfrm>
          <a:prstGeom prst="roundRect">
            <a:avLst>
              <a:gd name="adj" fmla="val 6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62" y="1271016"/>
            <a:ext cx="17675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맑은 고딕"/>
              </a:rPr>
              <a:t>상시 소비 비중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1618488"/>
            <a:ext cx="368140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C2430"/>
                </a:solidFill>
                <a:latin typeface="맑은 고딕"/>
              </a:rPr>
              <a:t>전송 에너지만 계산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67793" y="1618488"/>
            <a:ext cx="14485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1C2430"/>
                </a:solidFill>
                <a:latin typeface="맑은 고딕"/>
              </a:rPr>
              <a:t>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62674" y="1618488"/>
            <a:ext cx="198020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5E6B7A"/>
                </a:solidFill>
                <a:latin typeface="맑은 고딕"/>
              </a:rPr>
              <a:t>4,800 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9181" y="1618488"/>
            <a:ext cx="14485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1C2430"/>
                </a:solidFill>
                <a:latin typeface="맑은 고딕"/>
              </a:rPr>
              <a:t>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84062" y="1618488"/>
            <a:ext cx="17675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1C2430"/>
                </a:solidFill>
                <a:latin typeface="맑은 고딕"/>
              </a:rPr>
              <a:t>이론 상한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2005330"/>
            <a:ext cx="11057839" cy="6350"/>
          </a:xfrm>
          <a:prstGeom prst="rect">
            <a:avLst/>
          </a:prstGeom>
          <a:solidFill>
            <a:srgbClr val="D4D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66928" y="2011680"/>
            <a:ext cx="11057839" cy="457200"/>
          </a:xfrm>
          <a:prstGeom prst="roundRect">
            <a:avLst>
              <a:gd name="adj" fmla="val 6000"/>
            </a:avLst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2075688"/>
            <a:ext cx="368140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C2430"/>
                </a:solidFill>
                <a:latin typeface="맑은 고딕"/>
              </a:rPr>
              <a:t>모뎀 상시 ON (현재 구성)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67793" y="2075688"/>
            <a:ext cx="14485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1C2430"/>
                </a:solidFill>
                <a:latin typeface="맑은 고딕"/>
              </a:rPr>
              <a:t>20 mA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62674" y="2075688"/>
            <a:ext cx="198020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1E7A4B"/>
                </a:solidFill>
                <a:latin typeface="맑은 고딕"/>
              </a:rPr>
              <a:t>1,846 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89181" y="2075688"/>
            <a:ext cx="14485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1C2430"/>
                </a:solidFill>
                <a:latin typeface="맑은 고딕"/>
              </a:rPr>
              <a:t>30.8 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84062" y="2075688"/>
            <a:ext cx="17675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1C2430"/>
                </a:solidFill>
                <a:latin typeface="맑은 고딕"/>
              </a:rPr>
              <a:t>62 %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6928" y="2462530"/>
            <a:ext cx="11057839" cy="6350"/>
          </a:xfrm>
          <a:prstGeom prst="rect">
            <a:avLst/>
          </a:prstGeom>
          <a:solidFill>
            <a:srgbClr val="D4D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2532888"/>
            <a:ext cx="368140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C2430"/>
                </a:solidFill>
                <a:latin typeface="맑은 고딕"/>
              </a:rPr>
              <a:t>모뎀 상시 + GNSS 상시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67793" y="2532888"/>
            <a:ext cx="14485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1C2430"/>
                </a:solidFill>
                <a:latin typeface="맑은 고딕"/>
              </a:rPr>
              <a:t>55 mA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62674" y="2532888"/>
            <a:ext cx="198020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B32D2D"/>
                </a:solidFill>
                <a:latin typeface="맑은 고딕"/>
              </a:rPr>
              <a:t>889 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89181" y="2532888"/>
            <a:ext cx="14485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1C2430"/>
                </a:solidFill>
                <a:latin typeface="맑은 고딕"/>
              </a:rPr>
              <a:t>14.8 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84062" y="2532888"/>
            <a:ext cx="17675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1C2430"/>
                </a:solidFill>
                <a:latin typeface="맑은 고딕"/>
              </a:rPr>
              <a:t>81 %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6928" y="2919730"/>
            <a:ext cx="11057839" cy="6350"/>
          </a:xfrm>
          <a:prstGeom prst="rect">
            <a:avLst/>
          </a:prstGeom>
          <a:solidFill>
            <a:srgbClr val="D4D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566928" y="2926080"/>
            <a:ext cx="11057839" cy="457200"/>
          </a:xfrm>
          <a:prstGeom prst="roundRect">
            <a:avLst>
              <a:gd name="adj" fmla="val 6000"/>
            </a:avLst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2990088"/>
            <a:ext cx="368140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C2430"/>
                </a:solidFill>
                <a:latin typeface="맑은 고딕"/>
              </a:rPr>
              <a:t>모뎀 PSM 절전 가정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67793" y="2990088"/>
            <a:ext cx="14485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1C2430"/>
                </a:solidFill>
                <a:latin typeface="맑은 고딕"/>
              </a:rPr>
              <a:t>6 mA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62674" y="2990088"/>
            <a:ext cx="198020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1E7A4B"/>
                </a:solidFill>
                <a:latin typeface="맑은 고딕"/>
              </a:rPr>
              <a:t>3,243 회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89181" y="2990088"/>
            <a:ext cx="14485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1C2430"/>
                </a:solidFill>
                <a:latin typeface="맑은 고딕"/>
              </a:rPr>
              <a:t>54.1 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84062" y="2990088"/>
            <a:ext cx="17675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1C2430"/>
                </a:solidFill>
                <a:latin typeface="맑은 고딕"/>
              </a:rPr>
              <a:t>32 %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66928" y="3376930"/>
            <a:ext cx="11057839" cy="6350"/>
          </a:xfrm>
          <a:prstGeom prst="rect">
            <a:avLst/>
          </a:prstGeom>
          <a:solidFill>
            <a:srgbClr val="D4D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66928" y="3657600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E6B7A"/>
                </a:solidFill>
                <a:latin typeface="맑은 고딕"/>
              </a:rPr>
              <a:t>1분 주기(안심존 밖 기본값)로 연속 전송한다는 가정. 하루치는 1,440회.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66928" y="4041648"/>
            <a:ext cx="5419191" cy="1691640"/>
          </a:xfrm>
          <a:prstGeom prst="roundRect">
            <a:avLst>
              <a:gd name="adj" fmla="val 6000"/>
            </a:avLst>
          </a:prstGeom>
          <a:solidFill>
            <a:srgbClr val="F7FAFB"/>
          </a:solidFill>
          <a:ln w="12700">
            <a:solidFill>
              <a:srgbClr val="D4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2960" y="4187952"/>
            <a:ext cx="4961991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0E2A47"/>
                </a:solidFill>
                <a:latin typeface="맑은 고딕"/>
              </a:rPr>
              <a:t>1회 전송 소비</a:t>
            </a:r>
          </a:p>
          <a:p>
            <a:pPr algn="l">
              <a:lnSpc>
                <a:spcPct val="125000"/>
              </a:lnSpc>
              <a:spcBef>
                <a:spcPts val="600"/>
              </a:spcBef>
            </a:pPr>
            <a:r>
              <a:rPr sz="1100" b="0">
                <a:solidFill>
                  <a:srgbClr val="1C2430"/>
                </a:solidFill>
                <a:latin typeface="맑은 고딕"/>
              </a:rPr>
              <a:t>LTE 텔레메트리   0.208 mAh   →  1000 mAh로 4,800회</a:t>
            </a:r>
          </a:p>
          <a:p>
            <a:pPr algn="l">
              <a:lnSpc>
                <a:spcPct val="125000"/>
              </a:lnSpc>
              <a:spcBef>
                <a:spcPts val="300"/>
              </a:spcBef>
            </a:pPr>
            <a:r>
              <a:rPr sz="1100" b="0">
                <a:solidFill>
                  <a:srgbClr val="1C2430"/>
                </a:solidFill>
                <a:latin typeface="맑은 고딕"/>
              </a:rPr>
              <a:t>SMS 1통          0.208 mAh   →  1000 mAh로 4,800통</a:t>
            </a:r>
          </a:p>
          <a:p>
            <a:pPr algn="l">
              <a:lnSpc>
                <a:spcPct val="125000"/>
              </a:lnSpc>
              <a:spcBef>
                <a:spcPts val="600"/>
              </a:spcBef>
            </a:pPr>
            <a:r>
              <a:rPr sz="1050" b="1">
                <a:solidFill>
                  <a:srgbClr val="0E7C86"/>
                </a:solidFill>
                <a:latin typeface="맑은 고딕"/>
              </a:rPr>
              <a:t>전송 자체는 싸다. 비싼 것은 전송 사이에 켜져 있는 시간이다.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205575" y="4041648"/>
            <a:ext cx="5419191" cy="1691640"/>
          </a:xfrm>
          <a:prstGeom prst="roundRect">
            <a:avLst>
              <a:gd name="adj" fmla="val 6000"/>
            </a:avLst>
          </a:prstGeom>
          <a:solidFill>
            <a:srgbClr val="EFF7F2"/>
          </a:solidFill>
          <a:ln w="12700">
            <a:solidFill>
              <a:srgbClr val="C9E2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61607" y="4187952"/>
            <a:ext cx="4961991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1E7A4B"/>
                </a:solidFill>
                <a:latin typeface="맑은 고딕"/>
              </a:rPr>
              <a:t>24시간 운용을 만들려면</a:t>
            </a:r>
          </a:p>
          <a:p>
            <a:pPr algn="l">
              <a:lnSpc>
                <a:spcPct val="125000"/>
              </a:lnSpc>
              <a:spcBef>
                <a:spcPts val="600"/>
              </a:spcBef>
            </a:pPr>
            <a:r>
              <a:rPr sz="1100" b="0">
                <a:solidFill>
                  <a:srgbClr val="1C2430"/>
                </a:solidFill>
                <a:latin typeface="맑은 고딕"/>
              </a:rPr>
              <a:t>1.  GNSS 상시 ON 해제 — 보고 직전에만 측위 (−35 mA)</a:t>
            </a:r>
          </a:p>
          <a:p>
            <a:pPr algn="l">
              <a:lnSpc>
                <a:spcPct val="125000"/>
              </a:lnSpc>
              <a:spcBef>
                <a:spcPts val="300"/>
              </a:spcBef>
            </a:pPr>
            <a:r>
              <a:rPr sz="1100" b="0">
                <a:solidFill>
                  <a:srgbClr val="1C2430"/>
                </a:solidFill>
                <a:latin typeface="맑은 고딕"/>
              </a:rPr>
              <a:t>2.  모뎀 PSM/eDRX 적용 — 전송 사이 절전 (−14 mA)</a:t>
            </a:r>
          </a:p>
          <a:p>
            <a:pPr algn="l">
              <a:lnSpc>
                <a:spcPct val="125000"/>
              </a:lnSpc>
              <a:spcBef>
                <a:spcPts val="300"/>
              </a:spcBef>
            </a:pPr>
            <a:r>
              <a:rPr sz="1100" b="0">
                <a:solidFill>
                  <a:srgbClr val="1C2430"/>
                </a:solidFill>
                <a:latin typeface="맑은 고딕"/>
              </a:rPr>
              <a:t>3.  안심존 내에서는 모뎀 자체를 내리고 Wi-Fi만 사용</a:t>
            </a:r>
          </a:p>
          <a:p>
            <a:pPr algn="l">
              <a:lnSpc>
                <a:spcPct val="125000"/>
              </a:lnSpc>
              <a:spcBef>
                <a:spcPts val="600"/>
              </a:spcBef>
            </a:pPr>
            <a:r>
              <a:rPr sz="1050" b="0">
                <a:solidFill>
                  <a:srgbClr val="B57A0B"/>
                </a:solidFill>
                <a:latin typeface="맑은 고딕"/>
              </a:rPr>
              <a:t>현재는 브라운아웃 회피를 위해 모뎀을 끄지 않는 설계입니다.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66928" y="6473952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6B7A"/>
                </a:solidFill>
                <a:latin typeface="맑은 고딕"/>
              </a:rPr>
              <a:t>동일 전제(데이터시트 전형값) 기준. 실사용 시간은 배터리 실측으로 확정해야 함 — 부록 4 참조.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