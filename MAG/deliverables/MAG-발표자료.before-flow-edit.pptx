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7" r:id="rId4"/>
    <p:sldId id="259" r:id="rId5"/>
    <p:sldId id="266" r:id="rId6"/>
    <p:sldId id="260" r:id="rId7"/>
    <p:sldId id="262" r:id="rId8"/>
    <p:sldId id="269" r:id="rId9"/>
    <p:sldId id="268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A9C26-1DDB-FCA7-C5E6-343E9FE9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A13F5-B91E-CF7D-6491-E400275E5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17598-8DAB-97F5-5BF6-8723F25A7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8487A-8B27-5FE6-0F55-E0BE892091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6826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8F5D-7810-0F5E-5EF4-824EC635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D74B4-D2E4-858E-666B-C92F51FE0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A93B0-E097-8410-8367-B1129667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F62BA-E340-75C0-5A0F-39B4EDAEE0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3254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EF87-CCA6-4453-68A3-435AAB73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EEE5E-B980-3E14-D1EC-0A178FC7E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4E48F-D058-6030-E4C7-EF07371B0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20038-9247-8521-9281-9E103830DD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41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A9B4-1A33-7A74-E84A-CBD06E6E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1A7A1-2654-6FFD-6B91-594E90992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A8209-79C9-DF3D-54C8-8A6C5D844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33B25-FEE0-A847-81E6-4891C126DD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0346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4D29C8-5F7E-4335-B786-91B6E2774747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67EABC-0602-435D-9E0B-62E883B6314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26370EE1-830D-40C5-87B3-2E53F00041C5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E8C5586-DFA0-4370-B87E-7EC75D666C68}"/>
              </a:ext>
            </a:extLst>
          </p:cNvPr>
          <p:cNvSpPr>
            <a:spLocks noGrp="1"/>
          </p:cNvSpPr>
          <p:nvPr/>
        </p:nvSpPr>
        <p:spPr>
          <a:xfrm>
            <a:off x="1028700" y="5143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AD5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AD5E8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869546-AF05-41E5-99B2-6B74E4B48061}"/>
              </a:ext>
            </a:extLst>
          </p:cNvPr>
          <p:cNvSpPr>
            <a:spLocks noGrp="1"/>
          </p:cNvSpPr>
          <p:nvPr/>
        </p:nvSpPr>
        <p:spPr>
          <a:xfrm>
            <a:off x="2820447" y="2233054"/>
            <a:ext cx="5644045" cy="25025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0" b="1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MAG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82AAB7-1721-704F-8EC8-1F6ECDE78508}"/>
              </a:ext>
            </a:extLst>
          </p:cNvPr>
          <p:cNvSpPr txBox="1"/>
          <p:nvPr/>
        </p:nvSpPr>
        <p:spPr>
          <a:xfrm>
            <a:off x="9404059" y="5297648"/>
            <a:ext cx="2231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2026.06.05</a:t>
            </a:r>
          </a:p>
          <a:p>
            <a:pPr algn="ctr"/>
            <a:r>
              <a:rPr lang="en-US" altLang="ko-KR" b="1" dirty="0"/>
              <a:t>MVP team </a:t>
            </a:r>
          </a:p>
          <a:p>
            <a:pPr algn="ctr"/>
            <a:r>
              <a:rPr lang="ko-KR" altLang="en-US" b="1" dirty="0"/>
              <a:t>방효식 </a:t>
            </a:r>
            <a:r>
              <a:rPr lang="en-US" altLang="ko-KR" b="1" dirty="0"/>
              <a:t>/ </a:t>
            </a:r>
            <a:r>
              <a:rPr lang="ko-KR" altLang="en-US" b="1" dirty="0" err="1"/>
              <a:t>김경국</a:t>
            </a:r>
            <a:r>
              <a:rPr lang="ko-KR" altLang="en-US" b="1" dirty="0"/>
              <a:t> </a:t>
            </a:r>
            <a:endParaRPr lang="en-US" altLang="ko-KR" b="1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D62BA40-8879-0F83-9A1D-F27B72576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894" y="319109"/>
            <a:ext cx="2151792" cy="50963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5209CFE-583A-3E5F-5DF0-70838F623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77" y="5936056"/>
            <a:ext cx="3392682" cy="28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74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2A0A-BA25-6359-05CC-389B4661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81B76B-314A-2AA1-2F89-2FC3BF00EF9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8797848F-29D1-13F8-DB76-DDC0768C7F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3C214CFF-1147-534F-CD2E-4F64A330F325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3182A-9ABD-1652-9F4A-AE2DCB6EA35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WHAT?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70F288-3FA8-5099-467A-90AB9D522334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F7DA26-476B-62EF-1DC6-99E804447037}"/>
              </a:ext>
            </a:extLst>
          </p:cNvPr>
          <p:cNvSpPr txBox="1"/>
          <p:nvPr/>
        </p:nvSpPr>
        <p:spPr>
          <a:xfrm>
            <a:off x="2226927" y="4520251"/>
            <a:ext cx="7482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* MAG </a:t>
            </a:r>
            <a:r>
              <a:rPr lang="ko-KR" altLang="en-US" sz="2000" dirty="0">
                <a:solidFill>
                  <a:schemeClr val="accent1"/>
                </a:solidFill>
              </a:rPr>
              <a:t>란</a:t>
            </a:r>
            <a:r>
              <a:rPr lang="en-US" sz="2000" dirty="0">
                <a:solidFill>
                  <a:schemeClr val="accent1"/>
                </a:solidFill>
              </a:rPr>
              <a:t>?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Magazine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을 줄여서 부르는 말로 사용 됨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 ( 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주로 잡지를 의미 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b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국방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무기 분야에서는 기관총 또는 탄창을 의미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193B6C-9B54-AB15-A5EB-AC3364248064}"/>
              </a:ext>
            </a:extLst>
          </p:cNvPr>
          <p:cNvSpPr txBox="1"/>
          <p:nvPr/>
        </p:nvSpPr>
        <p:spPr>
          <a:xfrm>
            <a:off x="2155620" y="2464823"/>
            <a:ext cx="7013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/>
              <a:t>아이디어를</a:t>
            </a:r>
            <a:r>
              <a:rPr lang="en-US" sz="3600" dirty="0"/>
              <a:t> </a:t>
            </a:r>
            <a:r>
              <a:rPr lang="en-US" sz="3600" dirty="0" err="1"/>
              <a:t>사업</a:t>
            </a:r>
            <a:r>
              <a:rPr lang="en-US" sz="3600" dirty="0"/>
              <a:t> </a:t>
            </a:r>
            <a:r>
              <a:rPr lang="en-US" sz="3600" dirty="0" err="1"/>
              <a:t>검증</a:t>
            </a:r>
            <a:r>
              <a:rPr lang="en-US" sz="3600" dirty="0"/>
              <a:t> </a:t>
            </a:r>
            <a:r>
              <a:rPr lang="en-US" sz="3600" dirty="0" err="1"/>
              <a:t>가능한</a:t>
            </a:r>
            <a:r>
              <a:rPr lang="en-US" sz="3600" dirty="0"/>
              <a:t> </a:t>
            </a:r>
          </a:p>
          <a:p>
            <a:pPr algn="ctr"/>
            <a:r>
              <a:rPr lang="en-US" sz="3600" dirty="0" err="1"/>
              <a:t>MVP로</a:t>
            </a:r>
            <a:r>
              <a:rPr lang="en-US" sz="3600" dirty="0"/>
              <a:t> </a:t>
            </a:r>
            <a:r>
              <a:rPr lang="en-US" sz="3600" dirty="0" err="1"/>
              <a:t>전환하는</a:t>
            </a:r>
            <a:r>
              <a:rPr lang="en-US" sz="3600" dirty="0"/>
              <a:t> AI </a:t>
            </a:r>
            <a:r>
              <a:rPr lang="en-US" sz="3600" dirty="0" err="1"/>
              <a:t>자동화</a:t>
            </a:r>
            <a:r>
              <a:rPr lang="en-US" sz="3600" dirty="0"/>
              <a:t> </a:t>
            </a:r>
            <a:r>
              <a:rPr lang="en-US" sz="3600" dirty="0" err="1"/>
              <a:t>플랫폼</a:t>
            </a:r>
            <a:endParaRPr lang="en-US" altLang="ko-KR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260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B3105-CDAA-A3ED-5D24-482836C0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6A12D0-805E-E441-1B22-1166CB2E6BA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40FA8EAB-EC9A-2F86-5F8A-77F8D267A50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88B3A8A-D4C9-679B-8B86-53B1274702E4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D0F24-6404-AE13-467C-B66F24263C3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WHY?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A40604-D59D-6A1B-0326-FB483DA40590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579A7F-3250-259D-C4F8-620BACCB793A}"/>
              </a:ext>
            </a:extLst>
          </p:cNvPr>
          <p:cNvSpPr txBox="1"/>
          <p:nvPr/>
        </p:nvSpPr>
        <p:spPr>
          <a:xfrm>
            <a:off x="1967568" y="1754972"/>
            <a:ext cx="6723428" cy="4245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아이디어 구체화 어려움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생각은 있지만 문서화가 어렵다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사용자 정의 부족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누구를 위한 서비스인지 불명확 하다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화면 설계 부담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UI/UX </a:t>
            </a:r>
            <a:r>
              <a:rPr lang="ko-KR" altLang="en-US" dirty="0"/>
              <a:t>구조를 잡기 어렵다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개발에 대한 장벽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개발자와 기술 스택이 필요하다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검증 지연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dirty="0"/>
              <a:t>- </a:t>
            </a:r>
            <a:r>
              <a:rPr lang="ko-KR" altLang="en-US" dirty="0"/>
              <a:t>실제 사용자 테스트까지 오래 걸린다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3422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E49D0-BCA9-44C0-B554-DBC1D829C50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F79FB-55F6-4EC3-85D9-A523FC04DF7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B68EC662-B473-4404-8E56-0B2291FB458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29693331-C5C5-4F86-B8C9-2D8B2330DB07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MULTI AI LOOP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CD6C09-D15E-4215-8738-A8104FFB6097}"/>
              </a:ext>
            </a:extLst>
          </p:cNvPr>
          <p:cNvSpPr>
            <a:spLocks noGrp="1"/>
          </p:cNvSpPr>
          <p:nvPr/>
        </p:nvSpPr>
        <p:spPr>
          <a:xfrm>
            <a:off x="1151466" y="2013318"/>
            <a:ext cx="104902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한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개의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대신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, 세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개의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관점을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비교한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뒤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병합합니다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1C906C-DAF3-4561-8DFE-97E4F35946C4}"/>
              </a:ext>
            </a:extLst>
          </p:cNvPr>
          <p:cNvSpPr>
            <a:spLocks noGrp="1"/>
          </p:cNvSpPr>
          <p:nvPr/>
        </p:nvSpPr>
        <p:spPr>
          <a:xfrm>
            <a:off x="1151466" y="2814083"/>
            <a:ext cx="12743239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선택된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서버가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프롬프트를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받되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역할과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특성이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달라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결과의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밀도와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관점을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넓힙니다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6202FB-6A55-42B1-ADF2-B28462CB714A}"/>
              </a:ext>
            </a:extLst>
          </p:cNvPr>
          <p:cNvSpPr>
            <a:spLocks noGrp="1"/>
          </p:cNvSpPr>
          <p:nvPr/>
        </p:nvSpPr>
        <p:spPr>
          <a:xfrm>
            <a:off x="1633362" y="3340126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4F6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A121D5-640B-4749-BCE7-32BB46D8C201}"/>
              </a:ext>
            </a:extLst>
          </p:cNvPr>
          <p:cNvSpPr>
            <a:spLocks noGrp="1"/>
          </p:cNvSpPr>
          <p:nvPr/>
        </p:nvSpPr>
        <p:spPr>
          <a:xfrm>
            <a:off x="1861962" y="3549676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BC4EE0-22A2-45F8-AA09-C6DDE638BB98}"/>
              </a:ext>
            </a:extLst>
          </p:cNvPr>
          <p:cNvSpPr>
            <a:spLocks noGrp="1"/>
          </p:cNvSpPr>
          <p:nvPr/>
        </p:nvSpPr>
        <p:spPr>
          <a:xfrm>
            <a:off x="1861962" y="3911626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구조화와 정밀도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DEC26E-28DA-4271-AC76-FBA11DD60721}"/>
              </a:ext>
            </a:extLst>
          </p:cNvPr>
          <p:cNvSpPr>
            <a:spLocks noGrp="1"/>
          </p:cNvSpPr>
          <p:nvPr/>
        </p:nvSpPr>
        <p:spPr>
          <a:xfrm>
            <a:off x="2757312" y="4591660"/>
            <a:ext cx="285750" cy="609600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FF23C5-FD0F-4501-AA0D-55B857E01F31}"/>
              </a:ext>
            </a:extLst>
          </p:cNvPr>
          <p:cNvSpPr>
            <a:spLocks noGrp="1"/>
          </p:cNvSpPr>
          <p:nvPr/>
        </p:nvSpPr>
        <p:spPr>
          <a:xfrm>
            <a:off x="4776612" y="3340126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18A9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39777E-4A5D-4547-9B93-ADD5FBCB594A}"/>
              </a:ext>
            </a:extLst>
          </p:cNvPr>
          <p:cNvSpPr>
            <a:spLocks noGrp="1"/>
          </p:cNvSpPr>
          <p:nvPr/>
        </p:nvSpPr>
        <p:spPr>
          <a:xfrm>
            <a:off x="5005212" y="3549676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CA2E36-656F-4269-A480-BFECDD32F57C}"/>
              </a:ext>
            </a:extLst>
          </p:cNvPr>
          <p:cNvSpPr>
            <a:spLocks noGrp="1"/>
          </p:cNvSpPr>
          <p:nvPr/>
        </p:nvSpPr>
        <p:spPr>
          <a:xfrm>
            <a:off x="5005212" y="3911626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긴 문맥 분석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21DA34-3B89-44EB-98D1-1CFBB4967F5C}"/>
              </a:ext>
            </a:extLst>
          </p:cNvPr>
          <p:cNvSpPr>
            <a:spLocks noGrp="1"/>
          </p:cNvSpPr>
          <p:nvPr/>
        </p:nvSpPr>
        <p:spPr>
          <a:xfrm>
            <a:off x="5900562" y="4591660"/>
            <a:ext cx="285750" cy="609600"/>
          </a:xfrm>
          <a:prstGeom prst="rect">
            <a:avLst/>
          </a:prstGeom>
          <a:solidFill>
            <a:srgbClr val="18A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248ADF-A48E-4E22-8BE4-5DAA8F8ACD86}"/>
              </a:ext>
            </a:extLst>
          </p:cNvPr>
          <p:cNvSpPr>
            <a:spLocks noGrp="1"/>
          </p:cNvSpPr>
          <p:nvPr/>
        </p:nvSpPr>
        <p:spPr>
          <a:xfrm>
            <a:off x="7919862" y="3340126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F7FDB-A971-4A23-86EC-A0656032FF48}"/>
              </a:ext>
            </a:extLst>
          </p:cNvPr>
          <p:cNvSpPr>
            <a:spLocks noGrp="1"/>
          </p:cNvSpPr>
          <p:nvPr/>
        </p:nvSpPr>
        <p:spPr>
          <a:xfrm>
            <a:off x="8148462" y="3549676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Groq / OpenRouter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576998-3D30-44EE-A24C-D72523B1F7FB}"/>
              </a:ext>
            </a:extLst>
          </p:cNvPr>
          <p:cNvSpPr>
            <a:spLocks noGrp="1"/>
          </p:cNvSpPr>
          <p:nvPr/>
        </p:nvSpPr>
        <p:spPr>
          <a:xfrm>
            <a:off x="8148462" y="3911626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빠른 추론과 라우팅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8CC19A-1D59-47FC-BCB2-5A134517D3F8}"/>
              </a:ext>
            </a:extLst>
          </p:cNvPr>
          <p:cNvSpPr>
            <a:spLocks noGrp="1"/>
          </p:cNvSpPr>
          <p:nvPr/>
        </p:nvSpPr>
        <p:spPr>
          <a:xfrm>
            <a:off x="9043812" y="4591660"/>
            <a:ext cx="285750" cy="6096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6E18D8A-7F2A-4078-9803-BA89A366B3B9}"/>
              </a:ext>
            </a:extLst>
          </p:cNvPr>
          <p:cNvSpPr>
            <a:spLocks noGrp="1"/>
          </p:cNvSpPr>
          <p:nvPr/>
        </p:nvSpPr>
        <p:spPr>
          <a:xfrm>
            <a:off x="3491027" y="5261382"/>
            <a:ext cx="4095750" cy="876300"/>
          </a:xfrm>
          <a:prstGeom prst="roundRect">
            <a:avLst>
              <a:gd name="adj" fmla="val 8696"/>
            </a:avLst>
          </a:prstGeom>
          <a:solidFill>
            <a:srgbClr val="EEF3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89BC74-F96B-4700-A57C-28FCFF90EB80}"/>
              </a:ext>
            </a:extLst>
          </p:cNvPr>
          <p:cNvSpPr>
            <a:spLocks noGrp="1"/>
          </p:cNvSpPr>
          <p:nvPr/>
        </p:nvSpPr>
        <p:spPr>
          <a:xfrm>
            <a:off x="3833927" y="5451882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4F63F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err="1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725" b="1" dirty="0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1" dirty="0" err="1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편집</a:t>
            </a:r>
            <a:r>
              <a:rPr sz="1725" b="1" dirty="0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 + Merge AI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EEA458-F56A-49CE-B7F7-7D91A4D57D61}"/>
              </a:ext>
            </a:extLst>
          </p:cNvPr>
          <p:cNvSpPr>
            <a:spLocks noGrp="1"/>
          </p:cNvSpPr>
          <p:nvPr/>
        </p:nvSpPr>
        <p:spPr>
          <a:xfrm>
            <a:off x="3833927" y="5756682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선택, 수정, 병합 기록이 다음 단계 프롬프트가 됩니다.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C16949-496C-6E23-4504-C62550448F4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HOW?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0742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CB235-F97E-46DC-FA21-2F4C914EB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DC549-BCDE-102B-E2AC-218CEDD3807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b="0" dirty="0">
                <a:solidFill>
                  <a:srgbClr val="657084"/>
                </a:solidFill>
                <a:latin typeface="Aptos"/>
                <a:ea typeface="Aptos"/>
                <a:cs typeface="Aptos"/>
              </a:rPr>
              <a:t>3</a:t>
            </a:r>
            <a:endParaRPr sz="900" b="0" dirty="0">
              <a:solidFill>
                <a:srgbClr val="65708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E2FC7398-FE30-EA20-FEC0-E13F2AA2039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4207F4D-466A-10C4-0C99-11704B49A414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3CDA2F-1BE3-412C-A74A-5E343E97E89A}"/>
              </a:ext>
            </a:extLst>
          </p:cNvPr>
          <p:cNvSpPr>
            <a:spLocks noGrp="1"/>
          </p:cNvSpPr>
          <p:nvPr/>
        </p:nvSpPr>
        <p:spPr>
          <a:xfrm>
            <a:off x="704850" y="2585371"/>
            <a:ext cx="1104900" cy="285750"/>
          </a:xfrm>
          <a:prstGeom prst="roundRect">
            <a:avLst>
              <a:gd name="adj" fmla="val 26667"/>
            </a:avLst>
          </a:prstGeom>
          <a:solidFill>
            <a:srgbClr val="4F63F6">
              <a:alpha val="13333"/>
            </a:srgbClr>
          </a:solidFill>
          <a:ln w="9525">
            <a:solidFill>
              <a:srgbClr val="4F63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60D3A9-C1A9-4850-93A0-7AAAB99158F3}"/>
              </a:ext>
            </a:extLst>
          </p:cNvPr>
          <p:cNvSpPr>
            <a:spLocks noGrp="1"/>
          </p:cNvSpPr>
          <p:nvPr/>
        </p:nvSpPr>
        <p:spPr>
          <a:xfrm>
            <a:off x="819150" y="2632996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4F63F6"/>
                </a:solidFill>
                <a:latin typeface="Aptos"/>
                <a:ea typeface="Aptos"/>
                <a:cs typeface="Aptos"/>
              </a:rPr>
              <a:t>Multi AI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B3D140-47A7-44B7-9223-A4EE873A7CD1}"/>
              </a:ext>
            </a:extLst>
          </p:cNvPr>
          <p:cNvSpPr>
            <a:spLocks noGrp="1"/>
          </p:cNvSpPr>
          <p:nvPr/>
        </p:nvSpPr>
        <p:spPr>
          <a:xfrm>
            <a:off x="1943100" y="2585371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18A978">
              <a:alpha val="13333"/>
            </a:srgbClr>
          </a:solidFill>
          <a:ln w="9525">
            <a:solidFill>
              <a:srgbClr val="18A97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85F1F5-9E59-40A6-87CE-C3803DB87DCB}"/>
              </a:ext>
            </a:extLst>
          </p:cNvPr>
          <p:cNvSpPr>
            <a:spLocks noGrp="1"/>
          </p:cNvSpPr>
          <p:nvPr/>
        </p:nvSpPr>
        <p:spPr>
          <a:xfrm>
            <a:off x="2057400" y="2632996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8A9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A978"/>
                </a:solidFill>
                <a:latin typeface="Aptos"/>
                <a:ea typeface="Aptos"/>
                <a:cs typeface="Aptos"/>
              </a:rPr>
              <a:t>Live API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9DD89C-4F81-46DF-80CA-21639488DE98}"/>
              </a:ext>
            </a:extLst>
          </p:cNvPr>
          <p:cNvSpPr>
            <a:spLocks noGrp="1"/>
          </p:cNvSpPr>
          <p:nvPr/>
        </p:nvSpPr>
        <p:spPr>
          <a:xfrm>
            <a:off x="3105150" y="2585371"/>
            <a:ext cx="1219200" cy="285750"/>
          </a:xfrm>
          <a:prstGeom prst="roundRect">
            <a:avLst>
              <a:gd name="adj" fmla="val 26667"/>
            </a:avLst>
          </a:prstGeom>
          <a:solidFill>
            <a:srgbClr val="B7791F">
              <a:alpha val="13333"/>
            </a:srgbClr>
          </a:solidFill>
          <a:ln w="9525">
            <a:solidFill>
              <a:srgbClr val="B7791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6DB922-DF84-4F88-9295-F06F94CE33C4}"/>
              </a:ext>
            </a:extLst>
          </p:cNvPr>
          <p:cNvSpPr>
            <a:spLocks noGrp="1"/>
          </p:cNvSpPr>
          <p:nvPr/>
        </p:nvSpPr>
        <p:spPr>
          <a:xfrm>
            <a:off x="3219450" y="2632996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MVP Output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646641-0477-41B3-8CDF-7E334F1A2057}"/>
              </a:ext>
            </a:extLst>
          </p:cNvPr>
          <p:cNvSpPr>
            <a:spLocks noGrp="1"/>
          </p:cNvSpPr>
          <p:nvPr/>
        </p:nvSpPr>
        <p:spPr>
          <a:xfrm>
            <a:off x="6899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27324A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A492DE-C122-40B7-B014-9936F125CBC2}"/>
              </a:ext>
            </a:extLst>
          </p:cNvPr>
          <p:cNvSpPr>
            <a:spLocks noGrp="1"/>
          </p:cNvSpPr>
          <p:nvPr/>
        </p:nvSpPr>
        <p:spPr>
          <a:xfrm>
            <a:off x="7661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B13598-95A2-47AF-9F1C-94C8AA47267C}"/>
              </a:ext>
            </a:extLst>
          </p:cNvPr>
          <p:cNvSpPr>
            <a:spLocks noGrp="1"/>
          </p:cNvSpPr>
          <p:nvPr/>
        </p:nvSpPr>
        <p:spPr>
          <a:xfrm>
            <a:off x="14805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04CC9F8-3A87-4488-A86E-94556BDE1D9E}"/>
              </a:ext>
            </a:extLst>
          </p:cNvPr>
          <p:cNvSpPr>
            <a:spLocks noGrp="1"/>
          </p:cNvSpPr>
          <p:nvPr/>
        </p:nvSpPr>
        <p:spPr>
          <a:xfrm>
            <a:off x="17567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27324A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DAED98-6872-48DF-BF04-FA6D5A4E4ACD}"/>
              </a:ext>
            </a:extLst>
          </p:cNvPr>
          <p:cNvSpPr>
            <a:spLocks noGrp="1"/>
          </p:cNvSpPr>
          <p:nvPr/>
        </p:nvSpPr>
        <p:spPr>
          <a:xfrm>
            <a:off x="18329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E5BAD3-B529-471B-9AC9-D674F5FCBFAB}"/>
              </a:ext>
            </a:extLst>
          </p:cNvPr>
          <p:cNvSpPr>
            <a:spLocks noGrp="1"/>
          </p:cNvSpPr>
          <p:nvPr/>
        </p:nvSpPr>
        <p:spPr>
          <a:xfrm>
            <a:off x="25473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94E90B-A535-4FD5-A63A-2017F0D090A4}"/>
              </a:ext>
            </a:extLst>
          </p:cNvPr>
          <p:cNvSpPr>
            <a:spLocks noGrp="1"/>
          </p:cNvSpPr>
          <p:nvPr/>
        </p:nvSpPr>
        <p:spPr>
          <a:xfrm>
            <a:off x="28235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27324A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28AC6D-A262-403D-A500-ED2AFFC80D71}"/>
              </a:ext>
            </a:extLst>
          </p:cNvPr>
          <p:cNvSpPr>
            <a:spLocks noGrp="1"/>
          </p:cNvSpPr>
          <p:nvPr/>
        </p:nvSpPr>
        <p:spPr>
          <a:xfrm>
            <a:off x="28997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7FCADD-3DE8-491A-9D59-ECC128CD6CC9}"/>
              </a:ext>
            </a:extLst>
          </p:cNvPr>
          <p:cNvSpPr>
            <a:spLocks noGrp="1"/>
          </p:cNvSpPr>
          <p:nvPr/>
        </p:nvSpPr>
        <p:spPr>
          <a:xfrm>
            <a:off x="36141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D238541-4E8B-4D08-A0E0-6F37DFD73883}"/>
              </a:ext>
            </a:extLst>
          </p:cNvPr>
          <p:cNvSpPr>
            <a:spLocks noGrp="1"/>
          </p:cNvSpPr>
          <p:nvPr/>
        </p:nvSpPr>
        <p:spPr>
          <a:xfrm>
            <a:off x="38903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27324A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46FA79-1427-4A67-ACDD-97B225471C1B}"/>
              </a:ext>
            </a:extLst>
          </p:cNvPr>
          <p:cNvSpPr>
            <a:spLocks noGrp="1"/>
          </p:cNvSpPr>
          <p:nvPr/>
        </p:nvSpPr>
        <p:spPr>
          <a:xfrm>
            <a:off x="39665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0C893C-A1BD-420C-86B7-F3481A7D85B1}"/>
              </a:ext>
            </a:extLst>
          </p:cNvPr>
          <p:cNvSpPr>
            <a:spLocks noGrp="1"/>
          </p:cNvSpPr>
          <p:nvPr/>
        </p:nvSpPr>
        <p:spPr>
          <a:xfrm>
            <a:off x="46809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D5A8905-AB56-4411-AF47-37729BE80E10}"/>
              </a:ext>
            </a:extLst>
          </p:cNvPr>
          <p:cNvSpPr>
            <a:spLocks noGrp="1"/>
          </p:cNvSpPr>
          <p:nvPr/>
        </p:nvSpPr>
        <p:spPr>
          <a:xfrm>
            <a:off x="49571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27324A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110CE7-006C-4A36-BFB1-EBDDAB812B85}"/>
              </a:ext>
            </a:extLst>
          </p:cNvPr>
          <p:cNvSpPr>
            <a:spLocks noGrp="1"/>
          </p:cNvSpPr>
          <p:nvPr/>
        </p:nvSpPr>
        <p:spPr>
          <a:xfrm>
            <a:off x="50333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228EED-0E3C-4AF0-9D2F-F72F88B017CF}"/>
              </a:ext>
            </a:extLst>
          </p:cNvPr>
          <p:cNvSpPr>
            <a:spLocks noGrp="1"/>
          </p:cNvSpPr>
          <p:nvPr/>
        </p:nvSpPr>
        <p:spPr>
          <a:xfrm>
            <a:off x="57477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38B839-E997-42F2-9E5A-2D11D1C10025}"/>
              </a:ext>
            </a:extLst>
          </p:cNvPr>
          <p:cNvSpPr>
            <a:spLocks noGrp="1"/>
          </p:cNvSpPr>
          <p:nvPr/>
        </p:nvSpPr>
        <p:spPr>
          <a:xfrm>
            <a:off x="60239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27324A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70DD9B-DD54-4C21-A258-59AD0EBDA8C3}"/>
              </a:ext>
            </a:extLst>
          </p:cNvPr>
          <p:cNvSpPr>
            <a:spLocks noGrp="1"/>
          </p:cNvSpPr>
          <p:nvPr/>
        </p:nvSpPr>
        <p:spPr>
          <a:xfrm>
            <a:off x="61001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UI/UX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7B0DD3-C85A-4E1E-BFE0-3F7BA33CF1F9}"/>
              </a:ext>
            </a:extLst>
          </p:cNvPr>
          <p:cNvSpPr>
            <a:spLocks noGrp="1"/>
          </p:cNvSpPr>
          <p:nvPr/>
        </p:nvSpPr>
        <p:spPr>
          <a:xfrm>
            <a:off x="68145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0030B8-5540-41E7-8047-E92F7314EE4B}"/>
              </a:ext>
            </a:extLst>
          </p:cNvPr>
          <p:cNvSpPr>
            <a:spLocks noGrp="1"/>
          </p:cNvSpPr>
          <p:nvPr/>
        </p:nvSpPr>
        <p:spPr>
          <a:xfrm>
            <a:off x="70907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1E3A34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BBA4B9-1A39-45BC-9941-876608C9C818}"/>
              </a:ext>
            </a:extLst>
          </p:cNvPr>
          <p:cNvSpPr>
            <a:spLocks noGrp="1"/>
          </p:cNvSpPr>
          <p:nvPr/>
        </p:nvSpPr>
        <p:spPr>
          <a:xfrm>
            <a:off x="71669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DA16C3-9C19-4E77-A69E-BEDB8D2D258D}"/>
              </a:ext>
            </a:extLst>
          </p:cNvPr>
          <p:cNvSpPr>
            <a:spLocks noGrp="1"/>
          </p:cNvSpPr>
          <p:nvPr/>
        </p:nvSpPr>
        <p:spPr>
          <a:xfrm>
            <a:off x="78813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A2FE3F-374E-4CB3-A09D-DE299632E2ED}"/>
              </a:ext>
            </a:extLst>
          </p:cNvPr>
          <p:cNvSpPr>
            <a:spLocks noGrp="1"/>
          </p:cNvSpPr>
          <p:nvPr/>
        </p:nvSpPr>
        <p:spPr>
          <a:xfrm>
            <a:off x="81575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1E3A34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200DFB-6FE2-42DC-9FA3-5A358F9889C6}"/>
              </a:ext>
            </a:extLst>
          </p:cNvPr>
          <p:cNvSpPr>
            <a:spLocks noGrp="1"/>
          </p:cNvSpPr>
          <p:nvPr/>
        </p:nvSpPr>
        <p:spPr>
          <a:xfrm>
            <a:off x="82337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41CBAE-F992-470A-B2C6-6616FD51C7C5}"/>
              </a:ext>
            </a:extLst>
          </p:cNvPr>
          <p:cNvSpPr>
            <a:spLocks noGrp="1"/>
          </p:cNvSpPr>
          <p:nvPr/>
        </p:nvSpPr>
        <p:spPr>
          <a:xfrm>
            <a:off x="89481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F85CB2B-F784-4C98-A2B9-94B83E9B4AF6}"/>
              </a:ext>
            </a:extLst>
          </p:cNvPr>
          <p:cNvSpPr>
            <a:spLocks noGrp="1"/>
          </p:cNvSpPr>
          <p:nvPr/>
        </p:nvSpPr>
        <p:spPr>
          <a:xfrm>
            <a:off x="92243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1E3A34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4D9632-392B-4B5C-8B0C-E1FAB51F24B2}"/>
              </a:ext>
            </a:extLst>
          </p:cNvPr>
          <p:cNvSpPr>
            <a:spLocks noGrp="1"/>
          </p:cNvSpPr>
          <p:nvPr/>
        </p:nvSpPr>
        <p:spPr>
          <a:xfrm>
            <a:off x="93005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22B817-4CF5-42F4-8C3B-7F2300C9A157}"/>
              </a:ext>
            </a:extLst>
          </p:cNvPr>
          <p:cNvSpPr>
            <a:spLocks noGrp="1"/>
          </p:cNvSpPr>
          <p:nvPr/>
        </p:nvSpPr>
        <p:spPr>
          <a:xfrm>
            <a:off x="10014969" y="4850407"/>
            <a:ext cx="457200" cy="19050"/>
          </a:xfrm>
          <a:prstGeom prst="rect">
            <a:avLst/>
          </a:prstGeom>
          <a:solidFill>
            <a:srgbClr val="6E7A9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8795000-A56F-4316-AFFF-2E5963F0FB94}"/>
              </a:ext>
            </a:extLst>
          </p:cNvPr>
          <p:cNvSpPr>
            <a:spLocks noGrp="1"/>
          </p:cNvSpPr>
          <p:nvPr/>
        </p:nvSpPr>
        <p:spPr>
          <a:xfrm>
            <a:off x="10291194" y="4659907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1E3A34"/>
          </a:solidFill>
          <a:ln w="9525">
            <a:solidFill>
              <a:srgbClr val="3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3A5A32-3A57-4BBC-821C-A513B1659F42}"/>
              </a:ext>
            </a:extLst>
          </p:cNvPr>
          <p:cNvSpPr>
            <a:spLocks noGrp="1"/>
          </p:cNvSpPr>
          <p:nvPr/>
        </p:nvSpPr>
        <p:spPr>
          <a:xfrm>
            <a:off x="10367394" y="4774207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PPT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95769F9-4EE5-4E66-BC60-9C338D41E56C}"/>
              </a:ext>
            </a:extLst>
          </p:cNvPr>
          <p:cNvSpPr>
            <a:spLocks noGrp="1"/>
          </p:cNvSpPr>
          <p:nvPr/>
        </p:nvSpPr>
        <p:spPr>
          <a:xfrm>
            <a:off x="685800" y="3423589"/>
            <a:ext cx="9819314" cy="11030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D7DEEA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여러가지 특화된 </a:t>
            </a:r>
            <a:r>
              <a:rPr lang="en-US" altLang="ko-KR" sz="200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LLM</a:t>
            </a:r>
            <a:r>
              <a:rPr lang="ko-KR" altLang="en-US" sz="200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을 이용해서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아이디어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한 줄</a:t>
            </a:r>
            <a:r>
              <a:rPr lang="ko-KR" altLang="en-US"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을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정의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시나리오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, UI/UX,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코드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영상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사업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보고서까지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이어지는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MVP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자동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제작</a:t>
            </a:r>
            <a:r>
              <a:rPr sz="2000" b="0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프로그램</a:t>
            </a:r>
            <a:endParaRPr sz="2000" b="0" dirty="0">
              <a:solidFill>
                <a:schemeClr val="accen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45061F8-EC78-A52A-C3BF-20BED07ED1F9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8D8CE0A-6C2E-62E3-84E4-FE00E5CC9801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Process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729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8619F7A-AD0B-497E-A579-84AE4EE15E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B78A83-9D03-4782-AA06-3768003D641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40DD99-0780-403F-8C61-0102363F8A19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B9944CD9-EE9D-441E-9146-FA4458664CA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A961164-7FE2-4CEF-8C83-AFBBF9374369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OUTPUT PACKAGE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3CEDB-44DC-415D-9BD7-7A913BC6F69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산출물은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문서가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가능한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MVP </a:t>
            </a:r>
            <a:r>
              <a:rPr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패키지입니다</a:t>
            </a:r>
            <a:r>
              <a:rPr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82BA7-CA36-4248-84C3-3ABA927DD268}"/>
              </a:ext>
            </a:extLst>
          </p:cNvPr>
          <p:cNvSpPr>
            <a:spLocks noGrp="1"/>
          </p:cNvSpPr>
          <p:nvPr/>
        </p:nvSpPr>
        <p:spPr>
          <a:xfrm>
            <a:off x="715162" y="2190750"/>
            <a:ext cx="7810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기획부터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사업성까지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문맥에서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이어져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데모와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제안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자료로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확장됩니다</a:t>
            </a:r>
            <a:r>
              <a:rPr sz="1500" b="0" dirty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8F6CB2-6CB2-4B37-A19E-F97530A69CB2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DCA1C5-6304-47B4-85E4-1AF51D42EDD1}"/>
              </a:ext>
            </a:extLst>
          </p:cNvPr>
          <p:cNvSpPr>
            <a:spLocks noGrp="1"/>
          </p:cNvSpPr>
          <p:nvPr/>
        </p:nvSpPr>
        <p:spPr>
          <a:xfrm>
            <a:off x="1009650" y="3086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UI/UX 화면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AC132F-4568-473A-9085-C5A9C8E232B6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2400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선택 AI별 이미지 생성과 화면 구성안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D1B34F-A780-476B-821E-1C5C6255BB3A}"/>
              </a:ext>
            </a:extLst>
          </p:cNvPr>
          <p:cNvSpPr>
            <a:spLocks noGrp="1"/>
          </p:cNvSpPr>
          <p:nvPr/>
        </p:nvSpPr>
        <p:spPr>
          <a:xfrm>
            <a:off x="4229100" y="291465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FFA351-7EEA-4624-969F-E7510F10FCA4}"/>
              </a:ext>
            </a:extLst>
          </p:cNvPr>
          <p:cNvSpPr>
            <a:spLocks noGrp="1"/>
          </p:cNvSpPr>
          <p:nvPr/>
        </p:nvSpPr>
        <p:spPr>
          <a:xfrm>
            <a:off x="4438650" y="3086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코드/배포 계획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A0A49-EBC7-4427-8D34-0AA30C0EBF73}"/>
              </a:ext>
            </a:extLst>
          </p:cNvPr>
          <p:cNvSpPr>
            <a:spLocks noGrp="1"/>
          </p:cNvSpPr>
          <p:nvPr/>
        </p:nvSpPr>
        <p:spPr>
          <a:xfrm>
            <a:off x="4438650" y="3390900"/>
            <a:ext cx="2400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index 페이지와 실행 구조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A7D1CC-E065-4DB5-A4DF-A903399027C6}"/>
              </a:ext>
            </a:extLst>
          </p:cNvPr>
          <p:cNvSpPr>
            <a:spLocks noGrp="1"/>
          </p:cNvSpPr>
          <p:nvPr/>
        </p:nvSpPr>
        <p:spPr>
          <a:xfrm>
            <a:off x="7658100" y="291465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FF8E8"/>
          </a:solidFill>
          <a:ln w="9525">
            <a:solidFill>
              <a:srgbClr val="EAC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17CA7D-2583-4654-848F-90478B5FB1E6}"/>
              </a:ext>
            </a:extLst>
          </p:cNvPr>
          <p:cNvSpPr>
            <a:spLocks noGrp="1"/>
          </p:cNvSpPr>
          <p:nvPr/>
        </p:nvSpPr>
        <p:spPr>
          <a:xfrm>
            <a:off x="7867650" y="3086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영상 데모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E53AFF-D8F0-4AED-B6FC-C12E8025EF44}"/>
              </a:ext>
            </a:extLst>
          </p:cNvPr>
          <p:cNvSpPr>
            <a:spLocks noGrp="1"/>
          </p:cNvSpPr>
          <p:nvPr/>
        </p:nvSpPr>
        <p:spPr>
          <a:xfrm>
            <a:off x="7867650" y="3390900"/>
            <a:ext cx="2400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Runway 기반 동영상 태스크와 fallback preview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29E17D-8C58-4430-8350-6F87461F474C}"/>
              </a:ext>
            </a:extLst>
          </p:cNvPr>
          <p:cNvSpPr>
            <a:spLocks noGrp="1"/>
          </p:cNvSpPr>
          <p:nvPr/>
        </p:nvSpPr>
        <p:spPr>
          <a:xfrm>
            <a:off x="800100" y="407670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3ABD05-419D-4154-B277-51F3370F04B5}"/>
              </a:ext>
            </a:extLst>
          </p:cNvPr>
          <p:cNvSpPr>
            <a:spLocks noGrp="1"/>
          </p:cNvSpPr>
          <p:nvPr/>
        </p:nvSpPr>
        <p:spPr>
          <a:xfrm>
            <a:off x="1009650" y="42481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사업 보고서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682CE4-6132-4603-A395-04DA0C09A23C}"/>
              </a:ext>
            </a:extLst>
          </p:cNvPr>
          <p:cNvSpPr>
            <a:spLocks noGrp="1"/>
          </p:cNvSpPr>
          <p:nvPr/>
        </p:nvSpPr>
        <p:spPr>
          <a:xfrm>
            <a:off x="1009650" y="4552950"/>
            <a:ext cx="2400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BM, 시장, 기술, 수익성, 리스크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6D32CF-490F-4A1E-929E-8611C883E724}"/>
              </a:ext>
            </a:extLst>
          </p:cNvPr>
          <p:cNvSpPr>
            <a:spLocks noGrp="1"/>
          </p:cNvSpPr>
          <p:nvPr/>
        </p:nvSpPr>
        <p:spPr>
          <a:xfrm>
            <a:off x="4229100" y="4076700"/>
            <a:ext cx="2876550" cy="87630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1B5CEF-62A9-4868-BF42-94B5815DF3C3}"/>
              </a:ext>
            </a:extLst>
          </p:cNvPr>
          <p:cNvSpPr>
            <a:spLocks noGrp="1"/>
          </p:cNvSpPr>
          <p:nvPr/>
        </p:nvSpPr>
        <p:spPr>
          <a:xfrm>
            <a:off x="4438650" y="42481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PPT 패키지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4D96DE-1F3B-406C-AEA5-AD7DED5BA377}"/>
              </a:ext>
            </a:extLst>
          </p:cNvPr>
          <p:cNvSpPr>
            <a:spLocks noGrp="1"/>
          </p:cNvSpPr>
          <p:nvPr/>
        </p:nvSpPr>
        <p:spPr>
          <a:xfrm>
            <a:off x="4438650" y="4552950"/>
            <a:ext cx="2400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Copilot, Canva, Gamma형 발표자료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EEE35A7-1488-4DFA-B3F7-D9A623F1DFB9}"/>
              </a:ext>
            </a:extLst>
          </p:cNvPr>
          <p:cNvSpPr>
            <a:spLocks noGrp="1"/>
          </p:cNvSpPr>
          <p:nvPr/>
        </p:nvSpPr>
        <p:spPr>
          <a:xfrm>
            <a:off x="7581900" y="4076700"/>
            <a:ext cx="2876550" cy="952500"/>
          </a:xfrm>
          <a:prstGeom prst="roundRect">
            <a:avLst>
              <a:gd name="adj" fmla="val 8000"/>
            </a:avLst>
          </a:prstGeom>
          <a:solidFill>
            <a:srgbClr val="EDFDF7"/>
          </a:solidFill>
          <a:ln w="9525">
            <a:solidFill>
              <a:srgbClr val="BFE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717215-C3CA-4754-9F0E-E61DECA2A92C}"/>
              </a:ext>
            </a:extLst>
          </p:cNvPr>
          <p:cNvSpPr>
            <a:spLocks noGrp="1"/>
          </p:cNvSpPr>
          <p:nvPr/>
        </p:nvSpPr>
        <p:spPr>
          <a:xfrm>
            <a:off x="7791450" y="42481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A9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8A978"/>
                </a:solidFill>
                <a:latin typeface="Malgun Gothic"/>
                <a:ea typeface="Malgun Gothic"/>
                <a:cs typeface="Malgun Gothic"/>
              </a:rPr>
              <a:t>핵심 가치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D96C84-76D8-4D1E-8E42-2841281730A5}"/>
              </a:ext>
            </a:extLst>
          </p:cNvPr>
          <p:cNvSpPr>
            <a:spLocks noGrp="1"/>
          </p:cNvSpPr>
          <p:nvPr/>
        </p:nvSpPr>
        <p:spPr>
          <a:xfrm>
            <a:off x="7791450" y="4552950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기획 산출물이 실제 구현/발표 산출물로 이어지는 단일 흐름</a:t>
            </a:r>
          </a:p>
        </p:txBody>
      </p:sp>
    </p:spTree>
    <p:extLst>
      <p:ext uri="{BB962C8B-B14F-4D97-AF65-F5344CB8AC3E}">
        <p14:creationId xmlns:p14="http://schemas.microsoft.com/office/powerpoint/2010/main" val="52654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64637E-5A7A-4089-810C-61FE7683DC2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544422-F553-4930-971A-78977A50706E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073AE3AF-12D4-4C8C-A599-2E5784510EB2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EAF46396-F6AD-452B-A281-E2C29DA679FB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8AA784-6F8D-4AD9-8BB4-911D67C9812F}"/>
              </a:ext>
            </a:extLst>
          </p:cNvPr>
          <p:cNvSpPr>
            <a:spLocks noGrp="1"/>
          </p:cNvSpPr>
          <p:nvPr/>
        </p:nvSpPr>
        <p:spPr>
          <a:xfrm>
            <a:off x="1486947" y="1786593"/>
            <a:ext cx="7967445" cy="22485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사용자 입력을 최소화 </a:t>
            </a:r>
            <a:endParaRPr lang="en-US" altLang="ko-KR" sz="30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Free / Standard / Premium 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으로 구분하여 사용자가 요구 하는 사항을 그때 그때 적용 </a:t>
            </a:r>
            <a:r>
              <a:rPr lang="ko-KR" altLang="en-US" sz="3000" b="1" dirty="0" err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할수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있도록 구성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30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5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1818-E368-1869-3EC8-E41D5F9C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F29748-8489-5D8F-3840-1CBA01DE84C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FC6712-6C8C-73A4-2E25-B926DDD0159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C32A2557-0CD6-5E46-5562-02D9DE35744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70F8A94-E0C0-19E3-C64E-553E9AE5C750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4C5ED-4226-B569-B420-CE02A4118D7C}"/>
              </a:ext>
            </a:extLst>
          </p:cNvPr>
          <p:cNvSpPr>
            <a:spLocks noGrp="1"/>
          </p:cNvSpPr>
          <p:nvPr/>
        </p:nvSpPr>
        <p:spPr>
          <a:xfrm>
            <a:off x="1486947" y="1786593"/>
            <a:ext cx="8118447" cy="29154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개발은 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codex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를 이용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	.</a:t>
            </a:r>
          </a:p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React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로 개발 요청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첫 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Prompt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는 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페이지 부터 차례대로 한 스텝씩 구성 해 나가는 식으로 구성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기본 플로우 구성 후에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, API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 토큰 사용량 등 필요 사항 추가</a:t>
            </a:r>
            <a:endParaRPr lang="en-US" altLang="ko-KR" sz="30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30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향후 목표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:</a:t>
            </a:r>
            <a:b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</a:b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Source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를 실제 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Working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가능한 레벨로 작성 하도록 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Prompt 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개선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동영상 까지 완성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</a:t>
            </a:r>
            <a:b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실제 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MVP </a:t>
            </a:r>
            <a:r>
              <a:rPr lang="ko-KR" altLang="en-US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정도까지 구현 하는 것이 목표</a:t>
            </a:r>
            <a:r>
              <a:rPr lang="en-US" altLang="ko-KR" sz="30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342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F5708-CC75-1075-1F13-75001E882682}"/>
              </a:ext>
            </a:extLst>
          </p:cNvPr>
          <p:cNvSpPr txBox="1"/>
          <p:nvPr/>
        </p:nvSpPr>
        <p:spPr>
          <a:xfrm>
            <a:off x="3905076" y="2529281"/>
            <a:ext cx="3620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4642928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430</Words>
  <Application>Microsoft Office PowerPoint</Application>
  <DocSecurity>0</DocSecurity>
  <PresentationFormat>Widescreen</PresentationFormat>
  <Paragraphs>92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Malgun Gothic</vt:lpstr>
      <vt:lpstr>Aptos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방효식</cp:lastModifiedBy>
  <cp:revision>3</cp:revision>
  <dcterms:created xsi:type="dcterms:W3CDTF">2026-06-04T00:56:22Z</dcterms:created>
  <dcterms:modified xsi:type="dcterms:W3CDTF">2026-06-04T06:36:32Z</dcterms:modified>
</cp:coreProperties>
</file>