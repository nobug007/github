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7" r:id="rId4"/>
    <p:sldId id="259" r:id="rId5"/>
    <p:sldId id="266" r:id="rId6"/>
    <p:sldId id="260" r:id="rId7"/>
    <p:sldId id="262" r:id="rId8"/>
    <p:sldId id="269" r:id="rId9"/>
    <p:sldId id="268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A9C26-1DDB-FCA7-C5E6-343E9FE9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A13F5-B91E-CF7D-6491-E400275E5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17598-8DAB-97F5-5BF6-8723F25A7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8487A-8B27-5FE6-0F55-E0BE892091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6826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8F5D-7810-0F5E-5EF4-824EC635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D74B4-D2E4-858E-666B-C92F51FE0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A93B0-E097-8410-8367-B1129667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F62BA-E340-75C0-5A0F-39B4EDAEE0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3254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EF87-CCA6-4453-68A3-435AAB73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EEE5E-B980-3E14-D1EC-0A178FC7E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4E48F-D058-6030-E4C7-EF07371B0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20038-9247-8521-9281-9E103830DD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41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A9B4-1A33-7A74-E84A-CBD06E6E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1A7A1-2654-6FFD-6B91-594E90992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A8209-79C9-DF3D-54C8-8A6C5D844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33B25-FEE0-A847-81E6-4891C126DD7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0346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ns2:creationId id="{AF4D29C8-5F7E-4335-B786-91B6E2774747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ns2:creationId id="{7467EABC-0602-435D-9E0B-62E883B6314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marker">
            <a:extLst>
              <a:ext uri="{FF2B5EF4-FFF2-40B4-BE49-F238E27FC236}">
                <ns2:creationId id="{26370EE1-830D-40C5-87B3-2E53F00041C5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ns2:creationId id="{9E8C5586-DFA0-4370-B87E-7EC75D666C68}"/>
              </a:ext>
            </a:extLst>
          </p:cNvPr>
          <p:cNvSpPr>
            <a:spLocks noGrp="1"/>
          </p:cNvSpPr>
          <p:nvPr/>
        </p:nvSpPr>
        <p:spPr>
          <a:xfrm>
            <a:off x="1028700" y="5143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AD5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AD5E8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C5869546-AF05-41E5-99B2-6B74E4B48061}"/>
              </a:ext>
            </a:extLst>
          </p:cNvPr>
          <p:cNvSpPr>
            <a:spLocks noGrp="1"/>
          </p:cNvSpPr>
          <p:nvPr/>
        </p:nvSpPr>
        <p:spPr>
          <a:xfrm>
            <a:off x="2820447" y="2233054"/>
            <a:ext cx="5644045" cy="25025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0" b="1" dirty="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rPr>
              <a:t>MAG</a:t>
            </a:r>
          </a:p>
        </p:txBody>
      </p:sp>
      <p:sp>
        <p:nvSpPr>
          <p:cNvPr id="47" name="TextBox 46">
            <a:extLst>
              <a:ext uri="{FF2B5EF4-FFF2-40B4-BE49-F238E27FC236}">
                <ns2:creationId id="{1A82AAB7-1721-704F-8EC8-1F6ECDE78508}"/>
              </a:ext>
            </a:extLst>
          </p:cNvPr>
          <p:cNvSpPr txBox="1"/>
          <p:nvPr/>
        </p:nvSpPr>
        <p:spPr>
          <a:xfrm>
            <a:off x="9404059" y="5297648"/>
            <a:ext cx="2231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2026.06.05</a:t>
            </a:r>
          </a:p>
          <a:p>
            <a:pPr algn="ctr"/>
            <a:r>
              <a:rPr lang="en-US" altLang="ko-KR" b="1" dirty="0"/>
              <a:t>MVP team </a:t>
            </a:r>
          </a:p>
          <a:p>
            <a:pPr algn="ctr"/>
            <a:r>
              <a:rPr lang="ko-KR" altLang="en-US" b="1" dirty="0"/>
              <a:t>방효식 </a:t>
            </a:r>
            <a:r>
              <a:rPr lang="en-US" altLang="ko-KR" b="1" dirty="0"/>
              <a:t>/ </a:t>
            </a:r>
            <a:r>
              <a:rPr lang="ko-KR" altLang="en-US" b="1" dirty="0" err="1"/>
              <a:t>김경국</a:t>
            </a:r>
            <a:r>
              <a:rPr lang="ko-KR" altLang="en-US" b="1" dirty="0"/>
              <a:t> </a:t>
            </a:r>
            <a:endParaRPr lang="en-US" altLang="ko-KR" b="1" dirty="0"/>
          </a:p>
        </p:txBody>
      </p:sp>
      <p:pic>
        <p:nvPicPr>
          <p:cNvPr id="49" name="Picture 48">
            <a:extLst>
              <a:ext uri="{FF2B5EF4-FFF2-40B4-BE49-F238E27FC236}">
                <ns2:creationId id="{1D62BA40-8879-0F83-9A1D-F27B72576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894" y="319109"/>
            <a:ext cx="2151792" cy="50963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ns2:creationId id="{95209CFE-583A-3E5F-5DF0-70838F623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77" y="5936056"/>
            <a:ext cx="3392682" cy="284922"/>
          </a:xfrm>
          <a:prstGeom prst="rect">
            <a:avLst/>
          </a:prstGeom>
        </p:spPr>
      </p:pic>
      <p:sp>
        <p:nvSpPr>
          <p:cNvPr id="52" name="shape 5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56" name="MAG footer line 1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57" name="MAG footer brand 1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58" name="MAG footer page 1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01 / 09</a:t>
            </a:r>
            <a:endParaRPr lang="ko-KR" sz="800"/>
          </a:p>
        </p:txBody>
      </p:sp>
    </p:spTree>
    <p:extLst>
      <p:ext uri="{BB962C8B-B14F-4D97-AF65-F5344CB8AC3E}">
        <ns4:creationId val="2108774602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7B902A0A-BA25-6359-05CC-389B4661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2">
            <a:extLst>
              <a:ext uri="{FF2B5EF4-FFF2-40B4-BE49-F238E27FC236}">
                <ns2:creationId id="{6E81B76B-314A-2AA1-2F89-2FC3BF00EF9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>
              <a:ext uri="{FF2B5EF4-FFF2-40B4-BE49-F238E27FC236}">
                <ns2:creationId id="{8797848F-29D1-13F8-DB76-DDC0768C7F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ns2:creationId id="{3C214CFF-1147-534F-CD2E-4F64A330F325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0163182A-9ABD-1652-9F4A-AE2DCB6EA35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WHAT?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Rectangle 31">
            <a:extLst>
              <a:ext uri="{FF2B5EF4-FFF2-40B4-BE49-F238E27FC236}">
                <ns2:creationId id="{2370F288-3FA8-5099-467A-90AB9D522334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ns2:creationId id="{D7F7DA26-476B-62EF-1DC6-99E804447037}"/>
              </a:ext>
            </a:extLst>
          </p:cNvPr>
          <p:cNvSpPr txBox="1"/>
          <p:nvPr/>
        </p:nvSpPr>
        <p:spPr>
          <a:xfrm>
            <a:off x="2226927" y="4520251"/>
            <a:ext cx="7482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* MAG </a:t>
            </a:r>
            <a:r>
              <a:rPr lang="ko-KR" altLang="en-US" sz="2000" dirty="0">
                <a:solidFill>
                  <a:schemeClr val="accent1"/>
                </a:solidFill>
              </a:rPr>
              <a:t>란</a:t>
            </a:r>
            <a:r>
              <a:rPr lang="en-US" sz="2000" dirty="0">
                <a:solidFill>
                  <a:schemeClr val="accent1"/>
                </a:solidFill>
              </a:rPr>
              <a:t>?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   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Magazine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을 줄여서 부르는 말로 사용 됨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 ( 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주로 잡지를 의미 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b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국방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r>
              <a:rPr lang="ko-KR" altLang="en-US" sz="2000" dirty="0">
                <a:solidFill>
                  <a:schemeClr val="accent6">
                    <a:lumMod val="75000"/>
                  </a:schemeClr>
                </a:solidFill>
              </a:rPr>
              <a:t>무기 분야에서는 기관총 또는 탄창을 의미</a:t>
            </a:r>
            <a:r>
              <a:rPr lang="en-US" altLang="ko-KR" sz="20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ns2:creationId id="{7B193B6C-9B54-AB15-A5EB-AC3364248064}"/>
              </a:ext>
            </a:extLst>
          </p:cNvPr>
          <p:cNvSpPr txBox="1"/>
          <p:nvPr/>
        </p:nvSpPr>
        <p:spPr>
          <a:xfrm>
            <a:off x="2155620" y="2464823"/>
            <a:ext cx="7013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/>
              <a:t>아이디어를</a:t>
            </a:r>
            <a:r>
              <a:rPr lang="en-US" sz="3600" dirty="0"/>
              <a:t> </a:t>
            </a:r>
            <a:r>
              <a:rPr lang="en-US" sz="3600" dirty="0" err="1"/>
              <a:t>사업</a:t>
            </a:r>
            <a:r>
              <a:rPr lang="en-US" sz="3600" dirty="0"/>
              <a:t> </a:t>
            </a:r>
            <a:r>
              <a:rPr lang="en-US" sz="3600" dirty="0" err="1"/>
              <a:t>검증</a:t>
            </a:r>
            <a:r>
              <a:rPr lang="en-US" sz="3600" dirty="0"/>
              <a:t> </a:t>
            </a:r>
            <a:r>
              <a:rPr lang="en-US" sz="3600" dirty="0" err="1"/>
              <a:t>가능한</a:t>
            </a:r>
            <a:r>
              <a:rPr lang="en-US" sz="3600" dirty="0"/>
              <a:t> </a:t>
            </a:r>
          </a:p>
          <a:p>
            <a:pPr algn="ctr"/>
            <a:r>
              <a:rPr lang="en-US" sz="3600" dirty="0" err="1"/>
              <a:t>MVP로</a:t>
            </a:r>
            <a:r>
              <a:rPr lang="en-US" sz="3600" dirty="0"/>
              <a:t> </a:t>
            </a:r>
            <a:r>
              <a:rPr lang="en-US" sz="3600" dirty="0" err="1"/>
              <a:t>전환하는</a:t>
            </a:r>
            <a:r>
              <a:rPr lang="en-US" sz="3600" dirty="0"/>
              <a:t> AI </a:t>
            </a:r>
            <a:r>
              <a:rPr lang="en-US" sz="3600" dirty="0" err="1"/>
              <a:t>자동화</a:t>
            </a:r>
            <a:r>
              <a:rPr lang="en-US" sz="3600" dirty="0"/>
              <a:t> </a:t>
            </a:r>
            <a:r>
              <a:rPr lang="en-US" sz="3600" dirty="0" err="1"/>
              <a:t>플랫폼</a:t>
            </a:r>
            <a:endParaRPr lang="en-US" altLang="ko-KR" sz="3600" dirty="0">
              <a:solidFill>
                <a:srgbClr val="002060"/>
              </a:solidFill>
            </a:endParaRPr>
          </a:p>
        </p:txBody>
      </p:sp>
      <p:sp>
        <p:nvSpPr>
          <p:cNvPr id="47" name="shape 47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51" name="MAG footer line 2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52" name="MAG footer brand 2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53" name="MAG footer page 2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02 / 09</a:t>
            </a:r>
            <a:endParaRPr lang="ko-KR" sz="800"/>
          </a:p>
        </p:txBody>
      </p:sp>
    </p:spTree>
    <p:extLst>
      <p:ext uri="{BB962C8B-B14F-4D97-AF65-F5344CB8AC3E}">
        <ns3:creationId val="3734260830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96B3105-CDAA-A3ED-5D24-482836C0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2">
            <a:extLst>
              <a:ext uri="{FF2B5EF4-FFF2-40B4-BE49-F238E27FC236}">
                <ns2:creationId id="{3A6A12D0-805E-E441-1B22-1166CB2E6BA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>
              <a:ext uri="{FF2B5EF4-FFF2-40B4-BE49-F238E27FC236}">
                <ns2:creationId id="{40FA8EAB-EC9A-2F86-5F8A-77F8D267A50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" cy="28575"/>
          </a:xfrm>
          <a:prstGeom prst="rect">
            <a:avLst/>
          </a:prstGeom>
          <a:solidFill>
            <a:srgbClr val="4F63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-label">
            <a:extLst>
              <a:ext uri="{FF2B5EF4-FFF2-40B4-BE49-F238E27FC236}">
                <ns2:creationId id="{888B3A8A-D4C9-679B-8B86-53B1274702E4}"/>
              </a:ext>
            </a:extLst>
          </p:cNvPr>
          <p:cNvSpPr>
            <a:spLocks noGrp="1"/>
          </p:cNvSpPr>
          <p:nvPr/>
        </p:nvSpPr>
        <p:spPr>
          <a:xfrm>
            <a:off x="102870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309D0F24-6404-AE13-467C-B66F24263C3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7053044" cy="752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400" b="1" dirty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WHY?</a:t>
            </a:r>
            <a:endParaRPr sz="5400" b="1" dirty="0">
              <a:solidFill>
                <a:srgbClr val="1018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2" name="Rectangle 31">
            <a:extLst>
              <a:ext uri="{FF2B5EF4-FFF2-40B4-BE49-F238E27FC236}">
                <ns2:creationId id="{52A40604-D59D-6A1B-0326-FB483DA40590}"/>
              </a:ext>
            </a:extLst>
          </p:cNvPr>
          <p:cNvSpPr>
            <a:spLocks noGrp="1"/>
          </p:cNvSpPr>
          <p:nvPr/>
        </p:nvSpPr>
        <p:spPr>
          <a:xfrm>
            <a:off x="685800" y="6478573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</a:t>
            </a:r>
            <a:r>
              <a:rPr lang="en-US" sz="900" b="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MVP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Auto</a:t>
            </a:r>
            <a:r>
              <a:rPr lang="ko-KR" altLang="en-US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900" dirty="0">
                <a:solidFill>
                  <a:srgbClr val="AEB8CA"/>
                </a:solidFill>
                <a:latin typeface="Aptos"/>
                <a:ea typeface="Aptos"/>
                <a:cs typeface="Aptos"/>
              </a:rPr>
              <a:t>Generator</a:t>
            </a:r>
            <a:endParaRPr sz="900" b="0" dirty="0">
              <a:solidFill>
                <a:srgbClr val="AEB8C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ns2:creationId id="{3E579A7F-3250-259D-C4F8-620BACCB793A}"/>
              </a:ext>
            </a:extLst>
          </p:cNvPr>
          <p:cNvSpPr txBox="1"/>
          <p:nvPr/>
        </p:nvSpPr>
        <p:spPr>
          <a:xfrm>
            <a:off x="1967568" y="1754972"/>
            <a:ext cx="6723428" cy="4245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아이디어 구체화 어려움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생각은 있지만 문서화가 어렵다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사용자 정의 부족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누구를 위한 서비스인지 불명확 하다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화면 설계 부담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- UI/UX </a:t>
            </a:r>
            <a:r>
              <a:rPr lang="ko-KR" altLang="en-US" dirty="0"/>
              <a:t>구조를 잡기 어렵다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개발에 대한 장벽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개발자와 기술 스택이 필요하다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/>
              <a:t>검증 지연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dirty="0"/>
              <a:t>- </a:t>
            </a:r>
            <a:r>
              <a:rPr lang="ko-KR" altLang="en-US" dirty="0"/>
              <a:t>실제 사용자 테스트까지 오래 걸린다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sp>
        <p:nvSpPr>
          <p:cNvPr id="36" name="shape 36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40" name="MAG footer line 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41" name="MAG footer brand 3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42" name="MAG footer page 3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03 / 09</a:t>
            </a:r>
            <a:endParaRPr lang="ko-KR" sz="800"/>
          </a:p>
        </p:txBody>
      </p:sp>
    </p:spTree>
    <p:extLst>
      <p:ext uri="{BB962C8B-B14F-4D97-AF65-F5344CB8AC3E}">
        <ns3:creationId val="373422818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66928" y="320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HOW</a:t>
            </a:r>
            <a:endParaRPr lang="ko-KR" sz="1000"/>
          </a:p>
        </p:txBody>
      </p:sp>
      <p:sp>
        <p:nvSpPr>
          <p:cNvPr id="4" name="shape 4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713232"/>
            <a:ext cx="987552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400" b="1">
                <a:solidFill>
                  <a:srgbClr val="101827"/>
                </a:solidFill>
                <a:latin typeface="Malgun Gothic"/>
                <a:ea typeface="Malgun Gothic"/>
              </a:rPr>
              <a:t>세 개의 AI 답변이 사용자 편집 + Merge AI로 모입니다.</a:t>
            </a:r>
            <a:endParaRPr lang="ko-KR" sz="2400"/>
          </a:p>
        </p:txBody>
      </p:sp>
      <p:sp>
        <p:nvSpPr>
          <p:cNvPr id="6" name="text 6"/>
          <p:cNvSpPr txBox="1"/>
          <p:nvPr/>
        </p:nvSpPr>
        <p:spPr>
          <a:xfrm>
            <a:off x="566928" y="1261872"/>
            <a:ext cx="969264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>
                <a:solidFill>
                  <a:srgbClr val="4B647D"/>
                </a:solidFill>
                <a:latin typeface="Malgun Gothic"/>
                <a:ea typeface="Malgun Gothic"/>
              </a:rPr>
              <a:t>선택된 서버가 같은 프롬프트를 받되 서로 다른 관점으로 답변하고, 아래 병합 영역에서 하나의 다음 단계 프롬프트가 됩니다.</a:t>
            </a:r>
            <a:endParaRPr lang="ko-KR" sz="1200"/>
          </a:p>
        </p:txBody>
      </p:sp>
      <p:sp>
        <p:nvSpPr>
          <p:cNvPr id="7" name="shape 7"/>
          <p:cNvSpPr/>
          <p:nvPr/>
        </p:nvSpPr>
        <p:spPr>
          <a:xfrm>
            <a:off x="868680" y="2212848"/>
            <a:ext cx="2788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F63F6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69848" y="2432304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800" b="1">
                <a:solidFill>
                  <a:srgbClr val="101827"/>
                </a:solidFill>
                <a:latin typeface="Malgun Gothic"/>
                <a:ea typeface="Malgun Gothic"/>
              </a:rPr>
              <a:t>OpenAI</a:t>
            </a:r>
            <a:endParaRPr lang="ko-KR" sz="1800"/>
          </a:p>
        </p:txBody>
      </p:sp>
      <p:sp>
        <p:nvSpPr>
          <p:cNvPr id="9" name="text 9"/>
          <p:cNvSpPr txBox="1"/>
          <p:nvPr/>
        </p:nvSpPr>
        <p:spPr>
          <a:xfrm>
            <a:off x="1069848" y="276148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구조화와 정밀도</a:t>
            </a:r>
            <a:endParaRPr lang="ko-KR" sz="1100"/>
          </a:p>
        </p:txBody>
      </p:sp>
      <p:sp>
        <p:nvSpPr>
          <p:cNvPr id="10" name="shape 10"/>
          <p:cNvSpPr/>
          <p:nvPr/>
        </p:nvSpPr>
        <p:spPr>
          <a:xfrm>
            <a:off x="2084832" y="3456432"/>
            <a:ext cx="384048" cy="822960"/>
          </a:xfrm>
          <a:prstGeom prst="down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4572000" y="2212848"/>
            <a:ext cx="2788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8A978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773168" y="2432304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800" b="1">
                <a:solidFill>
                  <a:srgbClr val="101827"/>
                </a:solidFill>
                <a:latin typeface="Malgun Gothic"/>
                <a:ea typeface="Malgun Gothic"/>
              </a:rPr>
              <a:t>Gemini</a:t>
            </a:r>
            <a:endParaRPr lang="ko-KR" sz="1800"/>
          </a:p>
        </p:txBody>
      </p:sp>
      <p:sp>
        <p:nvSpPr>
          <p:cNvPr id="13" name="text 13"/>
          <p:cNvSpPr txBox="1"/>
          <p:nvPr/>
        </p:nvSpPr>
        <p:spPr>
          <a:xfrm>
            <a:off x="4773168" y="276148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긴 문맥 분석</a:t>
            </a:r>
            <a:endParaRPr lang="ko-KR" sz="1100"/>
          </a:p>
        </p:txBody>
      </p:sp>
      <p:sp>
        <p:nvSpPr>
          <p:cNvPr id="14" name="shape 14"/>
          <p:cNvSpPr/>
          <p:nvPr/>
        </p:nvSpPr>
        <p:spPr>
          <a:xfrm>
            <a:off x="5788152" y="3456432"/>
            <a:ext cx="384048" cy="822960"/>
          </a:xfrm>
          <a:prstGeom prst="downArrow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8275319" y="2212848"/>
            <a:ext cx="2788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7791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476488" y="2432304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800" b="1">
                <a:solidFill>
                  <a:srgbClr val="101827"/>
                </a:solidFill>
                <a:latin typeface="Malgun Gothic"/>
                <a:ea typeface="Malgun Gothic"/>
              </a:rPr>
              <a:t>Groq / OpenRouter</a:t>
            </a:r>
            <a:endParaRPr lang="ko-KR" sz="1800"/>
          </a:p>
        </p:txBody>
      </p:sp>
      <p:sp>
        <p:nvSpPr>
          <p:cNvPr id="17" name="text 17"/>
          <p:cNvSpPr txBox="1"/>
          <p:nvPr/>
        </p:nvSpPr>
        <p:spPr>
          <a:xfrm>
            <a:off x="8476488" y="276148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빠른 추론과 라우팅</a:t>
            </a:r>
            <a:endParaRPr lang="ko-KR" sz="1100"/>
          </a:p>
        </p:txBody>
      </p:sp>
      <p:sp>
        <p:nvSpPr>
          <p:cNvPr id="18" name="shape 18"/>
          <p:cNvSpPr/>
          <p:nvPr/>
        </p:nvSpPr>
        <p:spPr>
          <a:xfrm>
            <a:off x="9491472" y="3456432"/>
            <a:ext cx="384048" cy="822960"/>
          </a:xfrm>
          <a:prstGeom prst="downArrow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2880360" y="4599432"/>
            <a:ext cx="6400800" cy="822960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3246120" y="477316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2000" b="1">
                <a:solidFill>
                  <a:srgbClr val="4F63F6"/>
                </a:solidFill>
                <a:latin typeface="Malgun Gothic"/>
                <a:ea typeface="Malgun Gothic"/>
              </a:rPr>
              <a:t>사용자 편집 + Merge AI</a:t>
            </a:r>
            <a:endParaRPr lang="ko-KR" sz="2000"/>
          </a:p>
        </p:txBody>
      </p:sp>
      <p:sp>
        <p:nvSpPr>
          <p:cNvPr id="21" name="text 21"/>
          <p:cNvSpPr txBox="1"/>
          <p:nvPr/>
        </p:nvSpPr>
        <p:spPr>
          <a:xfrm>
            <a:off x="3246120" y="5102352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1200">
                <a:solidFill>
                  <a:srgbClr val="657084"/>
                </a:solidFill>
                <a:latin typeface="Malgun Gothic"/>
                <a:ea typeface="Malgun Gothic"/>
              </a:rPr>
              <a:t>선택, 수정, 병합 기록이 다음 단계 프롬프트가 됩니다.</a:t>
            </a:r>
            <a:endParaRPr lang="ko-KR" sz="1200"/>
          </a:p>
        </p:txBody>
      </p:sp>
      <p:sp>
        <p:nvSpPr>
          <p:cNvPr id="22" name="shape 22"/>
          <p:cNvSpPr/>
          <p:nvPr/>
        </p:nvSpPr>
        <p:spPr>
          <a:xfrm>
            <a:off x="5742432" y="5440680"/>
            <a:ext cx="420624" cy="658368"/>
          </a:xfrm>
          <a:prstGeom prst="down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4983480" y="614476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1100" b="1">
                <a:solidFill>
                  <a:srgbClr val="4F63F6"/>
                </a:solidFill>
                <a:latin typeface="Malgun Gothic"/>
                <a:ea typeface="Malgun Gothic"/>
              </a:rPr>
              <a:t>다음 단계 프롬프트</a:t>
            </a:r>
            <a:endParaRPr lang="ko-KR" sz="1100"/>
          </a:p>
        </p:txBody>
      </p:sp>
      <p:sp>
        <p:nvSpPr>
          <p:cNvPr id="24" name="MAG footer line 4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25" name="MAG footer brand 4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26" name="MAG footer page 4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04 / 09</a:t>
            </a:r>
            <a:endParaRPr lang="ko-KR" sz="800"/>
          </a:p>
        </p:txBody>
      </p:sp>
    </p:spTree>
    <p:extLst>
      <p:ext uri="{BB962C8B-B14F-4D97-AF65-F5344CB8AC3E}">
        <ns2:creationId val="1607422869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586CB235-F97E-46DC-FA21-2F4C914EB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66928" y="320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PROCESS</a:t>
            </a:r>
            <a:endParaRPr lang="ko-KR" sz="1000"/>
          </a:p>
        </p:txBody>
      </p:sp>
      <p:sp>
        <p:nvSpPr>
          <p:cNvPr id="4" name="shape 4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6928" y="713232"/>
            <a:ext cx="987552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400" b="1">
                <a:solidFill>
                  <a:srgbClr val="101827"/>
                </a:solidFill>
                <a:latin typeface="Malgun Gothic"/>
                <a:ea typeface="Malgun Gothic"/>
              </a:rPr>
              <a:t>각 단계는 3개의 AI 답변을 받은 뒤 하나로 취합합니다.</a:t>
            </a:r>
            <a:endParaRPr lang="ko-KR" sz="2400"/>
          </a:p>
        </p:txBody>
      </p:sp>
      <p:sp>
        <p:nvSpPr>
          <p:cNvPr id="6" name="text 6"/>
          <p:cNvSpPr txBox="1"/>
          <p:nvPr/>
        </p:nvSpPr>
        <p:spPr>
          <a:xfrm>
            <a:off x="566928" y="1261872"/>
            <a:ext cx="969264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>
                <a:solidFill>
                  <a:srgbClr val="4B647D"/>
                </a:solidFill>
                <a:latin typeface="Malgun Gothic"/>
                <a:ea typeface="Malgun Gothic"/>
              </a:rPr>
              <a:t>한 줄 아이디어가 10단계를 지나며 매번 AI 3개 응답, 사용자 확인, Merge를 거쳐 MVP 패키지로 확장됩니다.</a:t>
            </a:r>
            <a:endParaRPr lang="ko-KR" sz="1200"/>
          </a:p>
        </p:txBody>
      </p:sp>
      <p:sp>
        <p:nvSpPr>
          <p:cNvPr id="7" name="shape 7"/>
          <p:cNvSpPr/>
          <p:nvPr/>
        </p:nvSpPr>
        <p:spPr>
          <a:xfrm>
            <a:off x="594360" y="196596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04088" y="208483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1. Problem</a:t>
            </a:r>
            <a:endParaRPr lang="ko-KR" sz="1100"/>
          </a:p>
        </p:txBody>
      </p:sp>
      <p:sp>
        <p:nvSpPr>
          <p:cNvPr id="9" name="shape 9"/>
          <p:cNvSpPr/>
          <p:nvPr/>
        </p:nvSpPr>
        <p:spPr>
          <a:xfrm>
            <a:off x="777240" y="249631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04672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11" name="shape 11"/>
          <p:cNvSpPr/>
          <p:nvPr/>
        </p:nvSpPr>
        <p:spPr>
          <a:xfrm>
            <a:off x="1216152" y="249631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243584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13" name="shape 13"/>
          <p:cNvSpPr/>
          <p:nvPr/>
        </p:nvSpPr>
        <p:spPr>
          <a:xfrm>
            <a:off x="1655064" y="249631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682496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15" name="shape 15"/>
          <p:cNvSpPr/>
          <p:nvPr/>
        </p:nvSpPr>
        <p:spPr>
          <a:xfrm>
            <a:off x="2084831" y="253288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914400" y="292608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1097280" y="300837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18" name="shape 18"/>
          <p:cNvSpPr/>
          <p:nvPr/>
        </p:nvSpPr>
        <p:spPr>
          <a:xfrm>
            <a:off x="2898648" y="196596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3008376" y="208483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2. Persona</a:t>
            </a:r>
            <a:endParaRPr lang="ko-KR" sz="1100"/>
          </a:p>
        </p:txBody>
      </p:sp>
      <p:sp>
        <p:nvSpPr>
          <p:cNvPr id="20" name="shape 20"/>
          <p:cNvSpPr/>
          <p:nvPr/>
        </p:nvSpPr>
        <p:spPr>
          <a:xfrm>
            <a:off x="3081528" y="249631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3108960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22" name="shape 22"/>
          <p:cNvSpPr/>
          <p:nvPr/>
        </p:nvSpPr>
        <p:spPr>
          <a:xfrm>
            <a:off x="3520440" y="249631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3547872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24" name="shape 24"/>
          <p:cNvSpPr/>
          <p:nvPr/>
        </p:nvSpPr>
        <p:spPr>
          <a:xfrm>
            <a:off x="3959352" y="249631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3986784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26" name="shape 26"/>
          <p:cNvSpPr/>
          <p:nvPr/>
        </p:nvSpPr>
        <p:spPr>
          <a:xfrm>
            <a:off x="4389120" y="253288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3218688" y="292608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3401568" y="300837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29" name="shape 29"/>
          <p:cNvSpPr/>
          <p:nvPr/>
        </p:nvSpPr>
        <p:spPr>
          <a:xfrm>
            <a:off x="5202936" y="196596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5312664" y="208483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3. Scenario</a:t>
            </a:r>
            <a:endParaRPr lang="ko-KR" sz="1100"/>
          </a:p>
        </p:txBody>
      </p:sp>
      <p:sp>
        <p:nvSpPr>
          <p:cNvPr id="31" name="shape 31"/>
          <p:cNvSpPr/>
          <p:nvPr/>
        </p:nvSpPr>
        <p:spPr>
          <a:xfrm>
            <a:off x="5385816" y="249631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5413248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33" name="shape 33"/>
          <p:cNvSpPr/>
          <p:nvPr/>
        </p:nvSpPr>
        <p:spPr>
          <a:xfrm>
            <a:off x="5824728" y="249631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5852160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35" name="shape 35"/>
          <p:cNvSpPr/>
          <p:nvPr/>
        </p:nvSpPr>
        <p:spPr>
          <a:xfrm>
            <a:off x="6263640" y="249631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6291072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37" name="shape 37"/>
          <p:cNvSpPr/>
          <p:nvPr/>
        </p:nvSpPr>
        <p:spPr>
          <a:xfrm>
            <a:off x="6693408" y="253288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38" name="shape 38"/>
          <p:cNvSpPr/>
          <p:nvPr/>
        </p:nvSpPr>
        <p:spPr>
          <a:xfrm>
            <a:off x="5522976" y="292608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5705856" y="300837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40" name="shape 40"/>
          <p:cNvSpPr/>
          <p:nvPr/>
        </p:nvSpPr>
        <p:spPr>
          <a:xfrm>
            <a:off x="7507224" y="196596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7616952" y="208483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4. Feature</a:t>
            </a:r>
            <a:endParaRPr lang="ko-KR" sz="1100"/>
          </a:p>
        </p:txBody>
      </p:sp>
      <p:sp>
        <p:nvSpPr>
          <p:cNvPr id="42" name="shape 42"/>
          <p:cNvSpPr/>
          <p:nvPr/>
        </p:nvSpPr>
        <p:spPr>
          <a:xfrm>
            <a:off x="7690104" y="249631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7717536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44" name="shape 44"/>
          <p:cNvSpPr/>
          <p:nvPr/>
        </p:nvSpPr>
        <p:spPr>
          <a:xfrm>
            <a:off x="8129016" y="249631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8156448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46" name="shape 46"/>
          <p:cNvSpPr/>
          <p:nvPr/>
        </p:nvSpPr>
        <p:spPr>
          <a:xfrm>
            <a:off x="8567928" y="249631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47" name="text 47"/>
          <p:cNvSpPr txBox="1"/>
          <p:nvPr/>
        </p:nvSpPr>
        <p:spPr>
          <a:xfrm>
            <a:off x="8595360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48" name="shape 48"/>
          <p:cNvSpPr/>
          <p:nvPr/>
        </p:nvSpPr>
        <p:spPr>
          <a:xfrm>
            <a:off x="8997696" y="253288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9" name="shape 49"/>
          <p:cNvSpPr/>
          <p:nvPr/>
        </p:nvSpPr>
        <p:spPr>
          <a:xfrm>
            <a:off x="7827264" y="292608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8010144" y="300837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51" name="shape 51"/>
          <p:cNvSpPr/>
          <p:nvPr/>
        </p:nvSpPr>
        <p:spPr>
          <a:xfrm>
            <a:off x="9811512" y="196596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9921240" y="208483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5. Workflow</a:t>
            </a:r>
            <a:endParaRPr lang="ko-KR" sz="1100"/>
          </a:p>
        </p:txBody>
      </p:sp>
      <p:sp>
        <p:nvSpPr>
          <p:cNvPr id="53" name="shape 53"/>
          <p:cNvSpPr/>
          <p:nvPr/>
        </p:nvSpPr>
        <p:spPr>
          <a:xfrm>
            <a:off x="9994392" y="249631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54" name="text 54"/>
          <p:cNvSpPr txBox="1"/>
          <p:nvPr/>
        </p:nvSpPr>
        <p:spPr>
          <a:xfrm>
            <a:off x="10021824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55" name="shape 55"/>
          <p:cNvSpPr/>
          <p:nvPr/>
        </p:nvSpPr>
        <p:spPr>
          <a:xfrm>
            <a:off x="10433304" y="249631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56" name="text 56"/>
          <p:cNvSpPr txBox="1"/>
          <p:nvPr/>
        </p:nvSpPr>
        <p:spPr>
          <a:xfrm>
            <a:off x="10460736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57" name="shape 57"/>
          <p:cNvSpPr/>
          <p:nvPr/>
        </p:nvSpPr>
        <p:spPr>
          <a:xfrm>
            <a:off x="10872216" y="249631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58" name="text 58"/>
          <p:cNvSpPr txBox="1"/>
          <p:nvPr/>
        </p:nvSpPr>
        <p:spPr>
          <a:xfrm>
            <a:off x="10899648" y="255574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59" name="shape 59"/>
          <p:cNvSpPr/>
          <p:nvPr/>
        </p:nvSpPr>
        <p:spPr>
          <a:xfrm>
            <a:off x="11301984" y="253288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60" name="shape 60"/>
          <p:cNvSpPr/>
          <p:nvPr/>
        </p:nvSpPr>
        <p:spPr>
          <a:xfrm>
            <a:off x="10131552" y="292608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10314432" y="300837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62" name="shape 62"/>
          <p:cNvSpPr/>
          <p:nvPr/>
        </p:nvSpPr>
        <p:spPr>
          <a:xfrm>
            <a:off x="594360" y="393192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63" name="text 63"/>
          <p:cNvSpPr txBox="1"/>
          <p:nvPr/>
        </p:nvSpPr>
        <p:spPr>
          <a:xfrm>
            <a:off x="704088" y="405079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6. UI/UX</a:t>
            </a:r>
            <a:endParaRPr lang="ko-KR" sz="1100"/>
          </a:p>
        </p:txBody>
      </p:sp>
      <p:sp>
        <p:nvSpPr>
          <p:cNvPr id="64" name="shape 64"/>
          <p:cNvSpPr/>
          <p:nvPr/>
        </p:nvSpPr>
        <p:spPr>
          <a:xfrm>
            <a:off x="777240" y="446227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65" name="text 65"/>
          <p:cNvSpPr txBox="1"/>
          <p:nvPr/>
        </p:nvSpPr>
        <p:spPr>
          <a:xfrm>
            <a:off x="804672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66" name="shape 66"/>
          <p:cNvSpPr/>
          <p:nvPr/>
        </p:nvSpPr>
        <p:spPr>
          <a:xfrm>
            <a:off x="1216152" y="446227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67" name="text 67"/>
          <p:cNvSpPr txBox="1"/>
          <p:nvPr/>
        </p:nvSpPr>
        <p:spPr>
          <a:xfrm>
            <a:off x="1243584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68" name="shape 68"/>
          <p:cNvSpPr/>
          <p:nvPr/>
        </p:nvSpPr>
        <p:spPr>
          <a:xfrm>
            <a:off x="1655064" y="446227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69" name="text 69"/>
          <p:cNvSpPr txBox="1"/>
          <p:nvPr/>
        </p:nvSpPr>
        <p:spPr>
          <a:xfrm>
            <a:off x="1682496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70" name="shape 70"/>
          <p:cNvSpPr/>
          <p:nvPr/>
        </p:nvSpPr>
        <p:spPr>
          <a:xfrm>
            <a:off x="2084831" y="449884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71" name="shape 71"/>
          <p:cNvSpPr/>
          <p:nvPr/>
        </p:nvSpPr>
        <p:spPr>
          <a:xfrm>
            <a:off x="914400" y="489204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72" name="text 72"/>
          <p:cNvSpPr txBox="1"/>
          <p:nvPr/>
        </p:nvSpPr>
        <p:spPr>
          <a:xfrm>
            <a:off x="1097280" y="497433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73" name="shape 73"/>
          <p:cNvSpPr/>
          <p:nvPr/>
        </p:nvSpPr>
        <p:spPr>
          <a:xfrm>
            <a:off x="2898648" y="393192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74" name="text 74"/>
          <p:cNvSpPr txBox="1"/>
          <p:nvPr/>
        </p:nvSpPr>
        <p:spPr>
          <a:xfrm>
            <a:off x="3008376" y="405079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7. Code</a:t>
            </a:r>
            <a:endParaRPr lang="ko-KR" sz="1100"/>
          </a:p>
        </p:txBody>
      </p:sp>
      <p:sp>
        <p:nvSpPr>
          <p:cNvPr id="75" name="shape 75"/>
          <p:cNvSpPr/>
          <p:nvPr/>
        </p:nvSpPr>
        <p:spPr>
          <a:xfrm>
            <a:off x="3081528" y="446227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76" name="text 76"/>
          <p:cNvSpPr txBox="1"/>
          <p:nvPr/>
        </p:nvSpPr>
        <p:spPr>
          <a:xfrm>
            <a:off x="3108960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77" name="shape 77"/>
          <p:cNvSpPr/>
          <p:nvPr/>
        </p:nvSpPr>
        <p:spPr>
          <a:xfrm>
            <a:off x="3520440" y="446227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78" name="text 78"/>
          <p:cNvSpPr txBox="1"/>
          <p:nvPr/>
        </p:nvSpPr>
        <p:spPr>
          <a:xfrm>
            <a:off x="3547872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79" name="shape 79"/>
          <p:cNvSpPr/>
          <p:nvPr/>
        </p:nvSpPr>
        <p:spPr>
          <a:xfrm>
            <a:off x="3959352" y="446227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80" name="text 80"/>
          <p:cNvSpPr txBox="1"/>
          <p:nvPr/>
        </p:nvSpPr>
        <p:spPr>
          <a:xfrm>
            <a:off x="3986784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81" name="shape 81"/>
          <p:cNvSpPr/>
          <p:nvPr/>
        </p:nvSpPr>
        <p:spPr>
          <a:xfrm>
            <a:off x="4389120" y="449884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82" name="shape 82"/>
          <p:cNvSpPr/>
          <p:nvPr/>
        </p:nvSpPr>
        <p:spPr>
          <a:xfrm>
            <a:off x="3218688" y="489204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3401568" y="497433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84" name="shape 84"/>
          <p:cNvSpPr/>
          <p:nvPr/>
        </p:nvSpPr>
        <p:spPr>
          <a:xfrm>
            <a:off x="5202936" y="393192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85" name="text 85"/>
          <p:cNvSpPr txBox="1"/>
          <p:nvPr/>
        </p:nvSpPr>
        <p:spPr>
          <a:xfrm>
            <a:off x="5312664" y="405079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8. Video</a:t>
            </a:r>
            <a:endParaRPr lang="ko-KR" sz="1100"/>
          </a:p>
        </p:txBody>
      </p:sp>
      <p:sp>
        <p:nvSpPr>
          <p:cNvPr id="86" name="shape 86"/>
          <p:cNvSpPr/>
          <p:nvPr/>
        </p:nvSpPr>
        <p:spPr>
          <a:xfrm>
            <a:off x="5385816" y="446227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87" name="text 87"/>
          <p:cNvSpPr txBox="1"/>
          <p:nvPr/>
        </p:nvSpPr>
        <p:spPr>
          <a:xfrm>
            <a:off x="5413248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88" name="shape 88"/>
          <p:cNvSpPr/>
          <p:nvPr/>
        </p:nvSpPr>
        <p:spPr>
          <a:xfrm>
            <a:off x="5824728" y="446227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89" name="text 89"/>
          <p:cNvSpPr txBox="1"/>
          <p:nvPr/>
        </p:nvSpPr>
        <p:spPr>
          <a:xfrm>
            <a:off x="5852160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90" name="shape 90"/>
          <p:cNvSpPr/>
          <p:nvPr/>
        </p:nvSpPr>
        <p:spPr>
          <a:xfrm>
            <a:off x="6263640" y="446227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91" name="text 91"/>
          <p:cNvSpPr txBox="1"/>
          <p:nvPr/>
        </p:nvSpPr>
        <p:spPr>
          <a:xfrm>
            <a:off x="6291072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92" name="shape 92"/>
          <p:cNvSpPr/>
          <p:nvPr/>
        </p:nvSpPr>
        <p:spPr>
          <a:xfrm>
            <a:off x="6693408" y="449884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93" name="shape 93"/>
          <p:cNvSpPr/>
          <p:nvPr/>
        </p:nvSpPr>
        <p:spPr>
          <a:xfrm>
            <a:off x="5522976" y="489204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94" name="text 94"/>
          <p:cNvSpPr txBox="1"/>
          <p:nvPr/>
        </p:nvSpPr>
        <p:spPr>
          <a:xfrm>
            <a:off x="5705856" y="497433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95" name="shape 95"/>
          <p:cNvSpPr/>
          <p:nvPr/>
        </p:nvSpPr>
        <p:spPr>
          <a:xfrm>
            <a:off x="7507224" y="393192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96" name="text 96"/>
          <p:cNvSpPr txBox="1"/>
          <p:nvPr/>
        </p:nvSpPr>
        <p:spPr>
          <a:xfrm>
            <a:off x="7616952" y="405079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9. Report</a:t>
            </a:r>
            <a:endParaRPr lang="ko-KR" sz="1100"/>
          </a:p>
        </p:txBody>
      </p:sp>
      <p:sp>
        <p:nvSpPr>
          <p:cNvPr id="97" name="shape 97"/>
          <p:cNvSpPr/>
          <p:nvPr/>
        </p:nvSpPr>
        <p:spPr>
          <a:xfrm>
            <a:off x="7690104" y="446227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98" name="text 98"/>
          <p:cNvSpPr txBox="1"/>
          <p:nvPr/>
        </p:nvSpPr>
        <p:spPr>
          <a:xfrm>
            <a:off x="7717536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99" name="shape 99"/>
          <p:cNvSpPr/>
          <p:nvPr/>
        </p:nvSpPr>
        <p:spPr>
          <a:xfrm>
            <a:off x="8129016" y="446227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100" name="text 100"/>
          <p:cNvSpPr txBox="1"/>
          <p:nvPr/>
        </p:nvSpPr>
        <p:spPr>
          <a:xfrm>
            <a:off x="8156448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101" name="shape 101"/>
          <p:cNvSpPr/>
          <p:nvPr/>
        </p:nvSpPr>
        <p:spPr>
          <a:xfrm>
            <a:off x="8567928" y="446227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02" name="text 102"/>
          <p:cNvSpPr txBox="1"/>
          <p:nvPr/>
        </p:nvSpPr>
        <p:spPr>
          <a:xfrm>
            <a:off x="8595360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103" name="shape 103"/>
          <p:cNvSpPr/>
          <p:nvPr/>
        </p:nvSpPr>
        <p:spPr>
          <a:xfrm>
            <a:off x="8997696" y="449884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104" name="shape 104"/>
          <p:cNvSpPr/>
          <p:nvPr/>
        </p:nvSpPr>
        <p:spPr>
          <a:xfrm>
            <a:off x="7827264" y="489204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8010144" y="497433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106" name="shape 106"/>
          <p:cNvSpPr/>
          <p:nvPr/>
        </p:nvSpPr>
        <p:spPr>
          <a:xfrm>
            <a:off x="9811512" y="3931920"/>
            <a:ext cx="1874519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BFD2FB"/>
            </a:solidFill>
          </a:ln>
        </p:spPr>
      </p:sp>
      <p:sp>
        <p:nvSpPr>
          <p:cNvPr id="107" name="text 107"/>
          <p:cNvSpPr txBox="1"/>
          <p:nvPr/>
        </p:nvSpPr>
        <p:spPr>
          <a:xfrm>
            <a:off x="9921240" y="4050791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 b="1">
                <a:solidFill>
                  <a:srgbClr val="101827"/>
                </a:solidFill>
                <a:latin typeface="Malgun Gothic"/>
                <a:ea typeface="Malgun Gothic"/>
              </a:rPr>
              <a:t>10. PPT</a:t>
            </a:r>
            <a:endParaRPr lang="ko-KR" sz="1100"/>
          </a:p>
        </p:txBody>
      </p:sp>
      <p:sp>
        <p:nvSpPr>
          <p:cNvPr id="108" name="shape 108"/>
          <p:cNvSpPr/>
          <p:nvPr/>
        </p:nvSpPr>
        <p:spPr>
          <a:xfrm>
            <a:off x="9994392" y="4462272"/>
            <a:ext cx="310896" cy="219456"/>
          </a:xfrm>
          <a:prstGeom prst="round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109" name="text 109"/>
          <p:cNvSpPr txBox="1"/>
          <p:nvPr/>
        </p:nvSpPr>
        <p:spPr>
          <a:xfrm>
            <a:off x="10021824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AI1</a:t>
            </a:r>
            <a:endParaRPr lang="ko-KR" sz="500"/>
          </a:p>
        </p:txBody>
      </p:sp>
      <p:sp>
        <p:nvSpPr>
          <p:cNvPr id="110" name="shape 110"/>
          <p:cNvSpPr/>
          <p:nvPr/>
        </p:nvSpPr>
        <p:spPr>
          <a:xfrm>
            <a:off x="10433304" y="4462272"/>
            <a:ext cx="310896" cy="219456"/>
          </a:xfrm>
          <a:prstGeom prst="roundRect">
            <a:avLst/>
          </a:prstGeom>
          <a:solidFill>
            <a:srgbClr val="18A978"/>
          </a:solidFill>
          <a:ln>
            <a:noFill/>
          </a:ln>
        </p:spPr>
      </p:sp>
      <p:sp>
        <p:nvSpPr>
          <p:cNvPr id="111" name="text 111"/>
          <p:cNvSpPr txBox="1"/>
          <p:nvPr/>
        </p:nvSpPr>
        <p:spPr>
          <a:xfrm>
            <a:off x="10460736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AI2</a:t>
            </a:r>
            <a:endParaRPr lang="ko-KR" sz="500"/>
          </a:p>
        </p:txBody>
      </p:sp>
      <p:sp>
        <p:nvSpPr>
          <p:cNvPr id="112" name="shape 112"/>
          <p:cNvSpPr/>
          <p:nvPr/>
        </p:nvSpPr>
        <p:spPr>
          <a:xfrm>
            <a:off x="10872216" y="4462272"/>
            <a:ext cx="310896" cy="21945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13" name="text 113"/>
          <p:cNvSpPr txBox="1"/>
          <p:nvPr/>
        </p:nvSpPr>
        <p:spPr>
          <a:xfrm>
            <a:off x="10899648" y="4521708"/>
            <a:ext cx="246888" cy="731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500" b="1">
                <a:solidFill>
                  <a:srgbClr val="FFFFFF"/>
                </a:solidFill>
                <a:latin typeface="Malgun Gothic"/>
                <a:ea typeface="Malgun Gothic"/>
              </a:rPr>
              <a:t>AI3</a:t>
            </a:r>
            <a:endParaRPr lang="ko-KR" sz="500"/>
          </a:p>
        </p:txBody>
      </p:sp>
      <p:sp>
        <p:nvSpPr>
          <p:cNvPr id="114" name="shape 114"/>
          <p:cNvSpPr/>
          <p:nvPr/>
        </p:nvSpPr>
        <p:spPr>
          <a:xfrm>
            <a:off x="11301984" y="4498848"/>
            <a:ext cx="164592" cy="164592"/>
          </a:xfrm>
          <a:prstGeom prst="rightArrow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115" name="shape 115"/>
          <p:cNvSpPr/>
          <p:nvPr/>
        </p:nvSpPr>
        <p:spPr>
          <a:xfrm>
            <a:off x="10131552" y="4892040"/>
            <a:ext cx="1234440" cy="310896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16" name="text 116"/>
          <p:cNvSpPr txBox="1"/>
          <p:nvPr/>
        </p:nvSpPr>
        <p:spPr>
          <a:xfrm>
            <a:off x="10314432" y="4974336"/>
            <a:ext cx="822960" cy="91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700" b="1">
                <a:solidFill>
                  <a:srgbClr val="4F63F6"/>
                </a:solidFill>
                <a:latin typeface="Malgun Gothic"/>
                <a:ea typeface="Malgun Gothic"/>
              </a:rPr>
              <a:t>Merge</a:t>
            </a:r>
            <a:endParaRPr lang="ko-KR" sz="700"/>
          </a:p>
        </p:txBody>
      </p:sp>
      <p:sp>
        <p:nvSpPr>
          <p:cNvPr id="117" name="shape 117"/>
          <p:cNvSpPr/>
          <p:nvPr/>
        </p:nvSpPr>
        <p:spPr>
          <a:xfrm>
            <a:off x="1874519" y="5715000"/>
            <a:ext cx="8412480" cy="411480"/>
          </a:xfrm>
          <a:prstGeom prst="roundRect">
            <a:avLst/>
          </a:prstGeom>
          <a:solidFill>
            <a:srgbClr val="EDF8F1"/>
          </a:solidFill>
          <a:ln>
            <a:solidFill>
              <a:srgbClr val="BDE6CF"/>
            </a:solidFill>
          </a:ln>
        </p:spPr>
      </p:sp>
      <p:sp>
        <p:nvSpPr>
          <p:cNvPr id="118" name="text 118"/>
          <p:cNvSpPr txBox="1"/>
          <p:nvPr/>
        </p:nvSpPr>
        <p:spPr>
          <a:xfrm>
            <a:off x="2103120" y="5833872"/>
            <a:ext cx="7955279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1100" b="1">
                <a:solidFill>
                  <a:srgbClr val="277348"/>
                </a:solidFill>
                <a:latin typeface="Malgun Gothic"/>
                <a:ea typeface="Malgun Gothic"/>
              </a:rPr>
              <a:t>반복 패턴: 단계별 프롬프트 → AI 3개 답변 → 사용자 확인/편집 → Merge → 다음 단계</a:t>
            </a:r>
            <a:endParaRPr lang="ko-KR" sz="1100"/>
          </a:p>
        </p:txBody>
      </p:sp>
      <p:sp>
        <p:nvSpPr>
          <p:cNvPr id="119" name="MAG footer line 5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120" name="MAG footer brand 5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121" name="MAG footer page 5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05 / 09</a:t>
            </a:r>
            <a:endParaRPr lang="ko-KR" sz="800"/>
          </a:p>
        </p:txBody>
      </p:sp>
    </p:spTree>
    <p:extLst>
      <p:ext uri="{BB962C8B-B14F-4D97-AF65-F5344CB8AC3E}">
        <ns3:creationId val="327292352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66928" y="3200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OUTPUT</a:t>
            </a:r>
            <a:endParaRPr lang="ko-KR" sz="1000"/>
          </a:p>
        </p:txBody>
      </p:sp>
      <p:sp>
        <p:nvSpPr>
          <p:cNvPr id="3" name="shape 3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713232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800" b="1">
                <a:solidFill>
                  <a:srgbClr val="101827"/>
                </a:solidFill>
                <a:latin typeface="Malgun Gothic"/>
                <a:ea typeface="Malgun Gothic"/>
              </a:rPr>
              <a:t>최종 산출물은 문서가 아니라 발표 가능한 MVP 패키지입니다.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4416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>
                <a:solidFill>
                  <a:srgbClr val="657084"/>
                </a:solidFill>
                <a:latin typeface="Malgun Gothic"/>
                <a:ea typeface="Malgun Gothic"/>
              </a:rPr>
              <a:t>기획부터 구현, 영상, 사업성, 제안서까지 하나의 흐름으로 묶습니다.</a:t>
            </a:r>
            <a:endParaRPr lang="ko-KR" sz="1400"/>
          </a:p>
        </p:txBody>
      </p:sp>
      <p:sp>
        <p:nvSpPr>
          <p:cNvPr id="6" name="shape 6"/>
          <p:cNvSpPr/>
          <p:nvPr/>
        </p:nvSpPr>
        <p:spPr>
          <a:xfrm>
            <a:off x="749808" y="22402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14400" y="2404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UI/UX 화면</a:t>
            </a:r>
            <a:endParaRPr lang="ko-KR" sz="1500"/>
          </a:p>
        </p:txBody>
      </p:sp>
      <p:sp>
        <p:nvSpPr>
          <p:cNvPr id="8" name="text 8"/>
          <p:cNvSpPr txBox="1"/>
          <p:nvPr/>
        </p:nvSpPr>
        <p:spPr>
          <a:xfrm>
            <a:off x="914400" y="27157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선택 AI별 화면 구성안과 이미지 생성 결과</a:t>
            </a:r>
            <a:endParaRPr lang="ko-KR" sz="1100"/>
          </a:p>
        </p:txBody>
      </p:sp>
      <p:sp>
        <p:nvSpPr>
          <p:cNvPr id="9" name="shape 9"/>
          <p:cNvSpPr/>
          <p:nvPr/>
        </p:nvSpPr>
        <p:spPr>
          <a:xfrm>
            <a:off x="4453128" y="22402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617720" y="2404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코드/배포 계획</a:t>
            </a:r>
            <a:endParaRPr lang="ko-KR" sz="1500"/>
          </a:p>
        </p:txBody>
      </p:sp>
      <p:sp>
        <p:nvSpPr>
          <p:cNvPr id="11" name="text 11"/>
          <p:cNvSpPr txBox="1"/>
          <p:nvPr/>
        </p:nvSpPr>
        <p:spPr>
          <a:xfrm>
            <a:off x="4617720" y="27157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Index Page와 실행 구조, 배포 방향 정리</a:t>
            </a:r>
            <a:endParaRPr lang="ko-KR" sz="1100"/>
          </a:p>
        </p:txBody>
      </p:sp>
      <p:sp>
        <p:nvSpPr>
          <p:cNvPr id="12" name="shape 12"/>
          <p:cNvSpPr/>
          <p:nvPr/>
        </p:nvSpPr>
        <p:spPr>
          <a:xfrm>
            <a:off x="8156448" y="224028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321040" y="24048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영상 데모</a:t>
            </a:r>
            <a:endParaRPr lang="ko-KR" sz="1500"/>
          </a:p>
        </p:txBody>
      </p:sp>
      <p:sp>
        <p:nvSpPr>
          <p:cNvPr id="14" name="text 14"/>
          <p:cNvSpPr txBox="1"/>
          <p:nvPr/>
        </p:nvSpPr>
        <p:spPr>
          <a:xfrm>
            <a:off x="8321040" y="27157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Runway 기반 영상 태스크와 미리보기 결과</a:t>
            </a:r>
            <a:endParaRPr lang="ko-KR" sz="1100"/>
          </a:p>
        </p:txBody>
      </p:sp>
      <p:sp>
        <p:nvSpPr>
          <p:cNvPr id="15" name="shape 15"/>
          <p:cNvSpPr/>
          <p:nvPr/>
        </p:nvSpPr>
        <p:spPr>
          <a:xfrm>
            <a:off x="749808" y="36576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14400" y="3822191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사업 보고서</a:t>
            </a:r>
            <a:endParaRPr lang="ko-KR" sz="1500"/>
          </a:p>
        </p:txBody>
      </p:sp>
      <p:sp>
        <p:nvSpPr>
          <p:cNvPr id="17" name="text 17"/>
          <p:cNvSpPr txBox="1"/>
          <p:nvPr/>
        </p:nvSpPr>
        <p:spPr>
          <a:xfrm>
            <a:off x="914400" y="4133087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BM, 시장, 기술, 수익성, 리스크 분석</a:t>
            </a:r>
            <a:endParaRPr lang="ko-KR" sz="1100"/>
          </a:p>
        </p:txBody>
      </p:sp>
      <p:sp>
        <p:nvSpPr>
          <p:cNvPr id="18" name="shape 18"/>
          <p:cNvSpPr/>
          <p:nvPr/>
        </p:nvSpPr>
        <p:spPr>
          <a:xfrm>
            <a:off x="4453128" y="3657600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F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4617720" y="3822191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101827"/>
                </a:solidFill>
                <a:latin typeface="Malgun Gothic"/>
                <a:ea typeface="Malgun Gothic"/>
              </a:rPr>
              <a:t>PPT 패키지</a:t>
            </a:r>
            <a:endParaRPr lang="ko-KR" sz="1500"/>
          </a:p>
        </p:txBody>
      </p:sp>
      <p:sp>
        <p:nvSpPr>
          <p:cNvPr id="20" name="text 20"/>
          <p:cNvSpPr txBox="1"/>
          <p:nvPr/>
        </p:nvSpPr>
        <p:spPr>
          <a:xfrm>
            <a:off x="4617720" y="4133087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657084"/>
                </a:solidFill>
                <a:latin typeface="Malgun Gothic"/>
                <a:ea typeface="Malgun Gothic"/>
              </a:rPr>
              <a:t>발표와 제안에 사용할 최종 자료</a:t>
            </a:r>
            <a:endParaRPr lang="ko-KR" sz="1100"/>
          </a:p>
        </p:txBody>
      </p:sp>
      <p:sp>
        <p:nvSpPr>
          <p:cNvPr id="21" name="shape 21"/>
          <p:cNvSpPr/>
          <p:nvPr/>
        </p:nvSpPr>
        <p:spPr>
          <a:xfrm>
            <a:off x="3977639" y="5230368"/>
            <a:ext cx="4389120" cy="512064"/>
          </a:xfrm>
          <a:prstGeom prst="roundRect">
            <a:avLst/>
          </a:prstGeom>
          <a:solidFill>
            <a:srgbClr val="EDF8F1"/>
          </a:solidFill>
          <a:ln>
            <a:solidFill>
              <a:srgbClr val="BDE6CF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187952" y="5376672"/>
            <a:ext cx="3977639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 b="1">
                <a:solidFill>
                  <a:srgbClr val="277348"/>
                </a:solidFill>
                <a:latin typeface="Malgun Gothic"/>
                <a:ea typeface="Malgun Gothic"/>
              </a:rPr>
              <a:t>핵심 가치: 기획 산출물이 실제 구현/발표 산출물로 이어지는 단일 흐름</a:t>
            </a:r>
            <a:endParaRPr lang="ko-KR" sz="1200"/>
          </a:p>
        </p:txBody>
      </p:sp>
      <p:sp>
        <p:nvSpPr>
          <p:cNvPr id="23" name="shape 2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27" name="MAG footer line 6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28" name="MAG footer brand 6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29" name="MAG footer page 6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06 / 09</a:t>
            </a:r>
            <a:endParaRPr lang="ko-KR" sz="800"/>
          </a:p>
        </p:txBody>
      </p:sp>
    </p:spTree>
    <p:extLst>
      <p:ext uri="{BB962C8B-B14F-4D97-AF65-F5344CB8AC3E}">
        <ns2:creationId val="526541103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66928" y="3200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PLAN FLOW</a:t>
            </a:r>
            <a:endParaRPr lang="ko-KR" sz="1000"/>
          </a:p>
        </p:txBody>
      </p:sp>
      <p:sp>
        <p:nvSpPr>
          <p:cNvPr id="3" name="shape 3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713232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800" b="1">
                <a:solidFill>
                  <a:srgbClr val="101827"/>
                </a:solidFill>
                <a:latin typeface="Malgun Gothic"/>
                <a:ea typeface="Malgun Gothic"/>
              </a:rPr>
              <a:t>플랜별 사용 흐름을 분리해 데모와 실제 사용을 모두 지원합니다.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4416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>
                <a:solidFill>
                  <a:srgbClr val="657084"/>
                </a:solidFill>
                <a:latin typeface="Malgun Gothic"/>
                <a:ea typeface="Malgun Gothic"/>
              </a:rPr>
              <a:t>Free는 자동 진행, Standard는 단계별 AI 선택, Premium은 선택과 자동화를 함께 제공합니다.</a:t>
            </a:r>
            <a:endParaRPr lang="ko-KR" sz="1400"/>
          </a:p>
        </p:txBody>
      </p:sp>
      <p:sp>
        <p:nvSpPr>
          <p:cNvPr id="6" name="shape 6"/>
          <p:cNvSpPr/>
          <p:nvPr/>
        </p:nvSpPr>
        <p:spPr>
          <a:xfrm>
            <a:off x="731520" y="2194560"/>
            <a:ext cx="3063240" cy="29718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32688" y="2450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000" b="1">
                <a:solidFill>
                  <a:srgbClr val="4F63F6"/>
                </a:solidFill>
                <a:latin typeface="Malgun Gothic"/>
                <a:ea typeface="Malgun Gothic"/>
              </a:rPr>
              <a:t>FREE</a:t>
            </a:r>
            <a:endParaRPr lang="ko-KR" sz="2000"/>
          </a:p>
        </p:txBody>
      </p:sp>
      <p:sp>
        <p:nvSpPr>
          <p:cNvPr id="8" name="shape 8"/>
          <p:cNvSpPr/>
          <p:nvPr/>
        </p:nvSpPr>
        <p:spPr>
          <a:xfrm>
            <a:off x="2697480" y="2432304"/>
            <a:ext cx="804672" cy="292608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2779776" y="2514600"/>
            <a:ext cx="621792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800" b="1">
                <a:solidFill>
                  <a:srgbClr val="4F63F6"/>
                </a:solidFill>
                <a:latin typeface="Malgun Gothic"/>
                <a:ea typeface="Malgun Gothic"/>
              </a:rPr>
              <a:t>자동 제작</a:t>
            </a:r>
            <a:endParaRPr lang="ko-KR" sz="800"/>
          </a:p>
        </p:txBody>
      </p:sp>
      <p:sp>
        <p:nvSpPr>
          <p:cNvPr id="10" name="text 10"/>
          <p:cNvSpPr txBox="1"/>
          <p:nvPr/>
        </p:nvSpPr>
        <p:spPr>
          <a:xfrm>
            <a:off x="932688" y="3063240"/>
            <a:ext cx="2633472" cy="1508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AI 직접 선택 없음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기본 AI: OpenRouter → Gemini → OpenAI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1~10단계 진행 상태 표시</a:t>
            </a:r>
            <a:endParaRPr lang="ko-KR" sz="1200"/>
          </a:p>
        </p:txBody>
      </p:sp>
      <p:sp>
        <p:nvSpPr>
          <p:cNvPr id="11" name="shape 11"/>
          <p:cNvSpPr/>
          <p:nvPr/>
        </p:nvSpPr>
        <p:spPr>
          <a:xfrm>
            <a:off x="4526280" y="2194560"/>
            <a:ext cx="3063240" cy="29718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727448" y="2450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000" b="1">
                <a:solidFill>
                  <a:srgbClr val="4F63F6"/>
                </a:solidFill>
                <a:latin typeface="Malgun Gothic"/>
                <a:ea typeface="Malgun Gothic"/>
              </a:rPr>
              <a:t>STANDARD</a:t>
            </a:r>
            <a:endParaRPr lang="ko-KR" sz="2000"/>
          </a:p>
        </p:txBody>
      </p:sp>
      <p:sp>
        <p:nvSpPr>
          <p:cNvPr id="13" name="shape 13"/>
          <p:cNvSpPr/>
          <p:nvPr/>
        </p:nvSpPr>
        <p:spPr>
          <a:xfrm>
            <a:off x="6492240" y="2432304"/>
            <a:ext cx="804672" cy="292608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574536" y="2514600"/>
            <a:ext cx="621792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800" b="1">
                <a:solidFill>
                  <a:srgbClr val="4F63F6"/>
                </a:solidFill>
                <a:latin typeface="Malgun Gothic"/>
                <a:ea typeface="Malgun Gothic"/>
              </a:rPr>
              <a:t>단계별 선택</a:t>
            </a:r>
            <a:endParaRPr lang="ko-KR" sz="800"/>
          </a:p>
        </p:txBody>
      </p:sp>
      <p:sp>
        <p:nvSpPr>
          <p:cNvPr id="15" name="text 15"/>
          <p:cNvSpPr txBox="1"/>
          <p:nvPr/>
        </p:nvSpPr>
        <p:spPr>
          <a:xfrm>
            <a:off x="4727448" y="3063240"/>
            <a:ext cx="2633472" cy="1508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각 단계에서 AI 3개 직접 선택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결과 확인과 편집 가능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Submit으로 다음 단계 진행</a:t>
            </a:r>
            <a:endParaRPr lang="ko-KR" sz="1200"/>
          </a:p>
        </p:txBody>
      </p:sp>
      <p:sp>
        <p:nvSpPr>
          <p:cNvPr id="16" name="shape 16"/>
          <p:cNvSpPr/>
          <p:nvPr/>
        </p:nvSpPr>
        <p:spPr>
          <a:xfrm>
            <a:off x="8321040" y="2194560"/>
            <a:ext cx="3063240" cy="29718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522208" y="24505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000" b="1">
                <a:solidFill>
                  <a:srgbClr val="4F63F6"/>
                </a:solidFill>
                <a:latin typeface="Malgun Gothic"/>
                <a:ea typeface="Malgun Gothic"/>
              </a:rPr>
              <a:t>PREMIUM</a:t>
            </a:r>
            <a:endParaRPr lang="ko-KR" sz="2000"/>
          </a:p>
        </p:txBody>
      </p:sp>
      <p:sp>
        <p:nvSpPr>
          <p:cNvPr id="18" name="shape 18"/>
          <p:cNvSpPr/>
          <p:nvPr/>
        </p:nvSpPr>
        <p:spPr>
          <a:xfrm>
            <a:off x="10287000" y="2432304"/>
            <a:ext cx="804672" cy="292608"/>
          </a:xfrm>
          <a:prstGeom prst="roundRect">
            <a:avLst/>
          </a:prstGeom>
          <a:solidFill>
            <a:srgbClr val="EEF4FF"/>
          </a:solidFill>
          <a:ln>
            <a:solidFill>
              <a:srgbClr val="BFD2FB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10369296" y="2514600"/>
            <a:ext cx="621792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"/>
            <a:r>
              <a:rPr lang="ko-KR" sz="800" b="1">
                <a:solidFill>
                  <a:srgbClr val="4F63F6"/>
                </a:solidFill>
                <a:latin typeface="Malgun Gothic"/>
                <a:ea typeface="Malgun Gothic"/>
              </a:rPr>
              <a:t>세밀한 제어</a:t>
            </a:r>
            <a:endParaRPr lang="ko-KR" sz="800"/>
          </a:p>
        </p:txBody>
      </p:sp>
      <p:sp>
        <p:nvSpPr>
          <p:cNvPr id="20" name="text 20"/>
          <p:cNvSpPr txBox="1"/>
          <p:nvPr/>
        </p:nvSpPr>
        <p:spPr>
          <a:xfrm>
            <a:off x="8522208" y="3063240"/>
            <a:ext cx="2633472" cy="1508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AI 선택 + 자동 진행 체크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필요한 단계만 건너뛰기</a:t>
            </a:r>
            <a:endParaRPr lang="ko-KR" sz="1200"/>
          </a:p>
          <a:p>
            <a:pPr algn="l" marL="0"/>
            <a:r>
              <a:rPr lang="ko-KR" sz="1200">
                <a:solidFill>
                  <a:srgbClr val="1D2735"/>
                </a:solidFill>
                <a:latin typeface="Malgun Gothic"/>
                <a:ea typeface="Malgun Gothic"/>
              </a:rPr>
              <a:t>라이브 API 상태 확인</a:t>
            </a:r>
            <a:endParaRPr lang="ko-KR" sz="1200"/>
          </a:p>
        </p:txBody>
      </p:sp>
      <p:sp>
        <p:nvSpPr>
          <p:cNvPr id="21" name="shape 21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25" name="MAG footer line 7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26" name="MAG footer brand 7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27" name="MAG footer page 7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07 / 09</a:t>
            </a:r>
            <a:endParaRPr lang="ko-KR" sz="800"/>
          </a:p>
        </p:txBody>
      </p:sp>
    </p:spTree>
    <p:extLst>
      <p:ext uri="{BB962C8B-B14F-4D97-AF65-F5344CB8AC3E}">
        <ns2:creationId val="3654746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1D3F1818-E368-1869-3EC8-E41D5F9C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566928" y="3200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000" b="1">
                <a:solidFill>
                  <a:srgbClr val="4F63F6"/>
                </a:solidFill>
                <a:latin typeface="Malgun Gothic"/>
                <a:ea typeface="Malgun Gothic"/>
              </a:rPr>
              <a:t>SYSTEM &amp; ROADMAP</a:t>
            </a:r>
            <a:endParaRPr lang="ko-KR" sz="1000"/>
          </a:p>
        </p:txBody>
      </p:sp>
      <p:sp>
        <p:nvSpPr>
          <p:cNvPr id="3" name="shape 3"/>
          <p:cNvSpPr/>
          <p:nvPr/>
        </p:nvSpPr>
        <p:spPr>
          <a:xfrm>
            <a:off x="566928" y="566928"/>
            <a:ext cx="256032" cy="27432"/>
          </a:xfrm>
          <a:prstGeom prst="rect">
            <a:avLst/>
          </a:prstGeom>
          <a:solidFill>
            <a:srgbClr val="4F63F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713232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2800" b="1">
                <a:solidFill>
                  <a:srgbClr val="101827"/>
                </a:solidFill>
                <a:latin typeface="Malgun Gothic"/>
                <a:ea typeface="Malgun Gothic"/>
              </a:rPr>
              <a:t>현재 개발은 Codex 기반으로 진행했고, 목표는 실제 작동 가능한 MVP 생성입니다.</a:t>
            </a:r>
            <a:endParaRPr lang="ko-KR" sz="2800"/>
          </a:p>
        </p:txBody>
      </p:sp>
      <p:sp>
        <p:nvSpPr>
          <p:cNvPr id="5" name="text 5"/>
          <p:cNvSpPr txBox="1"/>
          <p:nvPr/>
        </p:nvSpPr>
        <p:spPr>
          <a:xfrm>
            <a:off x="566928" y="134416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400">
                <a:solidFill>
                  <a:srgbClr val="657084"/>
                </a:solidFill>
                <a:latin typeface="Malgun Gothic"/>
                <a:ea typeface="Malgun Gothic"/>
              </a:rPr>
              <a:t>API 연결, 산출물 품질, 영상 생성 안정성을 중심으로 다음 개선을 이어갑니다.</a:t>
            </a:r>
            <a:endParaRPr lang="ko-KR" sz="1400"/>
          </a:p>
        </p:txBody>
      </p:sp>
      <p:sp>
        <p:nvSpPr>
          <p:cNvPr id="6" name="shape 6"/>
          <p:cNvSpPr/>
          <p:nvPr/>
        </p:nvSpPr>
        <p:spPr>
          <a:xfrm>
            <a:off x="777240" y="2148840"/>
            <a:ext cx="507492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987552" y="23317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4F63F6"/>
                </a:solidFill>
                <a:latin typeface="Malgun Gothic"/>
                <a:ea typeface="Malgun Gothic"/>
              </a:rPr>
              <a:t>현재 구성</a:t>
            </a:r>
            <a:endParaRPr lang="ko-KR" sz="1500"/>
          </a:p>
        </p:txBody>
      </p:sp>
      <p:sp>
        <p:nvSpPr>
          <p:cNvPr id="8" name="text 8"/>
          <p:cNvSpPr txBox="1"/>
          <p:nvPr/>
        </p:nvSpPr>
        <p:spPr>
          <a:xfrm>
            <a:off x="2176272" y="2304288"/>
            <a:ext cx="338328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Frontend: 플랜 선택, AI 선택, 결과 편집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Backend: 단계별 API, 병합, 파일 제공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Provider: OpenAI, Gemini, OpenRouter, Groq, Runway</a:t>
            </a:r>
            <a:endParaRPr lang="ko-KR" sz="1100"/>
          </a:p>
        </p:txBody>
      </p:sp>
      <p:sp>
        <p:nvSpPr>
          <p:cNvPr id="9" name="shape 9"/>
          <p:cNvSpPr/>
          <p:nvPr/>
        </p:nvSpPr>
        <p:spPr>
          <a:xfrm>
            <a:off x="777240" y="3657600"/>
            <a:ext cx="5074920" cy="1143000"/>
          </a:xfrm>
          <a:prstGeom prst="roundRect">
            <a:avLst/>
          </a:prstGeom>
          <a:solidFill>
            <a:srgbClr val="F7F9FC"/>
          </a:solidFill>
          <a:ln>
            <a:solidFill>
              <a:srgbClr val="DDE4E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87552" y="38404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4F63F6"/>
                </a:solidFill>
                <a:latin typeface="Malgun Gothic"/>
                <a:ea typeface="Malgun Gothic"/>
              </a:rPr>
              <a:t>최근 개선</a:t>
            </a:r>
            <a:endParaRPr lang="ko-KR" sz="1500"/>
          </a:p>
        </p:txBody>
      </p:sp>
      <p:sp>
        <p:nvSpPr>
          <p:cNvPr id="11" name="text 11"/>
          <p:cNvSpPr txBox="1"/>
          <p:nvPr/>
        </p:nvSpPr>
        <p:spPr>
          <a:xfrm>
            <a:off x="2176272" y="3813048"/>
            <a:ext cx="338328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상대 URL 지원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API Key 수동 입력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잔여 크레딧/쿼터 표시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Free 자동 진행 상태 표시</a:t>
            </a:r>
            <a:endParaRPr lang="ko-KR" sz="1100"/>
          </a:p>
        </p:txBody>
      </p:sp>
      <p:sp>
        <p:nvSpPr>
          <p:cNvPr id="12" name="shape 12"/>
          <p:cNvSpPr/>
          <p:nvPr/>
        </p:nvSpPr>
        <p:spPr>
          <a:xfrm>
            <a:off x="6172200" y="2148840"/>
            <a:ext cx="507492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DE4EF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382512" y="23317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277348"/>
                </a:solidFill>
                <a:latin typeface="Malgun Gothic"/>
                <a:ea typeface="Malgun Gothic"/>
              </a:rPr>
              <a:t>향후 목표</a:t>
            </a:r>
            <a:endParaRPr lang="ko-KR" sz="1500"/>
          </a:p>
        </p:txBody>
      </p:sp>
      <p:sp>
        <p:nvSpPr>
          <p:cNvPr id="14" name="text 14"/>
          <p:cNvSpPr txBox="1"/>
          <p:nvPr/>
        </p:nvSpPr>
        <p:spPr>
          <a:xfrm>
            <a:off x="7543800" y="2304288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실제 Working Source 수준으로 코드 생성 고도화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이미지와 동영상까지 단계별 완성</a:t>
            </a:r>
            <a:endParaRPr lang="ko-KR" sz="1100"/>
          </a:p>
          <a:p>
            <a:pPr algn="l" marL="0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최종 MVP 데모 패키지 자동 생성</a:t>
            </a:r>
            <a:endParaRPr lang="ko-KR" sz="1100"/>
          </a:p>
        </p:txBody>
      </p:sp>
      <p:sp>
        <p:nvSpPr>
          <p:cNvPr id="15" name="shape 15"/>
          <p:cNvSpPr/>
          <p:nvPr/>
        </p:nvSpPr>
        <p:spPr>
          <a:xfrm>
            <a:off x="6172200" y="3657600"/>
            <a:ext cx="5074920" cy="1143000"/>
          </a:xfrm>
          <a:prstGeom prst="roundRect">
            <a:avLst/>
          </a:prstGeom>
          <a:solidFill>
            <a:srgbClr val="FFF8E8"/>
          </a:solidFill>
          <a:ln>
            <a:solidFill>
              <a:srgbClr val="DDE4EF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382512" y="38404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500" b="1">
                <a:solidFill>
                  <a:srgbClr val="B7791F"/>
                </a:solidFill>
                <a:latin typeface="Malgun Gothic"/>
                <a:ea typeface="Malgun Gothic"/>
              </a:rPr>
              <a:t>발표 메시지</a:t>
            </a:r>
            <a:endParaRPr lang="ko-KR" sz="1500"/>
          </a:p>
        </p:txBody>
      </p:sp>
      <p:sp>
        <p:nvSpPr>
          <p:cNvPr id="17" name="text 17"/>
          <p:cNvSpPr txBox="1"/>
          <p:nvPr/>
        </p:nvSpPr>
        <p:spPr>
          <a:xfrm>
            <a:off x="7543800" y="3813048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1100">
                <a:solidFill>
                  <a:srgbClr val="1D2735"/>
                </a:solidFill>
                <a:latin typeface="Malgun Gothic"/>
                <a:ea typeface="Malgun Gothic"/>
              </a:rPr>
              <a:t>단순 AI 생성기가 아니라, AI 결과를 비교·검증·병합해 MVP 산출물로 연결하는 오케스트레이션 시스템</a:t>
            </a:r>
            <a:endParaRPr lang="ko-KR" sz="1100"/>
          </a:p>
        </p:txBody>
      </p:sp>
      <p:sp>
        <p:nvSpPr>
          <p:cNvPr id="18" name="shap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22" name="MAG footer line 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23" name="MAG footer brand 8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24" name="MAG footer page 8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08 / 09</a:t>
            </a:r>
            <a:endParaRPr lang="ko-KR" sz="800"/>
          </a:p>
        </p:txBody>
      </p:sp>
    </p:spTree>
    <p:extLst>
      <p:ext uri="{BB962C8B-B14F-4D97-AF65-F5344CB8AC3E}">
        <ns3:creationId val="1143427261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G blue gradient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AF2FF"/>
              </a:gs>
              <a:gs pos="52000">
                <a:srgbClr val="F7FBFF"/>
              </a:gs>
              <a:gs pos="100000">
                <a:srgbClr val="DCEBFF"/>
              </a:gs>
            </a:gsLst>
            <a:lin ang="5400000" scaled="1"/>
          </a:grad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ns2:creationId id="{84AF5708-CC75-1075-1F13-75001E882682}"/>
              </a:ext>
            </a:extLst>
          </p:cNvPr>
          <p:cNvSpPr txBox="1"/>
          <p:nvPr/>
        </p:nvSpPr>
        <p:spPr>
          <a:xfrm>
            <a:off x="3905076" y="2529281"/>
            <a:ext cx="3620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DEMO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DDE4EF"/>
          </a:solidFill>
          <a:ln>
            <a:noFill/>
          </a:ln>
        </p:spPr>
      </p:sp>
      <p:sp>
        <p:nvSpPr>
          <p:cNvPr id="7" name="MAG footer line 9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BFD2FB"/>
          </a:solidFill>
          <a:ln>
            <a:noFill/>
          </a:ln>
        </p:spPr>
      </p:sp>
      <p:sp>
        <p:nvSpPr>
          <p:cNvPr id="8" name="MAG footer brand 9"/>
          <p:cNvSpPr txBox="1"/>
          <p:nvPr/>
        </p:nvSpPr>
        <p:spPr>
          <a:xfrm>
            <a:off x="566928" y="6519672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MAG MVP Auto Generator</a:t>
            </a:r>
            <a:endParaRPr lang="ko-KR" sz="800"/>
          </a:p>
        </p:txBody>
      </p:sp>
      <p:sp>
        <p:nvSpPr>
          <p:cNvPr id="9" name="MAG footer page 9"/>
          <p:cNvSpPr txBox="1"/>
          <p:nvPr/>
        </p:nvSpPr>
        <p:spPr>
          <a:xfrm>
            <a:off x="10378440" y="651967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r"/>
            <a:r>
              <a:rPr lang="ko-KR" sz="800">
                <a:solidFill>
                  <a:srgbClr val="3F5F80"/>
                </a:solidFill>
                <a:latin typeface="Malgun Gothic"/>
                <a:ea typeface="Malgun Gothic"/>
              </a:rPr>
              <a:t>09 / 09</a:t>
            </a:r>
            <a:endParaRPr lang="ko-KR" sz="800"/>
          </a:p>
        </p:txBody>
      </p:sp>
    </p:spTree>
    <p:extLst>
      <p:ext uri="{BB962C8B-B14F-4D97-AF65-F5344CB8AC3E}">
        <ns3:creationId val="24642928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430</Words>
  <Application>Microsoft Office PowerPoint</Application>
  <DocSecurity>0</DocSecurity>
  <PresentationFormat>Widescreen</PresentationFormat>
  <Paragraphs>92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Malgun Gothic</vt:lpstr>
      <vt:lpstr>Aptos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방효식</cp:lastModifiedBy>
  <cp:revision>3</cp:revision>
  <dcterms:created xsi:type="dcterms:W3CDTF">2026-06-04T00:56:22Z</dcterms:created>
  <dcterms:modified xsi:type="dcterms:W3CDTF">2026-06-04T06:36:32Z</dcterms:modified>
</cp:coreProperties>
</file>