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7" r:id="rId4"/>
    <p:sldId id="259" r:id="rId5"/>
    <p:sldId id="266" r:id="rId6"/>
    <p:sldId id="260" r:id="rId7"/>
    <p:sldId id="262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A9C26-1DDB-FCA7-C5E6-343E9FE9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A13F5-B91E-CF7D-6491-E400275E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17598-8DAB-97F5-5BF6-8723F25A7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8487A-8B27-5FE6-0F55-E0BE892091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682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8F5D-7810-0F5E-5EF4-824EC635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D74B4-D2E4-858E-666B-C92F51FE0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93B0-E097-8410-8367-B1129667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F62BA-E340-75C0-5A0F-39B4EDAEE0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3254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EF87-CCA6-4453-68A3-435AAB73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EEE5E-B980-3E14-D1EC-0A178FC7E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4E48F-D058-6030-E4C7-EF07371B0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0038-9247-8521-9281-9E103830DD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41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A9B4-1A33-7A74-E84A-CBD06E6E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1A7A1-2654-6FFD-6B91-594E90992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A8209-79C9-DF3D-54C8-8A6C5D844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33B25-FEE0-A847-81E6-4891C126D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346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ns2:creationId id="{AF4D29C8-5F7E-4335-B786-91B6E2774747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ns2:creationId id="{7467EABC-0602-435D-9E0B-62E883B631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26370EE1-830D-40C5-87B3-2E53F00041C5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9E8C5586-DFA0-4370-B87E-7EC75D666C68}"/>
              </a:ext>
            </a:extLst>
          </p:cNvPr>
          <p:cNvSpPr>
            <a:spLocks noGrp="1"/>
          </p:cNvSpPr>
          <p:nvPr/>
        </p:nvSpPr>
        <p:spPr>
          <a:xfrm>
            <a:off x="1028700" y="5143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AD5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AD5E8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C5869546-AF05-41E5-99B2-6B74E4B48061}"/>
              </a:ext>
            </a:extLst>
          </p:cNvPr>
          <p:cNvSpPr>
            <a:spLocks noGrp="1"/>
          </p:cNvSpPr>
          <p:nvPr/>
        </p:nvSpPr>
        <p:spPr>
          <a:xfrm>
            <a:off x="2820447" y="2233054"/>
            <a:ext cx="5644045" cy="25025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0" b="1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MAG</a:t>
            </a:r>
          </a:p>
        </p:txBody>
      </p:sp>
      <p:sp>
        <p:nvSpPr>
          <p:cNvPr id="47" name="TextBox 46">
            <a:extLst>
              <a:ext uri="{FF2B5EF4-FFF2-40B4-BE49-F238E27FC236}">
                <ns2:creationId id="{1A82AAB7-1721-704F-8EC8-1F6ECDE78508}"/>
              </a:ext>
            </a:extLst>
          </p:cNvPr>
          <p:cNvSpPr txBox="1"/>
          <p:nvPr/>
        </p:nvSpPr>
        <p:spPr>
          <a:xfrm>
            <a:off x="9404059" y="5297648"/>
            <a:ext cx="2231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2026.06.05</a:t>
            </a:r>
          </a:p>
          <a:p>
            <a:pPr algn="ctr"/>
            <a:r>
              <a:rPr lang="en-US" altLang="ko-KR" b="1" dirty="0"/>
              <a:t>MVP team </a:t>
            </a:r>
          </a:p>
          <a:p>
            <a:pPr algn="ctr"/>
            <a:r>
              <a:rPr lang="ko-KR" altLang="en-US" b="1" dirty="0"/>
              <a:t>방효식 </a:t>
            </a:r>
            <a:r>
              <a:rPr lang="en-US" altLang="ko-KR" b="1" dirty="0"/>
              <a:t>/ </a:t>
            </a:r>
            <a:r>
              <a:rPr lang="ko-KR" altLang="en-US" b="1" dirty="0" err="1"/>
              <a:t>김경국</a:t>
            </a:r>
            <a:r>
              <a:rPr lang="ko-KR" altLang="en-US" b="1" dirty="0"/>
              <a:t> </a:t>
            </a:r>
            <a:endParaRPr lang="en-US" altLang="ko-KR" b="1" dirty="0"/>
          </a:p>
        </p:txBody>
      </p:sp>
      <p:pic>
        <p:nvPicPr>
          <p:cNvPr id="49" name="Picture 48">
            <a:extLst>
              <a:ext uri="{FF2B5EF4-FFF2-40B4-BE49-F238E27FC236}">
                <ns2:creationId id="{1D62BA40-8879-0F83-9A1D-F27B7257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894" y="319109"/>
            <a:ext cx="2151792" cy="50963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ns2:creationId id="{95209CFE-583A-3E5F-5DF0-70838F623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77" y="5936056"/>
            <a:ext cx="3392682" cy="284922"/>
          </a:xfrm>
          <a:prstGeom prst="rect">
            <a:avLst/>
          </a:prstGeom>
        </p:spPr>
      </p:pic>
      <p:sp>
        <p:nvSpPr>
          <p:cNvPr id="52" name="shape 5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53" name="MAG footer brand 1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54" name="MAG footer page 1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01 / 09</a:t>
            </a:r>
            <a:endParaRPr lang="ko-KR" sz="800"/>
          </a:p>
        </p:txBody>
      </p:sp>
    </p:spTree>
    <p:extLst>
      <p:ext uri="{BB962C8B-B14F-4D97-AF65-F5344CB8AC3E}">
        <ns4:creationId val="210877460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7B902A0A-BA25-6359-05CC-389B4661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6E81B76B-314A-2AA1-2F89-2FC3BF00EF9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8797848F-29D1-13F8-DB76-DDC0768C7F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3C214CFF-1147-534F-CD2E-4F64A330F325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0163182A-9ABD-1652-9F4A-AE2DCB6EA35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WHAT?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ectangle 31">
            <a:extLst>
              <a:ext uri="{FF2B5EF4-FFF2-40B4-BE49-F238E27FC236}">
                <ns2:creationId id="{2370F288-3FA8-5099-467A-90AB9D522334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ns2:creationId id="{D7F7DA26-476B-62EF-1DC6-99E804447037}"/>
              </a:ext>
            </a:extLst>
          </p:cNvPr>
          <p:cNvSpPr txBox="1"/>
          <p:nvPr/>
        </p:nvSpPr>
        <p:spPr>
          <a:xfrm>
            <a:off x="2226927" y="4520251"/>
            <a:ext cx="7482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* MAG </a:t>
            </a:r>
            <a:r>
              <a:rPr lang="ko-KR" altLang="en-US" sz="2000" dirty="0">
                <a:solidFill>
                  <a:schemeClr val="accent1"/>
                </a:solidFill>
              </a:rPr>
              <a:t>란</a:t>
            </a:r>
            <a:r>
              <a:rPr lang="en-US" sz="2000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Magazine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을 줄여서 부르는 말로 사용 됨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 (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주로 잡지를 의미 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b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국방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무기 분야에서는 기관총 또는 탄창을 의미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ns2:creationId id="{7B193B6C-9B54-AB15-A5EB-AC3364248064}"/>
              </a:ext>
            </a:extLst>
          </p:cNvPr>
          <p:cNvSpPr txBox="1"/>
          <p:nvPr/>
        </p:nvSpPr>
        <p:spPr>
          <a:xfrm>
            <a:off x="2155620" y="2464823"/>
            <a:ext cx="7013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아이디어를</a:t>
            </a:r>
            <a:r>
              <a:rPr lang="en-US" sz="3600" dirty="0"/>
              <a:t> </a:t>
            </a:r>
            <a:r>
              <a:rPr lang="en-US" sz="3600" dirty="0" err="1"/>
              <a:t>사업</a:t>
            </a:r>
            <a:r>
              <a:rPr lang="en-US" sz="3600" dirty="0"/>
              <a:t> </a:t>
            </a:r>
            <a:r>
              <a:rPr lang="en-US" sz="3600" dirty="0" err="1"/>
              <a:t>검증</a:t>
            </a:r>
            <a:r>
              <a:rPr lang="en-US" sz="3600" dirty="0"/>
              <a:t> </a:t>
            </a:r>
            <a:r>
              <a:rPr lang="en-US" sz="3600" dirty="0" err="1"/>
              <a:t>가능한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 err="1"/>
              <a:t>MVP로</a:t>
            </a:r>
            <a:r>
              <a:rPr lang="en-US" sz="3600" dirty="0"/>
              <a:t> </a:t>
            </a:r>
            <a:r>
              <a:rPr lang="en-US" sz="3600" dirty="0" err="1"/>
              <a:t>전환하는</a:t>
            </a:r>
            <a:r>
              <a:rPr lang="en-US" sz="3600" dirty="0"/>
              <a:t> AI </a:t>
            </a:r>
            <a:r>
              <a:rPr lang="en-US" sz="3600" dirty="0" err="1"/>
              <a:t>자동화</a:t>
            </a:r>
            <a:r>
              <a:rPr lang="en-US" sz="3600" dirty="0"/>
              <a:t> </a:t>
            </a:r>
            <a:r>
              <a:rPr lang="en-US" sz="3600" dirty="0" err="1"/>
              <a:t>플랫폼</a:t>
            </a:r>
            <a:endParaRPr lang="en-US" altLang="ko-KR" sz="3600" dirty="0">
              <a:solidFill>
                <a:srgbClr val="002060"/>
              </a:solidFill>
            </a:endParaRPr>
          </a:p>
        </p:txBody>
      </p:sp>
      <p:sp>
        <p:nvSpPr>
          <p:cNvPr id="47" name="shape 4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48" name="MAG footer brand 2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49" name="MAG footer page 2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02 / 09</a:t>
            </a:r>
            <a:endParaRPr lang="ko-KR" sz="800"/>
          </a:p>
        </p:txBody>
      </p:sp>
    </p:spTree>
    <p:extLst>
      <p:ext uri="{BB962C8B-B14F-4D97-AF65-F5344CB8AC3E}">
        <ns3:creationId val="3734260830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96B3105-CDAA-A3ED-5D24-482836C0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3A6A12D0-805E-E441-1B22-1166CB2E6BA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40FA8EAB-EC9A-2F86-5F8A-77F8D267A50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888B3A8A-D4C9-679B-8B86-53B1274702E4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309D0F24-6404-AE13-467C-B66F24263C3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WHY?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ectangle 31">
            <a:extLst>
              <a:ext uri="{FF2B5EF4-FFF2-40B4-BE49-F238E27FC236}">
                <ns2:creationId id="{52A40604-D59D-6A1B-0326-FB483DA40590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ns2:creationId id="{3E579A7F-3250-259D-C4F8-620BACCB793A}"/>
              </a:ext>
            </a:extLst>
          </p:cNvPr>
          <p:cNvSpPr txBox="1"/>
          <p:nvPr/>
        </p:nvSpPr>
        <p:spPr>
          <a:xfrm>
            <a:off x="1967568" y="1754972"/>
            <a:ext cx="6723428" cy="424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아이디어 구체화 어려움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생각은 있지만 문서화가 어렵다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사용자 정의 부족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누구를 위한 서비스인지 불명확 하다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화면 설계 부담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UI/UX </a:t>
            </a:r>
            <a:r>
              <a:rPr lang="ko-KR" altLang="en-US" dirty="0"/>
              <a:t>구조를 잡기 어렵다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개발에 대한 장벽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개발자와 기술 스택이 필요하다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검증 지연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dirty="0"/>
              <a:t>- </a:t>
            </a:r>
            <a:r>
              <a:rPr lang="ko-KR" altLang="en-US" dirty="0"/>
              <a:t>실제 사용자 테스트까지 오래 걸린다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sp>
        <p:nvSpPr>
          <p:cNvPr id="36" name="shape 36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37" name="MAG footer brand 3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38" name="MAG footer page 3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03 / 09</a:t>
            </a:r>
            <a:endParaRPr lang="ko-KR" sz="800"/>
          </a:p>
        </p:txBody>
      </p:sp>
    </p:spTree>
    <p:extLst>
      <p:ext uri="{BB962C8B-B14F-4D97-AF65-F5344CB8AC3E}">
        <ns3:creationId val="373422818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ns2:creationId id="{C90E49D0-BCA9-44C0-B554-DBC1D829C50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F7BF79FB-55F6-4EC3-85D9-A523FC04DF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B68EC662-B473-4404-8E56-0B2291FB458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29693331-C5C5-4F86-B8C9-2D8B2330DB07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MULTI AI LOOP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E0CD6C09-D15E-4215-8738-A8104FFB6097}"/>
              </a:ext>
            </a:extLst>
          </p:cNvPr>
          <p:cNvSpPr>
            <a:spLocks noGrp="1"/>
          </p:cNvSpPr>
          <p:nvPr/>
        </p:nvSpPr>
        <p:spPr>
          <a:xfrm>
            <a:off x="1151466" y="2013318"/>
            <a:ext cx="1049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한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개의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대신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, 세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개의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관점을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비교한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병합합니다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81C906C-DAF3-4561-8DFE-97E4F35946C4}"/>
              </a:ext>
            </a:extLst>
          </p:cNvPr>
          <p:cNvSpPr>
            <a:spLocks noGrp="1"/>
          </p:cNvSpPr>
          <p:nvPr/>
        </p:nvSpPr>
        <p:spPr>
          <a:xfrm>
            <a:off x="1151466" y="2814083"/>
            <a:ext cx="12743239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선택된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서버가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프롬프트를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받되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역할과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특성이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달라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결과의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밀도와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관점을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넓힙니다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ns2:creationId id="{616202FB-6A55-42B1-ADF2-B28462CB714A}"/>
              </a:ext>
            </a:extLst>
          </p:cNvPr>
          <p:cNvSpPr>
            <a:spLocks noGrp="1"/>
          </p:cNvSpPr>
          <p:nvPr/>
        </p:nvSpPr>
        <p:spPr>
          <a:xfrm>
            <a:off x="1633362" y="3340126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4F6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ns2:creationId id="{05A121D5-640B-4749-BCE7-32BB46D8C201}"/>
              </a:ext>
            </a:extLst>
          </p:cNvPr>
          <p:cNvSpPr>
            <a:spLocks noGrp="1"/>
          </p:cNvSpPr>
          <p:nvPr/>
        </p:nvSpPr>
        <p:spPr>
          <a:xfrm>
            <a:off x="1861962" y="3549676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6DBC4EE0-22A2-45F8-AA09-C6DDE638BB98}"/>
              </a:ext>
            </a:extLst>
          </p:cNvPr>
          <p:cNvSpPr>
            <a:spLocks noGrp="1"/>
          </p:cNvSpPr>
          <p:nvPr/>
        </p:nvSpPr>
        <p:spPr>
          <a:xfrm>
            <a:off x="1861962" y="3911626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구조화와 정밀도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D7DEC26E-28DA-4271-AC76-FBA11DD60721}"/>
              </a:ext>
            </a:extLst>
          </p:cNvPr>
          <p:cNvSpPr>
            <a:spLocks noGrp="1"/>
          </p:cNvSpPr>
          <p:nvPr/>
        </p:nvSpPr>
        <p:spPr>
          <a:xfrm>
            <a:off x="2757312" y="4591660"/>
            <a:ext cx="285750" cy="609600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ns2:creationId id="{43FF23C5-FD0F-4501-AA0D-55B857E01F31}"/>
              </a:ext>
            </a:extLst>
          </p:cNvPr>
          <p:cNvSpPr>
            <a:spLocks noGrp="1"/>
          </p:cNvSpPr>
          <p:nvPr/>
        </p:nvSpPr>
        <p:spPr>
          <a:xfrm>
            <a:off x="4776612" y="3340126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18A9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ns2:creationId id="{8139777E-4A5D-4547-9B93-ADD5FBCB594A}"/>
              </a:ext>
            </a:extLst>
          </p:cNvPr>
          <p:cNvSpPr>
            <a:spLocks noGrp="1"/>
          </p:cNvSpPr>
          <p:nvPr/>
        </p:nvSpPr>
        <p:spPr>
          <a:xfrm>
            <a:off x="5005212" y="3549676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FFCA2E36-656F-4269-A480-BFECDD32F57C}"/>
              </a:ext>
            </a:extLst>
          </p:cNvPr>
          <p:cNvSpPr>
            <a:spLocks noGrp="1"/>
          </p:cNvSpPr>
          <p:nvPr/>
        </p:nvSpPr>
        <p:spPr>
          <a:xfrm>
            <a:off x="5005212" y="3911626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긴 문맥 분석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5C21DA34-3B89-44EB-98D1-1CFBB4967F5C}"/>
              </a:ext>
            </a:extLst>
          </p:cNvPr>
          <p:cNvSpPr>
            <a:spLocks noGrp="1"/>
          </p:cNvSpPr>
          <p:nvPr/>
        </p:nvSpPr>
        <p:spPr>
          <a:xfrm>
            <a:off x="5900562" y="4591660"/>
            <a:ext cx="285750" cy="609600"/>
          </a:xfrm>
          <a:prstGeom prst="rect">
            <a:avLst/>
          </a:prstGeom>
          <a:solidFill>
            <a:srgbClr val="18A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ns2:creationId id="{34248ADF-A48E-4E22-8BE4-5DAA8F8ACD86}"/>
              </a:ext>
            </a:extLst>
          </p:cNvPr>
          <p:cNvSpPr>
            <a:spLocks noGrp="1"/>
          </p:cNvSpPr>
          <p:nvPr/>
        </p:nvSpPr>
        <p:spPr>
          <a:xfrm>
            <a:off x="7919862" y="3340126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ns2:creationId id="{178F7FDB-A971-4A23-86EC-A0656032FF48}"/>
              </a:ext>
            </a:extLst>
          </p:cNvPr>
          <p:cNvSpPr>
            <a:spLocks noGrp="1"/>
          </p:cNvSpPr>
          <p:nvPr/>
        </p:nvSpPr>
        <p:spPr>
          <a:xfrm>
            <a:off x="8148462" y="3549676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Groq / OpenRouter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B8576998-3D30-44EE-A24C-D72523B1F7FB}"/>
              </a:ext>
            </a:extLst>
          </p:cNvPr>
          <p:cNvSpPr>
            <a:spLocks noGrp="1"/>
          </p:cNvSpPr>
          <p:nvPr/>
        </p:nvSpPr>
        <p:spPr>
          <a:xfrm>
            <a:off x="8148462" y="3911626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빠른 추론과 라우팅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998CC19A-1D59-47FC-BCB2-5A134517D3F8}"/>
              </a:ext>
            </a:extLst>
          </p:cNvPr>
          <p:cNvSpPr>
            <a:spLocks noGrp="1"/>
          </p:cNvSpPr>
          <p:nvPr/>
        </p:nvSpPr>
        <p:spPr>
          <a:xfrm>
            <a:off x="9043812" y="4591660"/>
            <a:ext cx="285750" cy="6096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ns2:creationId id="{96E18D8A-7F2A-4078-9803-BA89A366B3B9}"/>
              </a:ext>
            </a:extLst>
          </p:cNvPr>
          <p:cNvSpPr>
            <a:spLocks noGrp="1"/>
          </p:cNvSpPr>
          <p:nvPr/>
        </p:nvSpPr>
        <p:spPr>
          <a:xfrm>
            <a:off x="3491027" y="5261382"/>
            <a:ext cx="4095750" cy="876300"/>
          </a:xfrm>
          <a:prstGeom prst="roundRect">
            <a:avLst>
              <a:gd name="adj" fmla="val 8696"/>
            </a:avLst>
          </a:prstGeom>
          <a:solidFill>
            <a:srgbClr val="EEF3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ns2:creationId id="{FF89BC74-F96B-4700-A57C-28FCFF90EB80}"/>
              </a:ext>
            </a:extLst>
          </p:cNvPr>
          <p:cNvSpPr>
            <a:spLocks noGrp="1"/>
          </p:cNvSpPr>
          <p:nvPr/>
        </p:nvSpPr>
        <p:spPr>
          <a:xfrm>
            <a:off x="3833927" y="5451882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4F63F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err="1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725" b="1" dirty="0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1" dirty="0" err="1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편집</a:t>
            </a:r>
            <a:r>
              <a:rPr sz="1725" b="1" dirty="0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 + Merge AI</a:t>
            </a:r>
          </a:p>
        </p:txBody>
      </p:sp>
      <p:sp>
        <p:nvSpPr>
          <p:cNvPr id="22" name="Rectangle 21">
            <a:extLst>
              <a:ext uri="{FF2B5EF4-FFF2-40B4-BE49-F238E27FC236}">
                <ns2:creationId id="{28EEA458-F56A-49CE-B7F7-7D91A4D57D61}"/>
              </a:ext>
            </a:extLst>
          </p:cNvPr>
          <p:cNvSpPr>
            <a:spLocks noGrp="1"/>
          </p:cNvSpPr>
          <p:nvPr/>
        </p:nvSpPr>
        <p:spPr>
          <a:xfrm>
            <a:off x="3833927" y="5756682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선택, 수정, 병합 기록이 다음 단계 프롬프트가 됩니다.</a:t>
            </a:r>
          </a:p>
        </p:txBody>
      </p:sp>
      <p:sp>
        <p:nvSpPr>
          <p:cNvPr id="25" name="Rectangle 24">
            <a:extLst>
              <a:ext uri="{FF2B5EF4-FFF2-40B4-BE49-F238E27FC236}">
                <ns2:creationId id="{A5C16949-496C-6E23-4504-C62550448F4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HOW?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27" name="MAG footer brand 4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8" name="MAG footer page 4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04 / 09</a:t>
            </a:r>
            <a:endParaRPr lang="ko-KR" sz="800"/>
          </a:p>
        </p:txBody>
      </p:sp>
    </p:spTree>
    <p:extLst>
      <p:ext uri="{BB962C8B-B14F-4D97-AF65-F5344CB8AC3E}">
        <ns3:creationId val="1607422869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586CB235-F97E-46DC-FA21-2F4C914E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PROCESS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전체 플로우는 한 줄 아이디어를 MVP 산출물로 확장합니다.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입력, AI 비교, 병합, 산출물 생성이 같은 문맥으로 이어지는 구조입니다.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658368" y="217627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68096" y="23134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1</a:t>
            </a:r>
            <a:endParaRPr lang="ko-KR" sz="1200"/>
          </a:p>
        </p:txBody>
      </p:sp>
      <p:sp>
        <p:nvSpPr>
          <p:cNvPr id="8" name="text 8"/>
          <p:cNvSpPr txBox="1"/>
          <p:nvPr/>
        </p:nvSpPr>
        <p:spPr>
          <a:xfrm>
            <a:off x="1042415" y="231343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Idea</a:t>
            </a:r>
            <a:endParaRPr lang="ko-KR" sz="1200"/>
          </a:p>
        </p:txBody>
      </p:sp>
      <p:sp>
        <p:nvSpPr>
          <p:cNvPr id="9" name="shape 9"/>
          <p:cNvSpPr/>
          <p:nvPr/>
        </p:nvSpPr>
        <p:spPr>
          <a:xfrm>
            <a:off x="2926080" y="217627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035808" y="23134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2</a:t>
            </a:r>
            <a:endParaRPr lang="ko-KR" sz="1200"/>
          </a:p>
        </p:txBody>
      </p:sp>
      <p:sp>
        <p:nvSpPr>
          <p:cNvPr id="11" name="text 11"/>
          <p:cNvSpPr txBox="1"/>
          <p:nvPr/>
        </p:nvSpPr>
        <p:spPr>
          <a:xfrm>
            <a:off x="3310128" y="231343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Problem</a:t>
            </a:r>
            <a:endParaRPr lang="ko-KR" sz="1200"/>
          </a:p>
        </p:txBody>
      </p:sp>
      <p:sp>
        <p:nvSpPr>
          <p:cNvPr id="12" name="shape 12"/>
          <p:cNvSpPr/>
          <p:nvPr/>
        </p:nvSpPr>
        <p:spPr>
          <a:xfrm>
            <a:off x="5193792" y="217627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303520" y="23134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3</a:t>
            </a:r>
            <a:endParaRPr lang="ko-KR" sz="1200"/>
          </a:p>
        </p:txBody>
      </p:sp>
      <p:sp>
        <p:nvSpPr>
          <p:cNvPr id="14" name="text 14"/>
          <p:cNvSpPr txBox="1"/>
          <p:nvPr/>
        </p:nvSpPr>
        <p:spPr>
          <a:xfrm>
            <a:off x="5577840" y="231343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Persona</a:t>
            </a:r>
            <a:endParaRPr lang="ko-KR" sz="1200"/>
          </a:p>
        </p:txBody>
      </p:sp>
      <p:sp>
        <p:nvSpPr>
          <p:cNvPr id="15" name="shape 15"/>
          <p:cNvSpPr/>
          <p:nvPr/>
        </p:nvSpPr>
        <p:spPr>
          <a:xfrm>
            <a:off x="7461504" y="217627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571231" y="23134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4</a:t>
            </a:r>
            <a:endParaRPr lang="ko-KR" sz="1200"/>
          </a:p>
        </p:txBody>
      </p:sp>
      <p:sp>
        <p:nvSpPr>
          <p:cNvPr id="17" name="text 17"/>
          <p:cNvSpPr txBox="1"/>
          <p:nvPr/>
        </p:nvSpPr>
        <p:spPr>
          <a:xfrm>
            <a:off x="7845552" y="231343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Scenario</a:t>
            </a:r>
            <a:endParaRPr lang="ko-KR" sz="1200"/>
          </a:p>
        </p:txBody>
      </p:sp>
      <p:sp>
        <p:nvSpPr>
          <p:cNvPr id="18" name="shape 18"/>
          <p:cNvSpPr/>
          <p:nvPr/>
        </p:nvSpPr>
        <p:spPr>
          <a:xfrm>
            <a:off x="9729216" y="217627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9838944" y="23134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5</a:t>
            </a:r>
            <a:endParaRPr lang="ko-KR" sz="1200"/>
          </a:p>
        </p:txBody>
      </p:sp>
      <p:sp>
        <p:nvSpPr>
          <p:cNvPr id="20" name="text 20"/>
          <p:cNvSpPr txBox="1"/>
          <p:nvPr/>
        </p:nvSpPr>
        <p:spPr>
          <a:xfrm>
            <a:off x="10113264" y="231343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Feature</a:t>
            </a:r>
            <a:endParaRPr lang="ko-KR" sz="1200"/>
          </a:p>
        </p:txBody>
      </p:sp>
      <p:sp>
        <p:nvSpPr>
          <p:cNvPr id="21" name="shape 21"/>
          <p:cNvSpPr/>
          <p:nvPr/>
        </p:nvSpPr>
        <p:spPr>
          <a:xfrm>
            <a:off x="658368" y="322783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768096" y="3364991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6</a:t>
            </a:r>
            <a:endParaRPr lang="ko-KR" sz="1200"/>
          </a:p>
        </p:txBody>
      </p:sp>
      <p:sp>
        <p:nvSpPr>
          <p:cNvPr id="23" name="text 23"/>
          <p:cNvSpPr txBox="1"/>
          <p:nvPr/>
        </p:nvSpPr>
        <p:spPr>
          <a:xfrm>
            <a:off x="1042415" y="3364991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Workflow</a:t>
            </a:r>
            <a:endParaRPr lang="ko-KR" sz="1200"/>
          </a:p>
        </p:txBody>
      </p:sp>
      <p:sp>
        <p:nvSpPr>
          <p:cNvPr id="24" name="shape 24"/>
          <p:cNvSpPr/>
          <p:nvPr/>
        </p:nvSpPr>
        <p:spPr>
          <a:xfrm>
            <a:off x="2926080" y="3227832"/>
            <a:ext cx="1737360" cy="530352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3035808" y="3364991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7</a:t>
            </a:r>
            <a:endParaRPr lang="ko-KR" sz="1200"/>
          </a:p>
        </p:txBody>
      </p:sp>
      <p:sp>
        <p:nvSpPr>
          <p:cNvPr id="26" name="text 26"/>
          <p:cNvSpPr txBox="1"/>
          <p:nvPr/>
        </p:nvSpPr>
        <p:spPr>
          <a:xfrm>
            <a:off x="3310128" y="3364991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UI/UX</a:t>
            </a:r>
            <a:endParaRPr lang="ko-KR" sz="1200"/>
          </a:p>
        </p:txBody>
      </p:sp>
      <p:sp>
        <p:nvSpPr>
          <p:cNvPr id="27" name="shape 27"/>
          <p:cNvSpPr/>
          <p:nvPr/>
        </p:nvSpPr>
        <p:spPr>
          <a:xfrm>
            <a:off x="5193792" y="3227832"/>
            <a:ext cx="1737360" cy="530352"/>
          </a:xfrm>
          <a:prstGeom prst="roundRect">
            <a:avLst/>
          </a:prstGeom>
          <a:solidFill>
            <a:srgbClr val="EDF8F1"/>
          </a:solidFill>
          <a:ln>
            <a:solidFill>
              <a:srgbClr val="BFD2F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5303520" y="3364991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8</a:t>
            </a:r>
            <a:endParaRPr lang="ko-KR" sz="1200"/>
          </a:p>
        </p:txBody>
      </p:sp>
      <p:sp>
        <p:nvSpPr>
          <p:cNvPr id="29" name="text 29"/>
          <p:cNvSpPr txBox="1"/>
          <p:nvPr/>
        </p:nvSpPr>
        <p:spPr>
          <a:xfrm>
            <a:off x="5577840" y="3364991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Code</a:t>
            </a:r>
            <a:endParaRPr lang="ko-KR" sz="1200"/>
          </a:p>
        </p:txBody>
      </p:sp>
      <p:sp>
        <p:nvSpPr>
          <p:cNvPr id="30" name="shape 30"/>
          <p:cNvSpPr/>
          <p:nvPr/>
        </p:nvSpPr>
        <p:spPr>
          <a:xfrm>
            <a:off x="7461504" y="3227832"/>
            <a:ext cx="1737360" cy="530352"/>
          </a:xfrm>
          <a:prstGeom prst="roundRect">
            <a:avLst/>
          </a:prstGeom>
          <a:solidFill>
            <a:srgbClr val="EDF8F1"/>
          </a:solidFill>
          <a:ln>
            <a:solidFill>
              <a:srgbClr val="BFD2FB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7571231" y="3364991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9</a:t>
            </a:r>
            <a:endParaRPr lang="ko-KR" sz="1200"/>
          </a:p>
        </p:txBody>
      </p:sp>
      <p:sp>
        <p:nvSpPr>
          <p:cNvPr id="32" name="text 32"/>
          <p:cNvSpPr txBox="1"/>
          <p:nvPr/>
        </p:nvSpPr>
        <p:spPr>
          <a:xfrm>
            <a:off x="7845552" y="3364991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Video</a:t>
            </a:r>
            <a:endParaRPr lang="ko-KR" sz="1200"/>
          </a:p>
        </p:txBody>
      </p:sp>
      <p:sp>
        <p:nvSpPr>
          <p:cNvPr id="33" name="shape 33"/>
          <p:cNvSpPr/>
          <p:nvPr/>
        </p:nvSpPr>
        <p:spPr>
          <a:xfrm>
            <a:off x="9729216" y="3227832"/>
            <a:ext cx="1737360" cy="530352"/>
          </a:xfrm>
          <a:prstGeom prst="roundRect">
            <a:avLst/>
          </a:prstGeom>
          <a:solidFill>
            <a:srgbClr val="EDF8F1"/>
          </a:solidFill>
          <a:ln>
            <a:solidFill>
              <a:srgbClr val="BFD2F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9838944" y="3364991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4F63F6"/>
                </a:solidFill>
                <a:latin typeface="Malgun Gothic"/>
                <a:ea typeface="Malgun Gothic"/>
              </a:rPr>
              <a:t>10</a:t>
            </a:r>
            <a:endParaRPr lang="ko-KR" sz="1200"/>
          </a:p>
        </p:txBody>
      </p:sp>
      <p:sp>
        <p:nvSpPr>
          <p:cNvPr id="35" name="text 35"/>
          <p:cNvSpPr txBox="1"/>
          <p:nvPr/>
        </p:nvSpPr>
        <p:spPr>
          <a:xfrm>
            <a:off x="10113264" y="3364991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101827"/>
                </a:solidFill>
                <a:latin typeface="Malgun Gothic"/>
                <a:ea typeface="Malgun Gothic"/>
              </a:rPr>
              <a:t>Report/PPT</a:t>
            </a:r>
            <a:endParaRPr lang="ko-KR" sz="1200"/>
          </a:p>
        </p:txBody>
      </p:sp>
      <p:sp>
        <p:nvSpPr>
          <p:cNvPr id="36" name="shape 36"/>
          <p:cNvSpPr/>
          <p:nvPr/>
        </p:nvSpPr>
        <p:spPr>
          <a:xfrm>
            <a:off x="777240" y="4572000"/>
            <a:ext cx="10058400" cy="786384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960120" y="47548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 b="1">
                <a:solidFill>
                  <a:srgbClr val="4F63F6"/>
                </a:solidFill>
                <a:latin typeface="Malgun Gothic"/>
                <a:ea typeface="Malgun Gothic"/>
              </a:rPr>
              <a:t>핵심 메시지</a:t>
            </a:r>
            <a:endParaRPr lang="ko-KR" sz="1400"/>
          </a:p>
        </p:txBody>
      </p:sp>
      <p:sp>
        <p:nvSpPr>
          <p:cNvPr id="38" name="text 38"/>
          <p:cNvSpPr txBox="1"/>
          <p:nvPr/>
        </p:nvSpPr>
        <p:spPr>
          <a:xfrm>
            <a:off x="2240280" y="47548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1D2735"/>
                </a:solidFill>
                <a:latin typeface="Malgun Gothic"/>
                <a:ea typeface="Malgun Gothic"/>
              </a:rPr>
              <a:t>각 단계는 3개 AI의 관점을 비교하고, 사용자가 확인한 병합 결과만 다음 단계의 프롬프트로 전달합니다.</a:t>
            </a:r>
            <a:endParaRPr lang="ko-KR" sz="1400"/>
          </a:p>
        </p:txBody>
      </p:sp>
      <p:sp>
        <p:nvSpPr>
          <p:cNvPr id="39" name="shape 3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40" name="MAG footer brand 5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41" name="MAG footer page 5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05 / 09</a:t>
            </a:r>
            <a:endParaRPr lang="ko-KR" sz="800"/>
          </a:p>
        </p:txBody>
      </p:sp>
    </p:spTree>
    <p:extLst>
      <p:ext uri="{BB962C8B-B14F-4D97-AF65-F5344CB8AC3E}">
        <ns3:creationId val="32729235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OUTPUT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최종 산출물은 문서가 아니라 발표 가능한 MVP 패키지입니다.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기획부터 구현, 영상, 사업성, 제안서까지 하나의 흐름으로 묶습니다.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749808" y="22402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2404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UI/UX 화면</a:t>
            </a:r>
            <a:endParaRPr lang="ko-KR" sz="1500"/>
          </a:p>
        </p:txBody>
      </p:sp>
      <p:sp>
        <p:nvSpPr>
          <p:cNvPr id="8" name="text 8"/>
          <p:cNvSpPr txBox="1"/>
          <p:nvPr/>
        </p:nvSpPr>
        <p:spPr>
          <a:xfrm>
            <a:off x="914400" y="27157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선택 AI별 화면 구성안과 이미지 생성 결과</a:t>
            </a:r>
            <a:endParaRPr lang="ko-KR" sz="1100"/>
          </a:p>
        </p:txBody>
      </p:sp>
      <p:sp>
        <p:nvSpPr>
          <p:cNvPr id="9" name="shape 9"/>
          <p:cNvSpPr/>
          <p:nvPr/>
        </p:nvSpPr>
        <p:spPr>
          <a:xfrm>
            <a:off x="4453128" y="22402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617720" y="2404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코드/배포 계획</a:t>
            </a:r>
            <a:endParaRPr lang="ko-KR" sz="1500"/>
          </a:p>
        </p:txBody>
      </p:sp>
      <p:sp>
        <p:nvSpPr>
          <p:cNvPr id="11" name="text 11"/>
          <p:cNvSpPr txBox="1"/>
          <p:nvPr/>
        </p:nvSpPr>
        <p:spPr>
          <a:xfrm>
            <a:off x="4617720" y="27157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Index Page와 실행 구조, 배포 방향 정리</a:t>
            </a:r>
            <a:endParaRPr lang="ko-KR" sz="1100"/>
          </a:p>
        </p:txBody>
      </p:sp>
      <p:sp>
        <p:nvSpPr>
          <p:cNvPr id="12" name="shape 12"/>
          <p:cNvSpPr/>
          <p:nvPr/>
        </p:nvSpPr>
        <p:spPr>
          <a:xfrm>
            <a:off x="8156448" y="22402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21040" y="2404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영상 데모</a:t>
            </a:r>
            <a:endParaRPr lang="ko-KR" sz="1500"/>
          </a:p>
        </p:txBody>
      </p:sp>
      <p:sp>
        <p:nvSpPr>
          <p:cNvPr id="14" name="text 14"/>
          <p:cNvSpPr txBox="1"/>
          <p:nvPr/>
        </p:nvSpPr>
        <p:spPr>
          <a:xfrm>
            <a:off x="8321040" y="27157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Runway 기반 영상 태스크와 미리보기 결과</a:t>
            </a:r>
            <a:endParaRPr lang="ko-KR" sz="1100"/>
          </a:p>
        </p:txBody>
      </p:sp>
      <p:sp>
        <p:nvSpPr>
          <p:cNvPr id="15" name="shape 15"/>
          <p:cNvSpPr/>
          <p:nvPr/>
        </p:nvSpPr>
        <p:spPr>
          <a:xfrm>
            <a:off x="749808" y="36576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14400" y="3822191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사업 보고서</a:t>
            </a:r>
            <a:endParaRPr lang="ko-KR" sz="1500"/>
          </a:p>
        </p:txBody>
      </p:sp>
      <p:sp>
        <p:nvSpPr>
          <p:cNvPr id="17" name="text 17"/>
          <p:cNvSpPr txBox="1"/>
          <p:nvPr/>
        </p:nvSpPr>
        <p:spPr>
          <a:xfrm>
            <a:off x="914400" y="4133087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BM, 시장, 기술, 수익성, 리스크 분석</a:t>
            </a:r>
            <a:endParaRPr lang="ko-KR" sz="1100"/>
          </a:p>
        </p:txBody>
      </p:sp>
      <p:sp>
        <p:nvSpPr>
          <p:cNvPr id="18" name="shape 18"/>
          <p:cNvSpPr/>
          <p:nvPr/>
        </p:nvSpPr>
        <p:spPr>
          <a:xfrm>
            <a:off x="4453128" y="36576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4617720" y="3822191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PPT 패키지</a:t>
            </a:r>
            <a:endParaRPr lang="ko-KR" sz="1500"/>
          </a:p>
        </p:txBody>
      </p:sp>
      <p:sp>
        <p:nvSpPr>
          <p:cNvPr id="20" name="text 20"/>
          <p:cNvSpPr txBox="1"/>
          <p:nvPr/>
        </p:nvSpPr>
        <p:spPr>
          <a:xfrm>
            <a:off x="4617720" y="4133087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발표와 제안에 사용할 최종 자료</a:t>
            </a:r>
            <a:endParaRPr lang="ko-KR" sz="1100"/>
          </a:p>
        </p:txBody>
      </p:sp>
      <p:sp>
        <p:nvSpPr>
          <p:cNvPr id="21" name="shape 21"/>
          <p:cNvSpPr/>
          <p:nvPr/>
        </p:nvSpPr>
        <p:spPr>
          <a:xfrm>
            <a:off x="3977639" y="5230368"/>
            <a:ext cx="4389120" cy="512064"/>
          </a:xfrm>
          <a:prstGeom prst="roundRect">
            <a:avLst/>
          </a:prstGeom>
          <a:solidFill>
            <a:srgbClr val="EDF8F1"/>
          </a:solidFill>
          <a:ln>
            <a:solidFill>
              <a:srgbClr val="BDE6CF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187952" y="5376672"/>
            <a:ext cx="3977639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277348"/>
                </a:solidFill>
                <a:latin typeface="Malgun Gothic"/>
                <a:ea typeface="Malgun Gothic"/>
              </a:rPr>
              <a:t>핵심 가치: 기획 산출물이 실제 구현/발표 산출물로 이어지는 단일 흐름</a:t>
            </a:r>
            <a:endParaRPr lang="ko-KR" sz="1200"/>
          </a:p>
        </p:txBody>
      </p:sp>
      <p:sp>
        <p:nvSpPr>
          <p:cNvPr id="23" name="shape 2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24" name="MAG footer brand 6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5" name="MAG footer page 6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06 / 09</a:t>
            </a:r>
            <a:endParaRPr lang="ko-KR" sz="800"/>
          </a:p>
        </p:txBody>
      </p:sp>
    </p:spTree>
    <p:extLst>
      <p:ext uri="{BB962C8B-B14F-4D97-AF65-F5344CB8AC3E}">
        <ns2:creationId val="526541103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PLAN FLOW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플랜별 사용 흐름을 분리해 데모와 실제 사용을 모두 지원합니다.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Free는 자동 진행, Standard는 단계별 AI 선택, Premium은 선택과 자동화를 함께 제공합니다.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731520" y="2194560"/>
            <a:ext cx="30632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32688" y="2450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FREE</a:t>
            </a:r>
            <a:endParaRPr lang="ko-KR" sz="2000"/>
          </a:p>
        </p:txBody>
      </p:sp>
      <p:sp>
        <p:nvSpPr>
          <p:cNvPr id="8" name="shape 8"/>
          <p:cNvSpPr/>
          <p:nvPr/>
        </p:nvSpPr>
        <p:spPr>
          <a:xfrm>
            <a:off x="2697480" y="2432304"/>
            <a:ext cx="804672" cy="292608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2779776" y="2514600"/>
            <a:ext cx="621792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800" b="1">
                <a:solidFill>
                  <a:srgbClr val="4F63F6"/>
                </a:solidFill>
                <a:latin typeface="Malgun Gothic"/>
                <a:ea typeface="Malgun Gothic"/>
              </a:rPr>
              <a:t>자동 제작</a:t>
            </a:r>
            <a:endParaRPr lang="ko-KR" sz="800"/>
          </a:p>
        </p:txBody>
      </p:sp>
      <p:sp>
        <p:nvSpPr>
          <p:cNvPr id="10" name="text 10"/>
          <p:cNvSpPr txBox="1"/>
          <p:nvPr/>
        </p:nvSpPr>
        <p:spPr>
          <a:xfrm>
            <a:off x="932688" y="3063240"/>
            <a:ext cx="2633472" cy="1508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AI 직접 선택 없음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기본 AI: OpenRouter → Gemini → OpenAI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1~10단계 진행 상태 표시</a:t>
            </a:r>
            <a:endParaRPr lang="ko-KR" sz="1200"/>
          </a:p>
        </p:txBody>
      </p:sp>
      <p:sp>
        <p:nvSpPr>
          <p:cNvPr id="11" name="shape 11"/>
          <p:cNvSpPr/>
          <p:nvPr/>
        </p:nvSpPr>
        <p:spPr>
          <a:xfrm>
            <a:off x="4526280" y="2194560"/>
            <a:ext cx="30632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727448" y="2450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STANDARD</a:t>
            </a:r>
            <a:endParaRPr lang="ko-KR" sz="2000"/>
          </a:p>
        </p:txBody>
      </p:sp>
      <p:sp>
        <p:nvSpPr>
          <p:cNvPr id="13" name="shape 13"/>
          <p:cNvSpPr/>
          <p:nvPr/>
        </p:nvSpPr>
        <p:spPr>
          <a:xfrm>
            <a:off x="6492240" y="2432304"/>
            <a:ext cx="804672" cy="292608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574536" y="2514600"/>
            <a:ext cx="621792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800" b="1">
                <a:solidFill>
                  <a:srgbClr val="4F63F6"/>
                </a:solidFill>
                <a:latin typeface="Malgun Gothic"/>
                <a:ea typeface="Malgun Gothic"/>
              </a:rPr>
              <a:t>단계별 선택</a:t>
            </a:r>
            <a:endParaRPr lang="ko-KR" sz="800"/>
          </a:p>
        </p:txBody>
      </p:sp>
      <p:sp>
        <p:nvSpPr>
          <p:cNvPr id="15" name="text 15"/>
          <p:cNvSpPr txBox="1"/>
          <p:nvPr/>
        </p:nvSpPr>
        <p:spPr>
          <a:xfrm>
            <a:off x="4727448" y="3063240"/>
            <a:ext cx="2633472" cy="1508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각 단계에서 AI 3개 직접 선택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결과 확인과 편집 가능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Submit으로 다음 단계 진행</a:t>
            </a:r>
            <a:endParaRPr lang="ko-KR" sz="1200"/>
          </a:p>
        </p:txBody>
      </p:sp>
      <p:sp>
        <p:nvSpPr>
          <p:cNvPr id="16" name="shape 16"/>
          <p:cNvSpPr/>
          <p:nvPr/>
        </p:nvSpPr>
        <p:spPr>
          <a:xfrm>
            <a:off x="8321040" y="2194560"/>
            <a:ext cx="30632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522208" y="2450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PREMIUM</a:t>
            </a:r>
            <a:endParaRPr lang="ko-KR" sz="2000"/>
          </a:p>
        </p:txBody>
      </p:sp>
      <p:sp>
        <p:nvSpPr>
          <p:cNvPr id="18" name="shape 18"/>
          <p:cNvSpPr/>
          <p:nvPr/>
        </p:nvSpPr>
        <p:spPr>
          <a:xfrm>
            <a:off x="10287000" y="2432304"/>
            <a:ext cx="804672" cy="292608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10369296" y="2514600"/>
            <a:ext cx="621792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800" b="1">
                <a:solidFill>
                  <a:srgbClr val="4F63F6"/>
                </a:solidFill>
                <a:latin typeface="Malgun Gothic"/>
                <a:ea typeface="Malgun Gothic"/>
              </a:rPr>
              <a:t>세밀한 제어</a:t>
            </a:r>
            <a:endParaRPr lang="ko-KR" sz="800"/>
          </a:p>
        </p:txBody>
      </p:sp>
      <p:sp>
        <p:nvSpPr>
          <p:cNvPr id="20" name="text 20"/>
          <p:cNvSpPr txBox="1"/>
          <p:nvPr/>
        </p:nvSpPr>
        <p:spPr>
          <a:xfrm>
            <a:off x="8522208" y="3063240"/>
            <a:ext cx="2633472" cy="1508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AI 선택 + 자동 진행 체크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필요한 단계만 건너뛰기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라이브 API 상태 확인</a:t>
            </a:r>
            <a:endParaRPr lang="ko-KR" sz="1200"/>
          </a:p>
        </p:txBody>
      </p:sp>
      <p:sp>
        <p:nvSpPr>
          <p:cNvPr id="21" name="shape 21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22" name="MAG footer brand 7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3" name="MAG footer page 7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07 / 09</a:t>
            </a:r>
            <a:endParaRPr lang="ko-KR" sz="800"/>
          </a:p>
        </p:txBody>
      </p:sp>
    </p:spTree>
    <p:extLst>
      <p:ext uri="{BB962C8B-B14F-4D97-AF65-F5344CB8AC3E}">
        <ns2:creationId val="3654746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D3F1818-E368-1869-3EC8-E41D5F9C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SYSTEM &amp; ROADMAP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현재 개발은 Codex 기반으로 진행했고, 목표는 실제 작동 가능한 MVP 생성입니다.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API 연결, 산출물 품질, 영상 생성 안정성을 중심으로 다음 개선을 이어갑니다.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777240" y="2148840"/>
            <a:ext cx="507492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87552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4F63F6"/>
                </a:solidFill>
                <a:latin typeface="Malgun Gothic"/>
                <a:ea typeface="Malgun Gothic"/>
              </a:rPr>
              <a:t>현재 구성</a:t>
            </a:r>
            <a:endParaRPr lang="ko-KR" sz="1500"/>
          </a:p>
        </p:txBody>
      </p:sp>
      <p:sp>
        <p:nvSpPr>
          <p:cNvPr id="8" name="text 8"/>
          <p:cNvSpPr txBox="1"/>
          <p:nvPr/>
        </p:nvSpPr>
        <p:spPr>
          <a:xfrm>
            <a:off x="2176272" y="2304288"/>
            <a:ext cx="338328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Frontend: 플랜 선택, AI 선택, 결과 편집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Backend: 단계별 API, 병합, 파일 제공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Provider: OpenAI, Gemini, OpenRouter, Groq, Runway</a:t>
            </a:r>
            <a:endParaRPr lang="ko-KR" sz="1100"/>
          </a:p>
        </p:txBody>
      </p:sp>
      <p:sp>
        <p:nvSpPr>
          <p:cNvPr id="9" name="shape 9"/>
          <p:cNvSpPr/>
          <p:nvPr/>
        </p:nvSpPr>
        <p:spPr>
          <a:xfrm>
            <a:off x="777240" y="3657600"/>
            <a:ext cx="507492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87552" y="38404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4F63F6"/>
                </a:solidFill>
                <a:latin typeface="Malgun Gothic"/>
                <a:ea typeface="Malgun Gothic"/>
              </a:rPr>
              <a:t>최근 개선</a:t>
            </a:r>
            <a:endParaRPr lang="ko-KR" sz="1500"/>
          </a:p>
        </p:txBody>
      </p:sp>
      <p:sp>
        <p:nvSpPr>
          <p:cNvPr id="11" name="text 11"/>
          <p:cNvSpPr txBox="1"/>
          <p:nvPr/>
        </p:nvSpPr>
        <p:spPr>
          <a:xfrm>
            <a:off x="2176272" y="3813048"/>
            <a:ext cx="338328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상대 URL 지원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API Key 수동 입력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잔여 크레딧/쿼터 표시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Free 자동 진행 상태 표시</a:t>
            </a:r>
            <a:endParaRPr lang="ko-KR" sz="1100"/>
          </a:p>
        </p:txBody>
      </p:sp>
      <p:sp>
        <p:nvSpPr>
          <p:cNvPr id="12" name="shape 12"/>
          <p:cNvSpPr/>
          <p:nvPr/>
        </p:nvSpPr>
        <p:spPr>
          <a:xfrm>
            <a:off x="6172200" y="2148840"/>
            <a:ext cx="507492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DE4E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382512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277348"/>
                </a:solidFill>
                <a:latin typeface="Malgun Gothic"/>
                <a:ea typeface="Malgun Gothic"/>
              </a:rPr>
              <a:t>향후 목표</a:t>
            </a:r>
            <a:endParaRPr lang="ko-KR" sz="1500"/>
          </a:p>
        </p:txBody>
      </p:sp>
      <p:sp>
        <p:nvSpPr>
          <p:cNvPr id="14" name="text 14"/>
          <p:cNvSpPr txBox="1"/>
          <p:nvPr/>
        </p:nvSpPr>
        <p:spPr>
          <a:xfrm>
            <a:off x="7543800" y="2304288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실제 Working Source 수준으로 코드 생성 고도화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이미지와 동영상까지 단계별 완성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최종 MVP 데모 패키지 자동 생성</a:t>
            </a:r>
            <a:endParaRPr lang="ko-KR" sz="1100"/>
          </a:p>
        </p:txBody>
      </p:sp>
      <p:sp>
        <p:nvSpPr>
          <p:cNvPr id="15" name="shape 15"/>
          <p:cNvSpPr/>
          <p:nvPr/>
        </p:nvSpPr>
        <p:spPr>
          <a:xfrm>
            <a:off x="6172200" y="3657600"/>
            <a:ext cx="5074920" cy="1143000"/>
          </a:xfrm>
          <a:prstGeom prst="roundRect">
            <a:avLst/>
          </a:prstGeom>
          <a:solidFill>
            <a:srgbClr val="FFF8E8"/>
          </a:solidFill>
          <a:ln>
            <a:solidFill>
              <a:srgbClr val="DDE4E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382512" y="38404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B7791F"/>
                </a:solidFill>
                <a:latin typeface="Malgun Gothic"/>
                <a:ea typeface="Malgun Gothic"/>
              </a:rPr>
              <a:t>발표 메시지</a:t>
            </a:r>
            <a:endParaRPr lang="ko-KR" sz="1500"/>
          </a:p>
        </p:txBody>
      </p:sp>
      <p:sp>
        <p:nvSpPr>
          <p:cNvPr id="17" name="text 17"/>
          <p:cNvSpPr txBox="1"/>
          <p:nvPr/>
        </p:nvSpPr>
        <p:spPr>
          <a:xfrm>
            <a:off x="7543800" y="3813048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단순 AI 생성기가 아니라, AI 결과를 비교·검증·병합해 MVP 산출물로 연결하는 오케스트레이션 시스템</a:t>
            </a:r>
            <a:endParaRPr lang="ko-KR" sz="1100"/>
          </a:p>
        </p:txBody>
      </p:sp>
      <p:sp>
        <p:nvSpPr>
          <p:cNvPr id="18" name="shap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19" name="MAG footer brand 8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0" name="MAG footer page 8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08 / 09</a:t>
            </a:r>
            <a:endParaRPr lang="ko-KR" sz="800"/>
          </a:p>
        </p:txBody>
      </p:sp>
    </p:spTree>
    <p:extLst>
      <p:ext uri="{BB962C8B-B14F-4D97-AF65-F5344CB8AC3E}">
        <ns3:creationId val="1143427261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84AF5708-CC75-1075-1F13-75001E882682}"/>
              </a:ext>
            </a:extLst>
          </p:cNvPr>
          <p:cNvSpPr txBox="1"/>
          <p:nvPr/>
        </p:nvSpPr>
        <p:spPr>
          <a:xfrm>
            <a:off x="3905076" y="2529281"/>
            <a:ext cx="3620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DEMO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4" name="MAG footer brand 9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5" name="MAG footer page 9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657084"/>
                </a:solidFill>
                <a:latin typeface="Malgun Gothic"/>
                <a:ea typeface="Malgun Gothic"/>
              </a:rPr>
              <a:t>09 / 09</a:t>
            </a:r>
            <a:endParaRPr lang="ko-KR" sz="800"/>
          </a:p>
        </p:txBody>
      </p:sp>
    </p:spTree>
    <p:extLst>
      <p:ext uri="{BB962C8B-B14F-4D97-AF65-F5344CB8AC3E}">
        <ns3:creationId val="24642928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430</Words>
  <Application>Microsoft Office PowerPoint</Application>
  <DocSecurity>0</DocSecurity>
  <PresentationFormat>Widescreen</PresentationFormat>
  <Paragraphs>92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Malgun Gothic</vt:lpstr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방효식</cp:lastModifiedBy>
  <cp:revision>3</cp:revision>
  <dcterms:created xsi:type="dcterms:W3CDTF">2026-06-04T00:56:22Z</dcterms:created>
  <dcterms:modified xsi:type="dcterms:W3CDTF">2026-06-04T06:36:32Z</dcterms:modified>
</cp:coreProperties>
</file>